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10" r:id="rId3"/>
    <p:sldId id="453" r:id="rId4"/>
    <p:sldId id="414" r:id="rId5"/>
    <p:sldId id="446" r:id="rId6"/>
    <p:sldId id="468" r:id="rId7"/>
    <p:sldId id="451" r:id="rId8"/>
    <p:sldId id="454" r:id="rId9"/>
    <p:sldId id="415" r:id="rId10"/>
    <p:sldId id="466" r:id="rId11"/>
    <p:sldId id="455" r:id="rId12"/>
    <p:sldId id="447" r:id="rId13"/>
    <p:sldId id="456" r:id="rId14"/>
    <p:sldId id="448" r:id="rId15"/>
    <p:sldId id="457" r:id="rId16"/>
    <p:sldId id="449" r:id="rId17"/>
    <p:sldId id="438" r:id="rId18"/>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8" userDrawn="1">
          <p15:clr>
            <a:srgbClr val="A4A3A4"/>
          </p15:clr>
        </p15:guide>
        <p15:guide id="2" pos="3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9921"/>
    <a:srgbClr val="2053A8"/>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p:scale>
          <a:sx n="125" d="100"/>
          <a:sy n="125" d="100"/>
        </p:scale>
        <p:origin x="1302" y="942"/>
      </p:cViewPr>
      <p:guideLst>
        <p:guide orient="horz" pos="2108"/>
        <p:guide pos="383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gs" Target="tags/tag113.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9" name="矩形 8"/>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defRPr kumimoji="0" lang="zh-CN" altLang="en-US" sz="18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9" name="圆角矩形 18"/>
          <p:cNvSpPr/>
          <p:nvPr userDrawn="1"/>
        </p:nvSpPr>
        <p:spPr>
          <a:xfrm rot="19800000">
            <a:off x="-4252595" y="-82169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userDrawn="1"/>
        </p:nvSpPr>
        <p:spPr>
          <a:xfrm rot="19800000">
            <a:off x="3034030" y="5051425"/>
            <a:ext cx="12651740" cy="3895090"/>
          </a:xfrm>
          <a:prstGeom prst="roundRect">
            <a:avLst>
              <a:gd name="adj" fmla="val 50000"/>
            </a:avLst>
          </a:prstGeom>
          <a:solidFill>
            <a:schemeClr val="bg1">
              <a:lumMod val="9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userDrawn="1"/>
        </p:nvSpPr>
        <p:spPr>
          <a:xfrm rot="19800000">
            <a:off x="3461385" y="570103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128588" y="138113"/>
            <a:ext cx="11934825" cy="6581775"/>
          </a:xfrm>
          <a:prstGeom prst="rect">
            <a:avLst/>
          </a:prstGeom>
          <a:noFill/>
          <a:ln>
            <a:solidFill>
              <a:srgbClr val="205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userDrawn="1"/>
        </p:nvSpPr>
        <p:spPr>
          <a:xfrm rot="19800000">
            <a:off x="11209997" y="-907944"/>
            <a:ext cx="4681220" cy="216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userDrawn="1"/>
        </p:nvSpPr>
        <p:spPr>
          <a:xfrm rot="19800000">
            <a:off x="11006480" y="-893980"/>
            <a:ext cx="5898515" cy="216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userDrawn="1"/>
        </p:nvSpPr>
        <p:spPr>
          <a:xfrm rot="19800000">
            <a:off x="-4343875" y="2491245"/>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userDrawn="1"/>
        </p:nvSpPr>
        <p:spPr>
          <a:xfrm rot="19800000">
            <a:off x="-3735363" y="7231486"/>
            <a:ext cx="4681220" cy="216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userDrawn="1"/>
        </p:nvSpPr>
        <p:spPr>
          <a:xfrm rot="19800000">
            <a:off x="-3735363" y="7470246"/>
            <a:ext cx="4681220" cy="216000"/>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userDrawn="1"/>
        </p:nvSpPr>
        <p:spPr>
          <a:xfrm rot="19800000">
            <a:off x="10503060" y="2256295"/>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uFillTx/>
                <a:latin typeface="Arial" panose="020B0604020202020204" pitchFamily="34" charset="0"/>
                <a:ea typeface="微软雅黑" panose="020B0503020204020204" pitchFamily="34" charset="-122"/>
                <a:cs typeface="+mn-cs"/>
                <a:sym typeface="+mn-ea"/>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defRPr sz="1600" u="none" strike="noStrike" kern="1200" cap="none" spc="150" normalizeH="0" baseline="0">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tabLst>
                <a:tab pos="1609725" algn="l"/>
                <a:tab pos="1609725" algn="l"/>
                <a:tab pos="1609725" algn="l"/>
                <a:tab pos="1609725" algn="l"/>
              </a:tabLst>
              <a:defRPr sz="1600" u="none" strike="noStrike" kern="1200" cap="none" spc="150" normalizeH="0" baseline="0">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defRPr sz="1600" u="none" strike="noStrike" kern="1200" cap="none" spc="150" normalizeH="0" baseline="0">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defRPr sz="1400" u="none" strike="noStrike" kern="1200" cap="none" spc="150" normalizeH="0" baseline="0">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None/>
              <a:defRPr kumimoji="0" lang="zh-CN" altLang="en-US" sz="2000" b="1" i="0" u="none" strike="noStrike" kern="1200" cap="none" spc="200" normalizeH="0" baseline="0" noProof="1" dirty="0">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defRPr u="none" strike="noStrike" kern="1200" cap="none" spc="150" normalizeH="0" baseline="0">
                <a:uFillTx/>
              </a:defRPr>
            </a:lvl1pPr>
            <a:lvl2pPr marL="685800" indent="-228600" defTabSz="914400" eaLnBrk="1" fontAlgn="auto" latinLnBrk="0" hangingPunct="1">
              <a:lnSpc>
                <a:spcPct val="120000"/>
              </a:lnSpc>
              <a:spcAft>
                <a:spcPts val="600"/>
              </a:spcAft>
              <a:tabLst>
                <a:tab pos="1609725" algn="l"/>
                <a:tab pos="1609725" algn="l"/>
                <a:tab pos="1609725" algn="l"/>
                <a:tab pos="1609725" algn="l"/>
              </a:tabLst>
              <a:defRPr u="none" strike="noStrike" kern="1200" cap="none" spc="150" normalizeH="0" baseline="0">
                <a:uFillTx/>
              </a:defRPr>
            </a:lvl2pPr>
            <a:lvl3pPr marL="1143000" indent="-228600" eaLnBrk="1" fontAlgn="auto" latinLnBrk="0" hangingPunct="1">
              <a:lnSpc>
                <a:spcPct val="120000"/>
              </a:lnSpc>
              <a:spcAft>
                <a:spcPts val="600"/>
              </a:spcAft>
              <a:defRPr u="none" strike="noStrike" kern="1200" cap="none" spc="150" normalizeH="0" baseline="0">
                <a:uFillTx/>
              </a:defRPr>
            </a:lvl3pPr>
            <a:lvl4pPr marL="1600200" indent="-228600" eaLnBrk="1" fontAlgn="auto" latinLnBrk="0" hangingPunct="1">
              <a:lnSpc>
                <a:spcPct val="120000"/>
              </a:lnSpc>
              <a:spcAft>
                <a:spcPts val="300"/>
              </a:spcAft>
              <a:defRPr u="none" strike="noStrike" kern="1200" cap="none" spc="150" normalizeH="0" baseline="0">
                <a:uFillTx/>
              </a:defRPr>
            </a:lvl4pPr>
            <a:lvl5pPr marL="2057400" indent="-228600" eaLnBrk="1" fontAlgn="auto" latinLnBrk="0" hangingPunct="1">
              <a:lnSpc>
                <a:spcPct val="120000"/>
              </a:lnSpc>
              <a:spcAft>
                <a:spcPts val="300"/>
              </a:spcAft>
              <a:defRPr u="none" strike="noStrike" kern="1200" cap="none" spc="150" normalizeH="0" baseline="0">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defRPr u="none" strike="noStrike" kern="1200" cap="none" spc="150" normalizeH="0" baseline="0">
                <a:uFillTx/>
              </a:defRPr>
            </a:lvl1pPr>
            <a:lvl2pPr marL="685800" indent="-228600" defTabSz="914400" eaLnBrk="1" fontAlgn="auto" latinLnBrk="0" hangingPunct="1">
              <a:lnSpc>
                <a:spcPct val="120000"/>
              </a:lnSpc>
              <a:tabLst>
                <a:tab pos="1609725" algn="l"/>
                <a:tab pos="1609725" algn="l"/>
                <a:tab pos="1609725" algn="l"/>
                <a:tab pos="1609725" algn="l"/>
              </a:tabLst>
              <a:defRPr u="none" strike="noStrike" kern="1200" cap="none" spc="150" normalizeH="0" baseline="0">
                <a:uFillTx/>
              </a:defRPr>
            </a:lvl2pPr>
            <a:lvl3pPr marL="1143000" indent="-228600" eaLnBrk="1" fontAlgn="auto" latinLnBrk="0" hangingPunct="1">
              <a:lnSpc>
                <a:spcPct val="120000"/>
              </a:lnSpc>
              <a:defRPr u="none" strike="noStrike" kern="1200" cap="none" spc="150" normalizeH="0" baseline="0">
                <a:uFillTx/>
              </a:defRPr>
            </a:lvl3pPr>
            <a:lvl4pPr marL="1600200" indent="-228600" eaLnBrk="1" fontAlgn="auto" latinLnBrk="0" hangingPunct="1">
              <a:lnSpc>
                <a:spcPct val="120000"/>
              </a:lnSpc>
              <a:defRPr u="none" strike="noStrike" kern="1200" cap="none" spc="150" normalizeH="0" baseline="0">
                <a:uFillTx/>
              </a:defRPr>
            </a:lvl4pPr>
            <a:lvl5pPr marL="2057400" indent="-228600" eaLnBrk="1" fontAlgn="auto" latinLnBrk="0" hangingPunct="1">
              <a:lnSpc>
                <a:spcPct val="120000"/>
              </a:lnSpc>
              <a:defRPr u="none" strike="noStrike" kern="1200" cap="none" spc="150" normalizeH="0" baseline="0">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2" Type="http://schemas.openxmlformats.org/officeDocument/2006/relationships/slideLayout" Target="../slideLayouts/slideLayout2.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image" Target="../media/image1.jpeg"/><Relationship Id="rId1" Type="http://schemas.openxmlformats.org/officeDocument/2006/relationships/tags" Target="../tags/tag7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2" Type="http://schemas.openxmlformats.org/officeDocument/2006/relationships/slideLayout" Target="../slideLayouts/slideLayout2.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10.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2" Type="http://schemas.openxmlformats.org/officeDocument/2006/relationships/slideLayout" Target="../slideLayouts/slideLayout2.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tags" Target="../tags/tag9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0.xml"/><Relationship Id="rId1" Type="http://schemas.openxmlformats.org/officeDocument/2006/relationships/tags" Target="../tags/tag10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2.xml"/><Relationship Id="rId1" Type="http://schemas.openxmlformats.org/officeDocument/2006/relationships/tags" Target="../tags/tag1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rot="19800000">
            <a:off x="-7554595" y="-3768725"/>
            <a:ext cx="15746095" cy="5777865"/>
          </a:xfrm>
          <a:prstGeom prst="roundRect">
            <a:avLst>
              <a:gd name="adj" fmla="val 50000"/>
            </a:avLst>
          </a:prstGeom>
          <a:solidFill>
            <a:schemeClr val="bg1">
              <a:lumMod val="9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rot="19800000">
            <a:off x="-4252595" y="-82169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rot="19800000">
            <a:off x="3034030" y="5051425"/>
            <a:ext cx="12651740" cy="3895090"/>
          </a:xfrm>
          <a:prstGeom prst="roundRect">
            <a:avLst>
              <a:gd name="adj" fmla="val 50000"/>
            </a:avLst>
          </a:prstGeom>
          <a:solidFill>
            <a:schemeClr val="bg1">
              <a:lumMod val="9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rot="19800000">
            <a:off x="3461385" y="570103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80035" y="262890"/>
            <a:ext cx="11639550" cy="6362700"/>
          </a:xfrm>
          <a:prstGeom prst="rect">
            <a:avLst/>
          </a:prstGeom>
          <a:noFill/>
          <a:ln>
            <a:solidFill>
              <a:srgbClr val="205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rot="19800000">
            <a:off x="-2416028" y="6990065"/>
            <a:ext cx="4681220"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rot="19800000">
            <a:off x="10505587" y="-661050"/>
            <a:ext cx="4681220"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rot="19800000">
            <a:off x="10218885" y="-427376"/>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副标题 61"/>
          <p:cNvSpPr>
            <a:spLocks noGrp="1"/>
          </p:cNvSpPr>
          <p:nvPr>
            <p:ph type="subTitle" idx="1"/>
            <p:custDataLst>
              <p:tags r:id="rId1"/>
            </p:custDataLst>
          </p:nvPr>
        </p:nvSpPr>
        <p:spPr>
          <a:xfrm>
            <a:off x="3810" y="1884680"/>
            <a:ext cx="12192000" cy="1034415"/>
          </a:xfrm>
        </p:spPr>
        <p:txBody>
          <a:bodyPr>
            <a:noAutofit/>
          </a:bodyPr>
          <a:lstStyle/>
          <a:p>
            <a:pPr marL="0" indent="0" algn="ctr">
              <a:lnSpc>
                <a:spcPct val="100000"/>
              </a:lnSpc>
              <a:buNone/>
            </a:pPr>
            <a:r>
              <a:rPr lang="zh-CN" altLang="en-US" sz="6000" b="1" dirty="0">
                <a:solidFill>
                  <a:schemeClr val="tx1">
                    <a:lumMod val="75000"/>
                    <a:lumOff val="25000"/>
                  </a:schemeClr>
                </a:solidFill>
                <a:latin typeface="+mj-ea"/>
                <a:ea typeface="+mj-ea"/>
                <a:cs typeface="汉仪雅酷黑 95W" panose="020B0A04020202020204" charset="-122"/>
              </a:rPr>
              <a:t>宁夏高层次人才服务管理系统</a:t>
            </a:r>
            <a:endParaRPr lang="en-US" altLang="zh-CN" sz="6000" b="1" dirty="0">
              <a:solidFill>
                <a:schemeClr val="tx1">
                  <a:lumMod val="75000"/>
                  <a:lumOff val="25000"/>
                </a:schemeClr>
              </a:solidFill>
              <a:latin typeface="+mj-ea"/>
              <a:ea typeface="+mj-ea"/>
              <a:cs typeface="汉仪雅酷黑 95W" panose="020B0A04020202020204" charset="-122"/>
            </a:endParaRPr>
          </a:p>
          <a:p>
            <a:pPr marL="0" indent="0" algn="ctr">
              <a:lnSpc>
                <a:spcPct val="100000"/>
              </a:lnSpc>
              <a:buNone/>
            </a:pPr>
            <a:r>
              <a:rPr lang="zh-CN" altLang="en-US" sz="6000" b="1" dirty="0">
                <a:solidFill>
                  <a:schemeClr val="tx1">
                    <a:lumMod val="75000"/>
                    <a:lumOff val="25000"/>
                  </a:schemeClr>
                </a:solidFill>
                <a:latin typeface="+mj-ea"/>
                <a:ea typeface="+mj-ea"/>
                <a:cs typeface="汉仪雅酷黑 95W" panose="020B0A04020202020204" charset="-122"/>
              </a:rPr>
              <a:t>定级专家评审会</a:t>
            </a:r>
            <a:endParaRPr lang="zh-CN" altLang="en-US" sz="6000" b="1" dirty="0">
              <a:solidFill>
                <a:schemeClr val="tx1">
                  <a:lumMod val="75000"/>
                  <a:lumOff val="25000"/>
                </a:schemeClr>
              </a:solidFill>
              <a:latin typeface="+mj-ea"/>
              <a:ea typeface="+mj-ea"/>
              <a:cs typeface="汉仪雅酷黑 95W" panose="020B0A04020202020204" charset="-122"/>
            </a:endParaRPr>
          </a:p>
        </p:txBody>
      </p:sp>
      <p:grpSp>
        <p:nvGrpSpPr>
          <p:cNvPr id="63" name="组合 62"/>
          <p:cNvGrpSpPr/>
          <p:nvPr/>
        </p:nvGrpSpPr>
        <p:grpSpPr>
          <a:xfrm>
            <a:off x="4841240" y="5464175"/>
            <a:ext cx="2407237" cy="524846"/>
            <a:chOff x="5802" y="6946"/>
            <a:chExt cx="2507" cy="548"/>
          </a:xfrm>
        </p:grpSpPr>
        <p:sp>
          <p:nvSpPr>
            <p:cNvPr id="88" name="圆角矩形 87"/>
            <p:cNvSpPr/>
            <p:nvPr/>
          </p:nvSpPr>
          <p:spPr>
            <a:xfrm>
              <a:off x="5802" y="6946"/>
              <a:ext cx="2507" cy="548"/>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5959" y="7038"/>
              <a:ext cx="2192" cy="385"/>
            </a:xfrm>
            <a:prstGeom prst="rect">
              <a:avLst/>
            </a:prstGeom>
            <a:noFill/>
          </p:spPr>
          <p:txBody>
            <a:bodyPr wrap="square" rtlCol="0">
              <a:spAutoFit/>
            </a:bodyPr>
            <a:lstStyle/>
            <a:p>
              <a:pPr algn="ctr">
                <a:buClrTx/>
                <a:buSzTx/>
                <a:buFontTx/>
              </a:pPr>
              <a:r>
                <a:rPr lang="zh-CN" altLang="en-US" sz="1800" dirty="0">
                  <a:solidFill>
                    <a:schemeClr val="bg1"/>
                  </a:solidFill>
                  <a:latin typeface="+mj-ea"/>
                  <a:ea typeface="+mj-ea"/>
                </a:rPr>
                <a:t>202</a:t>
              </a:r>
              <a:r>
                <a:rPr lang="en-US" altLang="zh-CN" sz="1800" dirty="0">
                  <a:solidFill>
                    <a:schemeClr val="bg1"/>
                  </a:solidFill>
                  <a:latin typeface="+mj-ea"/>
                  <a:ea typeface="+mj-ea"/>
                </a:rPr>
                <a:t>5</a:t>
              </a:r>
              <a:r>
                <a:rPr lang="zh-CN" altLang="en-US" sz="1800" dirty="0">
                  <a:solidFill>
                    <a:schemeClr val="bg1"/>
                  </a:solidFill>
                  <a:latin typeface="+mj-ea"/>
                  <a:ea typeface="+mj-ea"/>
                </a:rPr>
                <a:t>年</a:t>
              </a:r>
              <a:r>
                <a:rPr lang="en-US" altLang="zh-CN" sz="1800" dirty="0">
                  <a:solidFill>
                    <a:schemeClr val="bg1"/>
                  </a:solidFill>
                  <a:latin typeface="+mj-ea"/>
                  <a:ea typeface="+mj-ea"/>
                </a:rPr>
                <a:t>4</a:t>
              </a:r>
              <a:r>
                <a:rPr lang="zh-CN" altLang="en-US" sz="1800" dirty="0">
                  <a:solidFill>
                    <a:schemeClr val="bg1"/>
                  </a:solidFill>
                  <a:latin typeface="+mj-ea"/>
                  <a:ea typeface="+mj-ea"/>
                </a:rPr>
                <a:t>月</a:t>
              </a:r>
              <a:r>
                <a:rPr lang="en-US" altLang="zh-CN" sz="1800" dirty="0">
                  <a:solidFill>
                    <a:schemeClr val="bg1"/>
                  </a:solidFill>
                  <a:latin typeface="+mj-ea"/>
                  <a:ea typeface="+mj-ea"/>
                </a:rPr>
                <a:t>10</a:t>
              </a:r>
              <a:r>
                <a:rPr lang="zh-CN" altLang="en-US" sz="1800" dirty="0">
                  <a:solidFill>
                    <a:schemeClr val="bg1"/>
                  </a:solidFill>
                  <a:latin typeface="+mj-ea"/>
                  <a:ea typeface="+mj-ea"/>
                </a:rPr>
                <a:t>日</a:t>
              </a:r>
              <a:endParaRPr lang="zh-CN" altLang="en-US" sz="1800" dirty="0">
                <a:solidFill>
                  <a:schemeClr val="bg1"/>
                </a:solidFill>
                <a:latin typeface="+mj-ea"/>
                <a:ea typeface="+mj-ea"/>
              </a:endParaRPr>
            </a:p>
          </p:txBody>
        </p:sp>
      </p:grpSp>
      <p:sp>
        <p:nvSpPr>
          <p:cNvPr id="2" name="圆角矩形 1"/>
          <p:cNvSpPr/>
          <p:nvPr/>
        </p:nvSpPr>
        <p:spPr>
          <a:xfrm rot="19800000">
            <a:off x="11057720" y="4369678"/>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rot="19800000">
            <a:off x="-2982448" y="6482065"/>
            <a:ext cx="4681220" cy="360000"/>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rot="19800000">
            <a:off x="-3454570" y="6819508"/>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rot="19800000">
            <a:off x="11139317" y="-189880"/>
            <a:ext cx="4681220" cy="360000"/>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rot="19800000">
            <a:off x="13986340" y="2404988"/>
            <a:ext cx="5898515"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rot="19800000">
            <a:off x="-4030820" y="3520580"/>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nvSpPr>
        <p:spPr>
          <a:xfrm rot="19800000">
            <a:off x="10530365" y="2076590"/>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3910273" y="4675979"/>
            <a:ext cx="4371453" cy="545465"/>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j-ea"/>
                <a:ea typeface="+mj-ea"/>
                <a:sym typeface="+mn-ea"/>
              </a:rPr>
              <a:t>宁夏回族自治区人力资源和社会保障厅</a:t>
            </a:r>
            <a:endParaRPr lang="zh-CN" altLang="en-US" dirty="0"/>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887096" y="1393190"/>
            <a:ext cx="1851660" cy="768350"/>
          </a:xfrm>
          <a:prstGeom prst="rect">
            <a:avLst/>
          </a:prstGeom>
          <a:noFill/>
        </p:spPr>
        <p:txBody>
          <a:bodyPr wrap="square" rtlCol="0">
            <a:normAutofit fontScale="95000"/>
          </a:bodyPr>
          <a:lstStyle/>
          <a:p>
            <a:pPr algn="r"/>
            <a:r>
              <a:rPr lang="zh-CN" altLang="en-US" sz="4400" b="1" spc="30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目录</a:t>
            </a:r>
            <a:endParaRPr lang="zh-CN" altLang="en-US" sz="4400" b="1" spc="30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p:cNvSpPr txBox="1"/>
          <p:nvPr>
            <p:custDataLst>
              <p:tags r:id="rId2"/>
            </p:custDataLst>
          </p:nvPr>
        </p:nvSpPr>
        <p:spPr>
          <a:xfrm>
            <a:off x="887095" y="2161540"/>
            <a:ext cx="1851660" cy="368300"/>
          </a:xfrm>
          <a:prstGeom prst="rect">
            <a:avLst/>
          </a:prstGeom>
          <a:noFill/>
        </p:spPr>
        <p:txBody>
          <a:bodyPr wrap="square" rtlCol="0">
            <a:normAutofit/>
          </a:bodyPr>
          <a:lstStyle/>
          <a:p>
            <a:pPr algn="r"/>
            <a:r>
              <a:rPr lang="en-US" altLang="zh-CN" spc="3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CONTENTS</a:t>
            </a:r>
            <a:endParaRPr lang="en-US" altLang="zh-CN" spc="3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8" name="矩形 7"/>
          <p:cNvSpPr/>
          <p:nvPr>
            <p:custDataLst>
              <p:tags r:id="rId3"/>
            </p:custDataLst>
          </p:nvPr>
        </p:nvSpPr>
        <p:spPr>
          <a:xfrm>
            <a:off x="2897505" y="1515110"/>
            <a:ext cx="76200" cy="9226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p:custDataLst>
              <p:tags r:id="rId4"/>
            </p:custDataLst>
          </p:nvPr>
        </p:nvSpPr>
        <p:spPr>
          <a:xfrm>
            <a:off x="5318125" y="2114549"/>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01.</a:t>
            </a:r>
            <a:endPar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8" name="文本框 17"/>
          <p:cNvSpPr txBox="1"/>
          <p:nvPr>
            <p:custDataLst>
              <p:tags r:id="rId5"/>
            </p:custDataLst>
          </p:nvPr>
        </p:nvSpPr>
        <p:spPr>
          <a:xfrm>
            <a:off x="6428105" y="211454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系统基本情况介绍</a:t>
            </a:r>
            <a:endPar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26" name="文本框 25"/>
          <p:cNvSpPr txBox="1"/>
          <p:nvPr>
            <p:custDataLst>
              <p:tags r:id="rId6"/>
            </p:custDataLst>
          </p:nvPr>
        </p:nvSpPr>
        <p:spPr>
          <a:xfrm>
            <a:off x="5318125" y="3399790"/>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02.</a:t>
            </a:r>
            <a:endPar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7" name="文本框 26"/>
          <p:cNvSpPr txBox="1"/>
          <p:nvPr>
            <p:custDataLst>
              <p:tags r:id="rId7"/>
            </p:custDataLst>
          </p:nvPr>
        </p:nvSpPr>
        <p:spPr>
          <a:xfrm>
            <a:off x="6428105" y="3399790"/>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系统拓扑及安全方面介绍</a:t>
            </a:r>
            <a:endPar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29" name="文本框 28"/>
          <p:cNvSpPr txBox="1"/>
          <p:nvPr>
            <p:custDataLst>
              <p:tags r:id="rId8"/>
            </p:custDataLst>
          </p:nvPr>
        </p:nvSpPr>
        <p:spPr>
          <a:xfrm>
            <a:off x="5318125" y="4685029"/>
            <a:ext cx="1030605" cy="829945"/>
          </a:xfrm>
          <a:prstGeom prst="rect">
            <a:avLst/>
          </a:prstGeom>
          <a:noFill/>
        </p:spPr>
        <p:txBody>
          <a:bodyPr wrap="square" rtlCol="0">
            <a:normAutofit/>
          </a:bodyPr>
          <a:lstStyle/>
          <a:p>
            <a:r>
              <a:rPr lang="en-US" altLang="zh-CN" sz="4800" b="1">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03.</a:t>
            </a:r>
            <a:endParaRPr lang="en-US" altLang="zh-CN" sz="4800" b="1">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0" name="文本框 29"/>
          <p:cNvSpPr txBox="1"/>
          <p:nvPr>
            <p:custDataLst>
              <p:tags r:id="rId9"/>
            </p:custDataLst>
          </p:nvPr>
        </p:nvSpPr>
        <p:spPr>
          <a:xfrm>
            <a:off x="6428105" y="468502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系统预定级情况介绍</a:t>
            </a:r>
            <a:endPar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cxnSp>
        <p:nvCxnSpPr>
          <p:cNvPr id="38" name="直接连接符 37"/>
          <p:cNvCxnSpPr/>
          <p:nvPr>
            <p:custDataLst>
              <p:tags r:id="rId10"/>
            </p:custDataLst>
          </p:nvPr>
        </p:nvCxnSpPr>
        <p:spPr>
          <a:xfrm>
            <a:off x="5426075" y="1496060"/>
            <a:ext cx="5248275" cy="0"/>
          </a:xfrm>
          <a:prstGeom prst="line">
            <a:avLst/>
          </a:prstGeom>
          <a:ln>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 name="右箭头 8"/>
          <p:cNvSpPr/>
          <p:nvPr/>
        </p:nvSpPr>
        <p:spPr>
          <a:xfrm>
            <a:off x="3866515" y="2240915"/>
            <a:ext cx="850900" cy="552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267200" y="1591310"/>
            <a:ext cx="7317105" cy="3822700"/>
          </a:xfrm>
          <a:prstGeom prst="rect">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1"/>
            </p:custDataLst>
          </p:nvPr>
        </p:nvSpPr>
        <p:spPr>
          <a:xfrm>
            <a:off x="214630" y="2095500"/>
            <a:ext cx="3904615" cy="2541905"/>
          </a:xfrm>
          <a:prstGeom prst="rect">
            <a:avLst/>
          </a:prstGeom>
          <a:blipFill rotWithShape="1">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4743449" y="2095500"/>
            <a:ext cx="6364605" cy="2417445"/>
          </a:xfrm>
          <a:prstGeom prst="rect">
            <a:avLst/>
          </a:prstGeom>
          <a:noFill/>
        </p:spPr>
        <p:txBody>
          <a:bodyPr wrap="square" rtlCol="0">
            <a:noAutofit/>
          </a:bodyPr>
          <a:lstStyle/>
          <a:p>
            <a:pPr indent="609600" fontAlgn="auto">
              <a:lnSpc>
                <a:spcPct val="150000"/>
              </a:lnSpc>
              <a:extLst>
                <a:ext uri="{35155182-B16C-46BC-9424-99874614C6A1}">
                  <wpsdc:indentchars xmlns:wpsdc="http://www.wps.cn/officeDocument/2017/drawingmlCustomData" val="200" checksum="4158780845"/>
                </a:ext>
              </a:extLst>
            </a:pPr>
            <a:r>
              <a:rPr lang="zh-CN" altLang="en-US" sz="2400" dirty="0">
                <a:solidFill>
                  <a:schemeClr val="bg1"/>
                </a:solidFill>
                <a:latin typeface="+mj-ea"/>
                <a:ea typeface="+mj-ea"/>
              </a:rPr>
              <a:t>宁夏高层次人才服务管理</a:t>
            </a:r>
            <a:r>
              <a:rPr lang="zh-CN" altLang="en-US" sz="2400" dirty="0">
                <a:solidFill>
                  <a:schemeClr val="bg1"/>
                </a:solidFill>
                <a:latin typeface="+mj-ea"/>
                <a:ea typeface="+mj-ea"/>
              </a:rPr>
              <a:t>系统为本次网络安全等级保护定级对象，宁夏回族自治区人力资源和社会保障厅是该系统的主管单位，同时也是该系统的安全责任单位，对该系统具有网络安全保护责任。</a:t>
            </a:r>
            <a:endParaRPr lang="zh-CN" altLang="en-US" sz="2400" dirty="0">
              <a:solidFill>
                <a:schemeClr val="bg1"/>
              </a:solidFill>
              <a:latin typeface="+mj-ea"/>
              <a:ea typeface="+mj-ea"/>
            </a:endParaRPr>
          </a:p>
        </p:txBody>
      </p:sp>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定级对象介绍</a:t>
            </a:r>
            <a:endParaRPr lang="zh-CN" altLang="en-US" sz="2800" spc="400">
              <a:solidFill>
                <a:srgbClr val="2053A8"/>
              </a:solidFill>
              <a:effectLst/>
              <a:uFillTx/>
              <a:latin typeface="微软雅黑" panose="020B0503020204020204" pitchFamily="34" charset="-122"/>
              <a:ea typeface="微软雅黑" panose="020B0503020204020204" pitchFamily="34" charset="-122"/>
              <a:sym typeface="+mn-ea"/>
            </a:endParaRPr>
          </a:p>
        </p:txBody>
      </p:sp>
      <p:cxnSp>
        <p:nvCxnSpPr>
          <p:cNvPr id="4" name="直接连接符 3"/>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系统业务介绍</a:t>
            </a:r>
            <a:endParaRPr lang="zh-CN" altLang="en-US" sz="2800" spc="400">
              <a:solidFill>
                <a:srgbClr val="2053A8"/>
              </a:solidFill>
              <a:effectLst/>
              <a:uFillTx/>
              <a:latin typeface="微软雅黑" panose="020B0503020204020204" pitchFamily="34" charset="-122"/>
              <a:ea typeface="微软雅黑" panose="020B0503020204020204" pitchFamily="34" charset="-122"/>
              <a:sym typeface="+mn-ea"/>
            </a:endParaRP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048000" y="1577975"/>
            <a:ext cx="6096000" cy="1753235"/>
          </a:xfrm>
          <a:prstGeom prst="rect">
            <a:avLst/>
          </a:prstGeom>
          <a:noFill/>
        </p:spPr>
        <p:txBody>
          <a:bodyPr wrap="square" rtlCol="0" anchor="t">
            <a:spAutoFit/>
          </a:bodyPr>
          <a:lstStyle/>
          <a:p>
            <a:pPr indent="406400"/>
            <a:r>
              <a:rPr lang="zh-CN" altLang="en-US" dirty="0">
                <a:sym typeface="+mn-ea"/>
              </a:rPr>
              <a:t>该定级对象承载着宁夏高层次人才管理服务系统主要包括数据服务、职称人员及信息注册服务、通用上传服务、通用下载等服务。包含</a:t>
            </a:r>
            <a:r>
              <a:rPr lang="en-US" altLang="zh-CN" dirty="0">
                <a:sym typeface="+mn-ea"/>
              </a:rPr>
              <a:t>1</a:t>
            </a:r>
            <a:r>
              <a:rPr lang="zh-CN" altLang="en-US" dirty="0">
                <a:sym typeface="+mn-ea"/>
              </a:rPr>
              <a:t>个业务系统，该业务相对独立，通过电子政务外网面向宁夏自治区职称申报人员、用人单位、组织评审单位等部门或群体提供服务。该定级系统为独立业务系统，与其他系统存在互联和数据调用情况。</a:t>
            </a:r>
            <a:endParaRPr lang="zh-CN" altLang="en-US" dirty="0">
              <a:sym typeface="+mn-ea"/>
            </a:endParaRPr>
          </a:p>
        </p:txBody>
      </p:sp>
      <p:graphicFrame>
        <p:nvGraphicFramePr>
          <p:cNvPr id="7" name="表格 6"/>
          <p:cNvGraphicFramePr>
            <a:graphicFrameLocks noGrp="1"/>
          </p:cNvGraphicFramePr>
          <p:nvPr/>
        </p:nvGraphicFramePr>
        <p:xfrm>
          <a:off x="3394089" y="3352800"/>
          <a:ext cx="5380990" cy="1294765"/>
        </p:xfrm>
        <a:graphic>
          <a:graphicData uri="http://schemas.openxmlformats.org/drawingml/2006/table">
            <a:tbl>
              <a:tblPr firstRow="1" firstCol="1" bandRow="1">
                <a:tableStyleId>{5C22544A-7EE6-4342-B048-85BDC9FD1C3A}</a:tableStyleId>
              </a:tblPr>
              <a:tblGrid>
                <a:gridCol w="537845"/>
                <a:gridCol w="1533525"/>
                <a:gridCol w="3309620"/>
              </a:tblGrid>
              <a:tr h="258953">
                <a:tc>
                  <a:txBody>
                    <a:bodyPr/>
                    <a:lstStyle/>
                    <a:p>
                      <a:pPr algn="ctr">
                        <a:buNone/>
                      </a:pPr>
                      <a:r>
                        <a:rPr lang="zh-CN" sz="1200" kern="100">
                          <a:effectLst/>
                        </a:rPr>
                        <a:t>序号</a:t>
                      </a:r>
                      <a:endParaRPr lang="zh-CN" sz="1600" kern="100">
                        <a:effectLst/>
                        <a:latin typeface="Times New Roman" panose="02020603050405020304" pitchFamily="18" charset="0"/>
                        <a:ea typeface="仿宋_GB2312" panose="02010609030101010101" pitchFamily="49" charset="-122"/>
                      </a:endParaRPr>
                    </a:p>
                  </a:txBody>
                  <a:tcPr marL="68580" marR="68580" marT="0" marB="0" anchor="ctr"/>
                </a:tc>
                <a:tc>
                  <a:txBody>
                    <a:bodyPr/>
                    <a:lstStyle/>
                    <a:p>
                      <a:pPr algn="ctr">
                        <a:buNone/>
                      </a:pPr>
                      <a:r>
                        <a:rPr lang="zh-CN" sz="1200" kern="100">
                          <a:effectLst/>
                        </a:rPr>
                        <a:t>系统名称</a:t>
                      </a:r>
                      <a:endParaRPr lang="zh-CN" sz="1600" kern="100">
                        <a:effectLst/>
                        <a:latin typeface="Times New Roman" panose="02020603050405020304" pitchFamily="18" charset="0"/>
                        <a:ea typeface="仿宋_GB2312" panose="02010609030101010101" pitchFamily="49" charset="-122"/>
                      </a:endParaRPr>
                    </a:p>
                  </a:txBody>
                  <a:tcPr marL="68580" marR="68580" marT="0" marB="0" anchor="ctr"/>
                </a:tc>
                <a:tc>
                  <a:txBody>
                    <a:bodyPr/>
                    <a:lstStyle/>
                    <a:p>
                      <a:pPr algn="ctr">
                        <a:buNone/>
                      </a:pPr>
                      <a:r>
                        <a:rPr lang="zh-CN" sz="1200" kern="100">
                          <a:effectLst/>
                        </a:rPr>
                        <a:t>业务功能描述</a:t>
                      </a:r>
                      <a:endParaRPr lang="zh-CN" sz="1600" kern="100">
                        <a:effectLst/>
                        <a:latin typeface="Times New Roman" panose="02020603050405020304" pitchFamily="18" charset="0"/>
                        <a:ea typeface="仿宋_GB2312" panose="02010609030101010101" pitchFamily="49" charset="-122"/>
                      </a:endParaRPr>
                    </a:p>
                  </a:txBody>
                  <a:tcPr marL="68580" marR="68580" marT="0" marB="0" anchor="ctr"/>
                </a:tc>
              </a:tr>
              <a:tr h="1035812">
                <a:tc>
                  <a:txBody>
                    <a:bodyPr/>
                    <a:lstStyle/>
                    <a:p>
                      <a:pPr algn="ctr">
                        <a:buNone/>
                      </a:pPr>
                      <a:r>
                        <a:rPr lang="en-US" sz="1200" kern="100">
                          <a:effectLst/>
                        </a:rPr>
                        <a:t>1</a:t>
                      </a:r>
                      <a:endParaRPr lang="zh-CN" sz="1600" kern="100">
                        <a:effectLst/>
                        <a:latin typeface="Times New Roman" panose="02020603050405020304" pitchFamily="18" charset="0"/>
                        <a:ea typeface="仿宋_GB2312" panose="02010609030101010101" pitchFamily="49" charset="-122"/>
                      </a:endParaRPr>
                    </a:p>
                  </a:txBody>
                  <a:tcPr marL="68580" marR="68580" marT="0" marB="0" anchor="ctr"/>
                </a:tc>
                <a:tc>
                  <a:txBody>
                    <a:bodyPr/>
                    <a:lstStyle/>
                    <a:p>
                      <a:pPr algn="ctr">
                        <a:buNone/>
                      </a:pPr>
                      <a:r>
                        <a:rPr lang="zh-CN" sz="1600" kern="100">
                          <a:effectLst/>
                          <a:sym typeface="+mn-ea"/>
                        </a:rPr>
                        <a:t>宁夏高层次人才管理服务系统</a:t>
                      </a:r>
                      <a:endParaRPr lang="zh-CN" sz="1600" kern="100">
                        <a:effectLst/>
                        <a:latin typeface="Times New Roman" panose="02020603050405020304" pitchFamily="18" charset="0"/>
                        <a:ea typeface="仿宋_GB2312" panose="02010609030101010101" pitchFamily="49" charset="-122"/>
                      </a:endParaRPr>
                    </a:p>
                  </a:txBody>
                  <a:tcPr marL="68580" marR="68580" marT="0" marB="0" anchor="ctr"/>
                </a:tc>
                <a:tc>
                  <a:txBody>
                    <a:bodyPr/>
                    <a:lstStyle/>
                    <a:p>
                      <a:pPr algn="l">
                        <a:buNone/>
                      </a:pPr>
                      <a:r>
                        <a:rPr lang="zh-CN" sz="1200" kern="100">
                          <a:effectLst/>
                        </a:rPr>
                        <a:t>宁夏高层次人才管理服务系统主要包括职称评审、高层次人才认定、人才服务、人才项目、人才和载体管理、预算和资金管理、评审专家及评审过程管理、数据分析应用等功能。系统承载着单一或相对独立的业务，通过电子政务外网面向宁夏自治区职称申报人员、用人单位、组织评审单位等部门或群体提供服务。</a:t>
                      </a:r>
                      <a:endParaRPr lang="zh-CN" sz="1200" kern="100">
                        <a:effectLst/>
                      </a:endParaRPr>
                    </a:p>
                  </a:txBody>
                  <a:tcPr marL="68580" marR="68580" marT="0" marB="0" anchor="ctr"/>
                </a:tc>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系统界面展示</a:t>
            </a:r>
            <a:endParaRPr lang="zh-CN" altLang="en-US" sz="2800" spc="400">
              <a:solidFill>
                <a:srgbClr val="2053A8"/>
              </a:solidFill>
              <a:effectLst/>
              <a:uFillTx/>
              <a:latin typeface="微软雅黑" panose="020B0503020204020204" pitchFamily="34" charset="-122"/>
              <a:ea typeface="微软雅黑" panose="020B0503020204020204" pitchFamily="34" charset="-122"/>
              <a:sym typeface="+mn-ea"/>
            </a:endParaRP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1"/>
          <a:stretch>
            <a:fillRect/>
          </a:stretch>
        </p:blipFill>
        <p:spPr>
          <a:xfrm>
            <a:off x="188595" y="984250"/>
            <a:ext cx="11858625" cy="5553075"/>
          </a:xfrm>
          <a:prstGeom prst="rect">
            <a:avLst/>
          </a:prstGeom>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系统界面展示</a:t>
            </a:r>
            <a:endParaRPr lang="zh-CN" altLang="en-US" sz="2800" spc="400">
              <a:solidFill>
                <a:srgbClr val="2053A8"/>
              </a:solidFill>
              <a:effectLst/>
              <a:uFillTx/>
              <a:latin typeface="微软雅黑" panose="020B0503020204020204" pitchFamily="34" charset="-122"/>
              <a:ea typeface="微软雅黑" panose="020B0503020204020204" pitchFamily="34" charset="-122"/>
              <a:sym typeface="+mn-ea"/>
            </a:endParaRP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1"/>
          <a:stretch>
            <a:fillRect/>
          </a:stretch>
        </p:blipFill>
        <p:spPr>
          <a:xfrm>
            <a:off x="366395" y="1062355"/>
            <a:ext cx="11536680" cy="5596890"/>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887096" y="1393190"/>
            <a:ext cx="1851660" cy="768350"/>
          </a:xfrm>
          <a:prstGeom prst="rect">
            <a:avLst/>
          </a:prstGeom>
          <a:noFill/>
        </p:spPr>
        <p:txBody>
          <a:bodyPr wrap="square" rtlCol="0">
            <a:normAutofit fontScale="95000"/>
          </a:bodyPr>
          <a:lstStyle/>
          <a:p>
            <a:pPr algn="r"/>
            <a:r>
              <a:rPr lang="zh-CN" altLang="en-US" sz="4400" b="1" spc="30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目录</a:t>
            </a:r>
            <a:endParaRPr lang="zh-CN" altLang="en-US" sz="4400" b="1" spc="30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p:cNvSpPr txBox="1"/>
          <p:nvPr>
            <p:custDataLst>
              <p:tags r:id="rId2"/>
            </p:custDataLst>
          </p:nvPr>
        </p:nvSpPr>
        <p:spPr>
          <a:xfrm>
            <a:off x="887095" y="2161540"/>
            <a:ext cx="1851660" cy="368300"/>
          </a:xfrm>
          <a:prstGeom prst="rect">
            <a:avLst/>
          </a:prstGeom>
          <a:noFill/>
        </p:spPr>
        <p:txBody>
          <a:bodyPr wrap="square" rtlCol="0">
            <a:normAutofit/>
          </a:bodyPr>
          <a:lstStyle/>
          <a:p>
            <a:pPr algn="r"/>
            <a:r>
              <a:rPr lang="en-US" altLang="zh-CN" spc="3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CONTENTS</a:t>
            </a:r>
            <a:endParaRPr lang="en-US" altLang="zh-CN" spc="3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8" name="矩形 7"/>
          <p:cNvSpPr/>
          <p:nvPr>
            <p:custDataLst>
              <p:tags r:id="rId3"/>
            </p:custDataLst>
          </p:nvPr>
        </p:nvSpPr>
        <p:spPr>
          <a:xfrm>
            <a:off x="2897505" y="1515110"/>
            <a:ext cx="76200" cy="9226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p:custDataLst>
              <p:tags r:id="rId4"/>
            </p:custDataLst>
          </p:nvPr>
        </p:nvSpPr>
        <p:spPr>
          <a:xfrm>
            <a:off x="5318125" y="2114549"/>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01.</a:t>
            </a:r>
            <a:endPar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8" name="文本框 17"/>
          <p:cNvSpPr txBox="1"/>
          <p:nvPr>
            <p:custDataLst>
              <p:tags r:id="rId5"/>
            </p:custDataLst>
          </p:nvPr>
        </p:nvSpPr>
        <p:spPr>
          <a:xfrm>
            <a:off x="6428105" y="211454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系统基本情况介绍</a:t>
            </a:r>
            <a:endPar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26" name="文本框 25"/>
          <p:cNvSpPr txBox="1"/>
          <p:nvPr>
            <p:custDataLst>
              <p:tags r:id="rId6"/>
            </p:custDataLst>
          </p:nvPr>
        </p:nvSpPr>
        <p:spPr>
          <a:xfrm>
            <a:off x="5318125" y="3399790"/>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02.</a:t>
            </a:r>
            <a:endPar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7" name="文本框 26"/>
          <p:cNvSpPr txBox="1"/>
          <p:nvPr>
            <p:custDataLst>
              <p:tags r:id="rId7"/>
            </p:custDataLst>
          </p:nvPr>
        </p:nvSpPr>
        <p:spPr>
          <a:xfrm>
            <a:off x="6428105" y="3399790"/>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系统拓扑及安全方面介绍</a:t>
            </a:r>
            <a:endPar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29" name="文本框 28"/>
          <p:cNvSpPr txBox="1"/>
          <p:nvPr>
            <p:custDataLst>
              <p:tags r:id="rId8"/>
            </p:custDataLst>
          </p:nvPr>
        </p:nvSpPr>
        <p:spPr>
          <a:xfrm>
            <a:off x="5318125" y="4685029"/>
            <a:ext cx="1030605" cy="829945"/>
          </a:xfrm>
          <a:prstGeom prst="rect">
            <a:avLst/>
          </a:prstGeom>
          <a:noFill/>
        </p:spPr>
        <p:txBody>
          <a:bodyPr wrap="square" rtlCol="0">
            <a:normAutofit/>
          </a:bodyPr>
          <a:lstStyle/>
          <a:p>
            <a:r>
              <a:rPr lang="en-US" altLang="zh-CN" sz="4800" b="1">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03.</a:t>
            </a:r>
            <a:endParaRPr lang="en-US" altLang="zh-CN" sz="4800" b="1">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0" name="文本框 29"/>
          <p:cNvSpPr txBox="1"/>
          <p:nvPr>
            <p:custDataLst>
              <p:tags r:id="rId9"/>
            </p:custDataLst>
          </p:nvPr>
        </p:nvSpPr>
        <p:spPr>
          <a:xfrm>
            <a:off x="6428105" y="468502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系统预定级情况介绍</a:t>
            </a:r>
            <a:endPar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cxnSp>
        <p:nvCxnSpPr>
          <p:cNvPr id="38" name="直接连接符 37"/>
          <p:cNvCxnSpPr/>
          <p:nvPr>
            <p:custDataLst>
              <p:tags r:id="rId10"/>
            </p:custDataLst>
          </p:nvPr>
        </p:nvCxnSpPr>
        <p:spPr>
          <a:xfrm>
            <a:off x="5426075" y="1496060"/>
            <a:ext cx="5248275" cy="0"/>
          </a:xfrm>
          <a:prstGeom prst="line">
            <a:avLst/>
          </a:prstGeom>
          <a:ln>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 name="右箭头 8"/>
          <p:cNvSpPr/>
          <p:nvPr/>
        </p:nvSpPr>
        <p:spPr>
          <a:xfrm>
            <a:off x="3866515" y="3538220"/>
            <a:ext cx="850900" cy="552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系统拓扑及说明</a:t>
            </a:r>
            <a:endParaRPr lang="zh-CN" altLang="en-US" sz="2800" spc="400">
              <a:solidFill>
                <a:srgbClr val="2053A8"/>
              </a:solidFill>
              <a:effectLst/>
              <a:uFillTx/>
              <a:latin typeface="微软雅黑" panose="020B0503020204020204" pitchFamily="34" charset="-122"/>
              <a:ea typeface="微软雅黑" panose="020B0503020204020204" pitchFamily="34" charset="-122"/>
              <a:sym typeface="+mn-ea"/>
            </a:endParaRP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 name="图片 3" descr="D:/高层次人才/图片1.png图片1"/>
          <p:cNvPicPr/>
          <p:nvPr/>
        </p:nvPicPr>
        <p:blipFill>
          <a:blip r:embed="rId1"/>
          <a:srcRect/>
          <a:stretch>
            <a:fillRect/>
          </a:stretch>
        </p:blipFill>
        <p:spPr>
          <a:xfrm>
            <a:off x="572135" y="935355"/>
            <a:ext cx="10659745" cy="5546725"/>
          </a:xfrm>
          <a:prstGeom prst="rect">
            <a:avLst/>
          </a:prstGeom>
          <a:noFill/>
          <a:ln>
            <a:noFill/>
          </a:ln>
        </p:spPr>
      </p:pic>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系统拓扑及说明</a:t>
            </a:r>
            <a:endParaRPr lang="zh-CN" altLang="en-US" sz="2800" spc="400">
              <a:solidFill>
                <a:srgbClr val="2053A8"/>
              </a:solidFill>
              <a:effectLst/>
              <a:uFillTx/>
              <a:latin typeface="微软雅黑" panose="020B0503020204020204" pitchFamily="34" charset="-122"/>
              <a:ea typeface="微软雅黑" panose="020B0503020204020204" pitchFamily="34" charset="-122"/>
              <a:sym typeface="+mn-ea"/>
            </a:endParaRP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426085" y="1557655"/>
            <a:ext cx="11312525" cy="4481830"/>
          </a:xfrm>
          <a:prstGeom prst="rect">
            <a:avLst/>
          </a:prstGeom>
        </p:spPr>
        <p:txBody>
          <a:bodyPr wrap="square" lIns="91424" tIns="45711" rIns="91424" bIns="45711">
            <a:noAutofit/>
          </a:bodyPr>
          <a:lstStyle/>
          <a:p>
            <a:pPr indent="406400" fontAlgn="auto" latinLnBrk="1">
              <a:lnSpc>
                <a:spcPct val="150000"/>
              </a:lnSpc>
              <a:defRPr/>
              <a:extLst>
                <a:ext uri="{35155182-B16C-46BC-9424-99874614C6A1}">
                  <wpsdc:indentchars xmlns:wpsdc="http://www.wps.cn/officeDocument/2017/drawingmlCustomData" val="200" checksum="1740828767"/>
                </a:ext>
              </a:extLst>
            </a:pPr>
            <a:r>
              <a:rPr lang="zh-CN" altLang="en-US" sz="1600" b="1" dirty="0">
                <a:solidFill>
                  <a:srgbClr val="262626"/>
                </a:solidFill>
                <a:latin typeface="微软雅黑" panose="020B0503020204020204" pitchFamily="34" charset="-122"/>
                <a:ea typeface="微软雅黑" panose="020B0503020204020204" pitchFamily="34" charset="-122"/>
                <a:sym typeface="+mn-ea"/>
              </a:rPr>
              <a:t>该定级对象部署在移动政务信创云平台，该云平台提供容器组件和虚拟主机，云平台安全保护等级为三级。定级对象相关配套的网络设备、安全设备、操作系统和数据库等设施部署在移动政务信创云平台机房内，网络中部署了网关与外部网络互联，网关以内的互联网络为内部网络，以及网络边界属于本次定级对象的范围。</a:t>
            </a:r>
            <a:endParaRPr lang="zh-CN" altLang="en-US" sz="1600" b="1" dirty="0">
              <a:solidFill>
                <a:srgbClr val="262626"/>
              </a:solidFill>
              <a:latin typeface="微软雅黑" panose="020B0503020204020204" pitchFamily="34" charset="-122"/>
              <a:ea typeface="微软雅黑" panose="020B0503020204020204" pitchFamily="34" charset="-122"/>
              <a:sym typeface="+mn-ea"/>
            </a:endParaRPr>
          </a:p>
          <a:p>
            <a:pPr indent="406400" fontAlgn="auto" latinLnBrk="1">
              <a:lnSpc>
                <a:spcPct val="150000"/>
              </a:lnSpc>
              <a:defRPr/>
              <a:extLst>
                <a:ext uri="{35155182-B16C-46BC-9424-99874614C6A1}">
                  <wpsdc:indentchars xmlns:wpsdc="http://www.wps.cn/officeDocument/2017/drawingmlCustomData" val="200" checksum="1740828767"/>
                </a:ext>
              </a:extLst>
            </a:pPr>
            <a:r>
              <a:rPr lang="zh-CN" altLang="en-US" sz="1600" b="1" dirty="0">
                <a:solidFill>
                  <a:srgbClr val="262626"/>
                </a:solidFill>
                <a:latin typeface="微软雅黑" panose="020B0503020204020204" pitchFamily="34" charset="-122"/>
                <a:ea typeface="微软雅黑" panose="020B0503020204020204" pitchFamily="34" charset="-122"/>
                <a:sym typeface="+mn-ea"/>
              </a:rPr>
              <a:t>定级对象的网络结构主要包括前端服务区和核心数据区。前端服务区通过负载均衡（</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10.60.144.30</a:t>
            </a:r>
            <a:r>
              <a:rPr lang="zh-CN" altLang="en-US" sz="1600" b="1" dirty="0">
                <a:solidFill>
                  <a:srgbClr val="262626"/>
                </a:solidFill>
                <a:latin typeface="微软雅黑" panose="020B0503020204020204" pitchFamily="34" charset="-122"/>
                <a:ea typeface="微软雅黑" panose="020B0503020204020204" pitchFamily="34" charset="-122"/>
                <a:sym typeface="+mn-ea"/>
              </a:rPr>
              <a:t>）和两个前端服务器（</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10.60.144.8</a:t>
            </a:r>
            <a:r>
              <a:rPr lang="zh-CN" altLang="en-US" sz="1600" b="1" dirty="0">
                <a:solidFill>
                  <a:srgbClr val="262626"/>
                </a:solidFill>
                <a:latin typeface="微软雅黑" panose="020B0503020204020204" pitchFamily="34" charset="-122"/>
                <a:ea typeface="微软雅黑" panose="020B0503020204020204" pitchFamily="34" charset="-122"/>
                <a:sym typeface="+mn-ea"/>
              </a:rPr>
              <a:t>、</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10.60.144.9</a:t>
            </a:r>
            <a:r>
              <a:rPr lang="zh-CN" altLang="en-US" sz="1600" b="1" dirty="0">
                <a:solidFill>
                  <a:srgbClr val="262626"/>
                </a:solidFill>
                <a:latin typeface="微软雅黑" panose="020B0503020204020204" pitchFamily="34" charset="-122"/>
                <a:ea typeface="微软雅黑" panose="020B0503020204020204" pitchFamily="34" charset="-122"/>
                <a:sym typeface="+mn-ea"/>
              </a:rPr>
              <a:t>）处理外部请求；核心数据区包含以下组件：</a:t>
            </a:r>
            <a:endParaRPr lang="zh-CN" altLang="en-US" sz="1600" b="1" dirty="0">
              <a:solidFill>
                <a:srgbClr val="262626"/>
              </a:solidFill>
              <a:latin typeface="微软雅黑" panose="020B0503020204020204" pitchFamily="34" charset="-122"/>
              <a:ea typeface="微软雅黑" panose="020B0503020204020204" pitchFamily="34" charset="-122"/>
              <a:sym typeface="+mn-ea"/>
            </a:endParaRPr>
          </a:p>
          <a:p>
            <a:pPr indent="406400" fontAlgn="auto" latinLnBrk="1">
              <a:lnSpc>
                <a:spcPct val="150000"/>
              </a:lnSpc>
              <a:defRPr/>
              <a:extLst>
                <a:ext uri="{35155182-B16C-46BC-9424-99874614C6A1}">
                  <wpsdc:indentchars xmlns:wpsdc="http://www.wps.cn/officeDocument/2017/drawingmlCustomData" val="200" checksum="1740828767"/>
                </a:ext>
              </a:extLst>
            </a:pPr>
            <a:r>
              <a:rPr lang="en-US" altLang="zh-CN" sz="1600" b="1" dirty="0">
                <a:solidFill>
                  <a:srgbClr val="262626"/>
                </a:solidFill>
                <a:latin typeface="微软雅黑" panose="020B0503020204020204" pitchFamily="34" charset="-122"/>
                <a:ea typeface="微软雅黑" panose="020B0503020204020204" pitchFamily="34" charset="-122"/>
                <a:sym typeface="+mn-ea"/>
              </a:rPr>
              <a:t>1.</a:t>
            </a:r>
            <a:r>
              <a:rPr lang="zh-CN" altLang="en-US" sz="1600" b="1" dirty="0">
                <a:solidFill>
                  <a:srgbClr val="262626"/>
                </a:solidFill>
                <a:latin typeface="微软雅黑" panose="020B0503020204020204" pitchFamily="34" charset="-122"/>
                <a:ea typeface="微软雅黑" panose="020B0503020204020204" pitchFamily="34" charset="-122"/>
                <a:sym typeface="+mn-ea"/>
              </a:rPr>
              <a:t>缓存集群（</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10.60.145.67-69</a:t>
            </a:r>
            <a:r>
              <a:rPr lang="zh-CN" altLang="en-US" sz="1600" b="1" dirty="0">
                <a:solidFill>
                  <a:srgbClr val="262626"/>
                </a:solidFill>
                <a:latin typeface="微软雅黑" panose="020B0503020204020204" pitchFamily="34" charset="-122"/>
                <a:ea typeface="微软雅黑" panose="020B0503020204020204" pitchFamily="34" charset="-122"/>
                <a:sym typeface="+mn-ea"/>
              </a:rPr>
              <a:t>），提供高速数据访问；</a:t>
            </a:r>
            <a:endParaRPr lang="zh-CN" altLang="en-US" sz="1600" b="1" dirty="0">
              <a:solidFill>
                <a:srgbClr val="262626"/>
              </a:solidFill>
              <a:latin typeface="微软雅黑" panose="020B0503020204020204" pitchFamily="34" charset="-122"/>
              <a:ea typeface="微软雅黑" panose="020B0503020204020204" pitchFamily="34" charset="-122"/>
              <a:sym typeface="+mn-ea"/>
            </a:endParaRPr>
          </a:p>
          <a:p>
            <a:pPr indent="406400" fontAlgn="auto" latinLnBrk="1">
              <a:lnSpc>
                <a:spcPct val="150000"/>
              </a:lnSpc>
              <a:defRPr/>
              <a:extLst>
                <a:ext uri="{35155182-B16C-46BC-9424-99874614C6A1}">
                  <wpsdc:indentchars xmlns:wpsdc="http://www.wps.cn/officeDocument/2017/drawingmlCustomData" val="200" checksum="1740828767"/>
                </a:ext>
              </a:extLst>
            </a:pPr>
            <a:r>
              <a:rPr lang="en-US" altLang="zh-CN" sz="1600" b="1" dirty="0">
                <a:solidFill>
                  <a:srgbClr val="262626"/>
                </a:solidFill>
                <a:latin typeface="微软雅黑" panose="020B0503020204020204" pitchFamily="34" charset="-122"/>
                <a:ea typeface="微软雅黑" panose="020B0503020204020204" pitchFamily="34" charset="-122"/>
                <a:sym typeface="+mn-ea"/>
              </a:rPr>
              <a:t>2.</a:t>
            </a:r>
            <a:r>
              <a:rPr lang="zh-CN" altLang="en-US" sz="1600" b="1" dirty="0">
                <a:solidFill>
                  <a:srgbClr val="262626"/>
                </a:solidFill>
                <a:latin typeface="微软雅黑" panose="020B0503020204020204" pitchFamily="34" charset="-122"/>
                <a:ea typeface="微软雅黑" panose="020B0503020204020204" pitchFamily="34" charset="-122"/>
                <a:sym typeface="+mn-ea"/>
              </a:rPr>
              <a:t>人工智能服务（知识库</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10.60.145.71</a:t>
            </a:r>
            <a:r>
              <a:rPr lang="zh-CN" altLang="en-US" sz="1600" b="1" dirty="0">
                <a:solidFill>
                  <a:srgbClr val="262626"/>
                </a:solidFill>
                <a:latin typeface="微软雅黑" panose="020B0503020204020204" pitchFamily="34" charset="-122"/>
                <a:ea typeface="微软雅黑" panose="020B0503020204020204" pitchFamily="34" charset="-122"/>
                <a:sym typeface="+mn-ea"/>
              </a:rPr>
              <a:t>、向量模型</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10.60.145.72</a:t>
            </a:r>
            <a:r>
              <a:rPr lang="zh-CN" altLang="en-US" sz="1600" b="1" dirty="0">
                <a:solidFill>
                  <a:srgbClr val="262626"/>
                </a:solidFill>
                <a:latin typeface="微软雅黑" panose="020B0503020204020204" pitchFamily="34" charset="-122"/>
                <a:ea typeface="微软雅黑" panose="020B0503020204020204" pitchFamily="34" charset="-122"/>
                <a:sym typeface="+mn-ea"/>
              </a:rPr>
              <a:t>）；</a:t>
            </a:r>
            <a:endParaRPr lang="zh-CN" altLang="en-US" sz="1600" b="1" dirty="0">
              <a:solidFill>
                <a:srgbClr val="262626"/>
              </a:solidFill>
              <a:latin typeface="微软雅黑" panose="020B0503020204020204" pitchFamily="34" charset="-122"/>
              <a:ea typeface="微软雅黑" panose="020B0503020204020204" pitchFamily="34" charset="-122"/>
              <a:sym typeface="+mn-ea"/>
            </a:endParaRPr>
          </a:p>
          <a:p>
            <a:pPr indent="406400" fontAlgn="auto" latinLnBrk="1">
              <a:lnSpc>
                <a:spcPct val="150000"/>
              </a:lnSpc>
              <a:defRPr/>
              <a:extLst>
                <a:ext uri="{35155182-B16C-46BC-9424-99874614C6A1}">
                  <wpsdc:indentchars xmlns:wpsdc="http://www.wps.cn/officeDocument/2017/drawingmlCustomData" val="200" checksum="1740828767"/>
                </a:ext>
              </a:extLst>
            </a:pPr>
            <a:r>
              <a:rPr lang="en-US" altLang="zh-CN" sz="1600" b="1" dirty="0">
                <a:solidFill>
                  <a:srgbClr val="262626"/>
                </a:solidFill>
                <a:latin typeface="微软雅黑" panose="020B0503020204020204" pitchFamily="34" charset="-122"/>
                <a:ea typeface="微软雅黑" panose="020B0503020204020204" pitchFamily="34" charset="-122"/>
                <a:sym typeface="+mn-ea"/>
              </a:rPr>
              <a:t>3.</a:t>
            </a:r>
            <a:r>
              <a:rPr lang="zh-CN" altLang="en-US" sz="1600" b="1" dirty="0">
                <a:solidFill>
                  <a:srgbClr val="262626"/>
                </a:solidFill>
                <a:latin typeface="微软雅黑" panose="020B0503020204020204" pitchFamily="34" charset="-122"/>
                <a:ea typeface="微软雅黑" panose="020B0503020204020204" pitchFamily="34" charset="-122"/>
                <a:sym typeface="+mn-ea"/>
              </a:rPr>
              <a:t>数据仓库及大数据应用（</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10.60.145.73-76</a:t>
            </a:r>
            <a:r>
              <a:rPr lang="zh-CN" altLang="en-US" sz="1600" b="1" dirty="0">
                <a:solidFill>
                  <a:srgbClr val="262626"/>
                </a:solidFill>
                <a:latin typeface="微软雅黑" panose="020B0503020204020204" pitchFamily="34" charset="-122"/>
                <a:ea typeface="微软雅黑" panose="020B0503020204020204" pitchFamily="34" charset="-122"/>
                <a:sym typeface="+mn-ea"/>
              </a:rPr>
              <a:t>）；</a:t>
            </a:r>
            <a:endParaRPr lang="zh-CN" altLang="en-US" sz="1600" b="1" dirty="0">
              <a:solidFill>
                <a:srgbClr val="262626"/>
              </a:solidFill>
              <a:latin typeface="微软雅黑" panose="020B0503020204020204" pitchFamily="34" charset="-122"/>
              <a:ea typeface="微软雅黑" panose="020B0503020204020204" pitchFamily="34" charset="-122"/>
              <a:sym typeface="+mn-ea"/>
            </a:endParaRPr>
          </a:p>
          <a:p>
            <a:pPr indent="406400" fontAlgn="auto" latinLnBrk="1">
              <a:lnSpc>
                <a:spcPct val="150000"/>
              </a:lnSpc>
              <a:defRPr/>
              <a:extLst>
                <a:ext uri="{35155182-B16C-46BC-9424-99874614C6A1}">
                  <wpsdc:indentchars xmlns:wpsdc="http://www.wps.cn/officeDocument/2017/drawingmlCustomData" val="200" checksum="1740828767"/>
                </a:ext>
              </a:extLst>
            </a:pPr>
            <a:r>
              <a:rPr lang="en-US" altLang="zh-CN" sz="1600" b="1" dirty="0">
                <a:solidFill>
                  <a:srgbClr val="262626"/>
                </a:solidFill>
                <a:latin typeface="微软雅黑" panose="020B0503020204020204" pitchFamily="34" charset="-122"/>
                <a:ea typeface="微软雅黑" panose="020B0503020204020204" pitchFamily="34" charset="-122"/>
                <a:sym typeface="+mn-ea"/>
              </a:rPr>
              <a:t>4.</a:t>
            </a:r>
            <a:r>
              <a:rPr lang="zh-CN" altLang="en-US" sz="1600" b="1" dirty="0">
                <a:solidFill>
                  <a:srgbClr val="262626"/>
                </a:solidFill>
                <a:latin typeface="微软雅黑" panose="020B0503020204020204" pitchFamily="34" charset="-122"/>
                <a:ea typeface="微软雅黑" panose="020B0503020204020204" pitchFamily="34" charset="-122"/>
                <a:sym typeface="+mn-ea"/>
              </a:rPr>
              <a:t>数据中台（</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10.60.145.77</a:t>
            </a:r>
            <a:r>
              <a:rPr lang="zh-CN" altLang="en-US" sz="1600" b="1" dirty="0">
                <a:solidFill>
                  <a:srgbClr val="262626"/>
                </a:solidFill>
                <a:latin typeface="微软雅黑" panose="020B0503020204020204" pitchFamily="34" charset="-122"/>
                <a:ea typeface="微软雅黑" panose="020B0503020204020204" pitchFamily="34" charset="-122"/>
                <a:sym typeface="+mn-ea"/>
              </a:rPr>
              <a:t>）；</a:t>
            </a:r>
            <a:endParaRPr lang="zh-CN" altLang="en-US" sz="1600" b="1" dirty="0">
              <a:solidFill>
                <a:srgbClr val="262626"/>
              </a:solidFill>
              <a:latin typeface="微软雅黑" panose="020B0503020204020204" pitchFamily="34" charset="-122"/>
              <a:ea typeface="微软雅黑" panose="020B0503020204020204" pitchFamily="34" charset="-122"/>
              <a:sym typeface="+mn-ea"/>
            </a:endParaRPr>
          </a:p>
          <a:p>
            <a:pPr indent="406400" fontAlgn="auto" latinLnBrk="1">
              <a:lnSpc>
                <a:spcPct val="150000"/>
              </a:lnSpc>
              <a:defRPr/>
              <a:extLst>
                <a:ext uri="{35155182-B16C-46BC-9424-99874614C6A1}">
                  <wpsdc:indentchars xmlns:wpsdc="http://www.wps.cn/officeDocument/2017/drawingmlCustomData" val="200" checksum="1740828767"/>
                </a:ext>
              </a:extLst>
            </a:pPr>
            <a:r>
              <a:rPr lang="en-US" altLang="zh-CN" sz="1600" b="1" dirty="0">
                <a:solidFill>
                  <a:srgbClr val="262626"/>
                </a:solidFill>
                <a:latin typeface="微软雅黑" panose="020B0503020204020204" pitchFamily="34" charset="-122"/>
                <a:ea typeface="微软雅黑" panose="020B0503020204020204" pitchFamily="34" charset="-122"/>
                <a:sym typeface="+mn-ea"/>
              </a:rPr>
              <a:t>5.</a:t>
            </a:r>
            <a:r>
              <a:rPr lang="zh-CN" altLang="en-US" sz="1600" b="1" dirty="0">
                <a:solidFill>
                  <a:srgbClr val="262626"/>
                </a:solidFill>
                <a:latin typeface="微软雅黑" panose="020B0503020204020204" pitchFamily="34" charset="-122"/>
                <a:ea typeface="微软雅黑" panose="020B0503020204020204" pitchFamily="34" charset="-122"/>
                <a:sym typeface="+mn-ea"/>
              </a:rPr>
              <a:t>容器化数据库集群（</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10.60.145.80-81</a:t>
            </a:r>
            <a:r>
              <a:rPr lang="zh-CN" altLang="en-US" sz="1600" b="1" dirty="0">
                <a:solidFill>
                  <a:srgbClr val="262626"/>
                </a:solidFill>
                <a:latin typeface="微软雅黑" panose="020B0503020204020204" pitchFamily="34" charset="-122"/>
                <a:ea typeface="微软雅黑" panose="020B0503020204020204" pitchFamily="34" charset="-122"/>
                <a:sym typeface="+mn-ea"/>
              </a:rPr>
              <a:t>）及对象存储（</a:t>
            </a:r>
            <a:r>
              <a:rPr lang="en-US" altLang="zh-CN" sz="1600" b="1" dirty="0">
                <a:solidFill>
                  <a:srgbClr val="262626"/>
                </a:solidFill>
                <a:latin typeface="微软雅黑" panose="020B0503020204020204" pitchFamily="34" charset="-122"/>
                <a:ea typeface="微软雅黑" panose="020B0503020204020204" pitchFamily="34" charset="-122"/>
                <a:sym typeface="+mn-ea"/>
              </a:rPr>
              <a:t>CMCC.GovECLoudOss.com</a:t>
            </a:r>
            <a:r>
              <a:rPr lang="zh-CN" altLang="en-US" sz="1600" b="1" dirty="0">
                <a:solidFill>
                  <a:srgbClr val="262626"/>
                </a:solidFill>
                <a:latin typeface="微软雅黑" panose="020B0503020204020204" pitchFamily="34" charset="-122"/>
                <a:ea typeface="微软雅黑" panose="020B0503020204020204" pitchFamily="34" charset="-122"/>
                <a:sym typeface="+mn-ea"/>
              </a:rPr>
              <a:t>），支撑核心业务与数据持久化存储。</a:t>
            </a:r>
            <a:endParaRPr lang="zh-CN" altLang="en-US" sz="1600" b="1" dirty="0">
              <a:solidFill>
                <a:srgbClr val="262626"/>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887096" y="1393190"/>
            <a:ext cx="1851660" cy="768350"/>
          </a:xfrm>
          <a:prstGeom prst="rect">
            <a:avLst/>
          </a:prstGeom>
          <a:noFill/>
        </p:spPr>
        <p:txBody>
          <a:bodyPr wrap="square" rtlCol="0">
            <a:normAutofit fontScale="95000"/>
          </a:bodyPr>
          <a:lstStyle/>
          <a:p>
            <a:pPr algn="r"/>
            <a:r>
              <a:rPr lang="zh-CN" altLang="en-US" sz="4400" b="1" spc="30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目录</a:t>
            </a:r>
            <a:endParaRPr lang="zh-CN" altLang="en-US" sz="4400" b="1" spc="30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p:cNvSpPr txBox="1"/>
          <p:nvPr>
            <p:custDataLst>
              <p:tags r:id="rId2"/>
            </p:custDataLst>
          </p:nvPr>
        </p:nvSpPr>
        <p:spPr>
          <a:xfrm>
            <a:off x="887095" y="2161540"/>
            <a:ext cx="1851660" cy="368300"/>
          </a:xfrm>
          <a:prstGeom prst="rect">
            <a:avLst/>
          </a:prstGeom>
          <a:noFill/>
        </p:spPr>
        <p:txBody>
          <a:bodyPr wrap="square" rtlCol="0">
            <a:normAutofit/>
          </a:bodyPr>
          <a:lstStyle/>
          <a:p>
            <a:pPr algn="r"/>
            <a:r>
              <a:rPr lang="en-US" altLang="zh-CN" spc="3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CONTENTS</a:t>
            </a:r>
            <a:endParaRPr lang="en-US" altLang="zh-CN" spc="3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8" name="矩形 7"/>
          <p:cNvSpPr/>
          <p:nvPr>
            <p:custDataLst>
              <p:tags r:id="rId3"/>
            </p:custDataLst>
          </p:nvPr>
        </p:nvSpPr>
        <p:spPr>
          <a:xfrm>
            <a:off x="2897505" y="1515110"/>
            <a:ext cx="76200" cy="9226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p:custDataLst>
              <p:tags r:id="rId4"/>
            </p:custDataLst>
          </p:nvPr>
        </p:nvSpPr>
        <p:spPr>
          <a:xfrm>
            <a:off x="5318125" y="2114549"/>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01.</a:t>
            </a:r>
            <a:endPar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8" name="文本框 17"/>
          <p:cNvSpPr txBox="1"/>
          <p:nvPr>
            <p:custDataLst>
              <p:tags r:id="rId5"/>
            </p:custDataLst>
          </p:nvPr>
        </p:nvSpPr>
        <p:spPr>
          <a:xfrm>
            <a:off x="6428105" y="211454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系统基本情况介绍</a:t>
            </a:r>
            <a:endPar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26" name="文本框 25"/>
          <p:cNvSpPr txBox="1"/>
          <p:nvPr>
            <p:custDataLst>
              <p:tags r:id="rId6"/>
            </p:custDataLst>
          </p:nvPr>
        </p:nvSpPr>
        <p:spPr>
          <a:xfrm>
            <a:off x="5318125" y="3399790"/>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02.</a:t>
            </a:r>
            <a:endPar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7" name="文本框 26"/>
          <p:cNvSpPr txBox="1"/>
          <p:nvPr>
            <p:custDataLst>
              <p:tags r:id="rId7"/>
            </p:custDataLst>
          </p:nvPr>
        </p:nvSpPr>
        <p:spPr>
          <a:xfrm>
            <a:off x="6428105" y="3399790"/>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系统拓扑及安全方面介绍</a:t>
            </a:r>
            <a:endPar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29" name="文本框 28"/>
          <p:cNvSpPr txBox="1"/>
          <p:nvPr>
            <p:custDataLst>
              <p:tags r:id="rId8"/>
            </p:custDataLst>
          </p:nvPr>
        </p:nvSpPr>
        <p:spPr>
          <a:xfrm>
            <a:off x="5318125" y="4685029"/>
            <a:ext cx="1030605" cy="829945"/>
          </a:xfrm>
          <a:prstGeom prst="rect">
            <a:avLst/>
          </a:prstGeom>
          <a:noFill/>
        </p:spPr>
        <p:txBody>
          <a:bodyPr wrap="square" rtlCol="0">
            <a:normAutofit/>
          </a:bodyPr>
          <a:lstStyle/>
          <a:p>
            <a:r>
              <a:rPr lang="en-US" altLang="zh-CN" sz="4800" b="1">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03.</a:t>
            </a:r>
            <a:endParaRPr lang="en-US" altLang="zh-CN" sz="4800" b="1">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0" name="文本框 29"/>
          <p:cNvSpPr txBox="1"/>
          <p:nvPr>
            <p:custDataLst>
              <p:tags r:id="rId9"/>
            </p:custDataLst>
          </p:nvPr>
        </p:nvSpPr>
        <p:spPr>
          <a:xfrm>
            <a:off x="6428105" y="468502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系统预定级情况介绍</a:t>
            </a:r>
            <a:endPar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cxnSp>
        <p:nvCxnSpPr>
          <p:cNvPr id="38" name="直接连接符 37"/>
          <p:cNvCxnSpPr/>
          <p:nvPr>
            <p:custDataLst>
              <p:tags r:id="rId10"/>
            </p:custDataLst>
          </p:nvPr>
        </p:nvCxnSpPr>
        <p:spPr>
          <a:xfrm>
            <a:off x="5426075" y="1496060"/>
            <a:ext cx="5248275" cy="0"/>
          </a:xfrm>
          <a:prstGeom prst="line">
            <a:avLst/>
          </a:prstGeom>
          <a:ln>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 name="右箭头 8"/>
          <p:cNvSpPr/>
          <p:nvPr/>
        </p:nvSpPr>
        <p:spPr>
          <a:xfrm>
            <a:off x="3866515" y="4823460"/>
            <a:ext cx="850900" cy="552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业务信息安全等级</a:t>
            </a:r>
            <a:endParaRPr lang="zh-CN" altLang="en-US" sz="2800" spc="400">
              <a:solidFill>
                <a:srgbClr val="2053A8"/>
              </a:solidFill>
              <a:effectLst/>
              <a:uFillTx/>
              <a:latin typeface="微软雅黑" panose="020B0503020204020204" pitchFamily="34" charset="-122"/>
              <a:ea typeface="微软雅黑" panose="020B0503020204020204" pitchFamily="34" charset="-122"/>
              <a:sym typeface="+mn-ea"/>
            </a:endParaRP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591310" y="1184910"/>
            <a:ext cx="9838690" cy="1009650"/>
          </a:xfrm>
          <a:prstGeom prst="rect">
            <a:avLst/>
          </a:prstGeom>
          <a:noFill/>
        </p:spPr>
        <p:txBody>
          <a:bodyPr wrap="square" rtlCol="0">
            <a:noAutofit/>
          </a:bodyPr>
          <a:lstStyle/>
          <a:p>
            <a:r>
              <a:rPr lang="zh-CN" altLang="en-US" dirty="0"/>
              <a:t>业务信息：处理的业务信息包括单位信息（单位名称、法人、地址、电话等）、人员信息（身份证号码、姓名、电话、家庭住址等）及其他跟职称申报人员、用人单位相关的信息。数据约</a:t>
            </a:r>
            <a:r>
              <a:rPr lang="en-US" altLang="zh-CN" dirty="0"/>
              <a:t>25</a:t>
            </a:r>
            <a:r>
              <a:rPr lang="zh-CN" altLang="en-US" dirty="0"/>
              <a:t>万条，每年增长</a:t>
            </a:r>
            <a:r>
              <a:rPr lang="en-US" altLang="zh-CN" dirty="0"/>
              <a:t>10%</a:t>
            </a:r>
            <a:r>
              <a:rPr lang="zh-CN" altLang="en-US" dirty="0"/>
              <a:t>。</a:t>
            </a:r>
            <a:endParaRPr lang="zh-CN" altLang="en-US" dirty="0"/>
          </a:p>
        </p:txBody>
      </p:sp>
      <p:sp>
        <p:nvSpPr>
          <p:cNvPr id="8" name="文本框 7"/>
          <p:cNvSpPr txBox="1"/>
          <p:nvPr/>
        </p:nvSpPr>
        <p:spPr>
          <a:xfrm>
            <a:off x="1591310" y="2857600"/>
            <a:ext cx="9549130" cy="3692525"/>
          </a:xfrm>
          <a:prstGeom prst="rect">
            <a:avLst/>
          </a:prstGeom>
          <a:noFill/>
        </p:spPr>
        <p:txBody>
          <a:bodyPr wrap="square" rtlCol="0">
            <a:spAutoFit/>
          </a:bodyPr>
          <a:lstStyle/>
          <a:p>
            <a:r>
              <a:rPr lang="zh-CN" altLang="en-US" dirty="0"/>
              <a:t>对应客体的侵害程度：</a:t>
            </a:r>
            <a:r>
              <a:rPr lang="zh-CN" altLang="zh-CN" dirty="0"/>
              <a:t>侵害的客观方面表现为：一旦该系统的业务信息遭到入侵、修改、增加、删除等不明侵害，会对宁夏人力资源与社会保障厅的合法权益造成影响和损害，同时也会对社会秩序、公共利益造成侵害。可以表现为：</a:t>
            </a:r>
            <a:endParaRPr lang="zh-CN" altLang="zh-CN" dirty="0"/>
          </a:p>
          <a:p>
            <a:pPr indent="457200"/>
            <a:r>
              <a:rPr lang="en-US" altLang="zh-CN" dirty="0"/>
              <a:t>1</a:t>
            </a:r>
            <a:r>
              <a:rPr lang="zh-CN" altLang="zh-CN" dirty="0"/>
              <a:t>）社会秩序、公共利益遭受侵害可发生的后果：若公民身份信息大量泄露，可能被用于电信诈骗，造成社会群体性财产损失，损害公共利益、造成社会不良影响；</a:t>
            </a:r>
            <a:endParaRPr lang="zh-CN" altLang="zh-CN" dirty="0"/>
          </a:p>
          <a:p>
            <a:pPr indent="457200"/>
            <a:r>
              <a:rPr lang="en-US" altLang="zh-CN" dirty="0"/>
              <a:t>2</a:t>
            </a:r>
            <a:r>
              <a:rPr lang="zh-CN" altLang="zh-CN" dirty="0"/>
              <a:t>）公民、法人和其他组织遭受侵害可发生的后果：若个人敏感信息泄露，导致个人身份被冒用，侵犯公民人身安全权；同时影响其正常工作的开展，导致其业务能力下降，造成单位不良影响</a:t>
            </a:r>
            <a:r>
              <a:rPr lang="zh-CN" altLang="en-US" dirty="0"/>
              <a:t>。</a:t>
            </a:r>
            <a:endParaRPr lang="en-US" altLang="zh-CN" dirty="0"/>
          </a:p>
          <a:p>
            <a:endParaRPr lang="en-US" altLang="zh-CN" dirty="0"/>
          </a:p>
          <a:p>
            <a:r>
              <a:rPr lang="zh-CN" altLang="en-US" dirty="0"/>
              <a:t>信息受到破坏后，对社会秩序、公共利益造成的侵害程度表现为严重损害，即会出现较大范围的社会不良影响和较严重程度的公共利益的损害等；对公民、法人和其他组织的合法权益造成侵害的程度表现为严重损害，即工作职能受到严重影响，业务能力显著下降且严重影响主要功能执行，较大范围的不良影响等</a:t>
            </a:r>
            <a:endParaRPr lang="zh-CN" altLang="en-US" dirty="0"/>
          </a:p>
        </p:txBody>
      </p:sp>
      <p:sp>
        <p:nvSpPr>
          <p:cNvPr id="9" name="文本框 8"/>
          <p:cNvSpPr txBox="1"/>
          <p:nvPr/>
        </p:nvSpPr>
        <p:spPr>
          <a:xfrm>
            <a:off x="1591310" y="2118487"/>
            <a:ext cx="9724390" cy="646331"/>
          </a:xfrm>
          <a:prstGeom prst="rect">
            <a:avLst/>
          </a:prstGeom>
          <a:noFill/>
        </p:spPr>
        <p:txBody>
          <a:bodyPr wrap="square" rtlCol="0">
            <a:spAutoFit/>
          </a:bodyPr>
          <a:lstStyle/>
          <a:p>
            <a:r>
              <a:rPr lang="zh-CN" altLang="en-US" dirty="0"/>
              <a:t>业务信息被破坏侵害的客体：系统信息遭到破坏后，侵害的客体类型属于公民、法人和其他组织的合法权益，以及社会秩序、公共利益</a:t>
            </a:r>
            <a:endParaRPr lang="zh-CN" altLang="en-US" dirty="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业务信息安全等级</a:t>
            </a:r>
            <a:endParaRPr lang="zh-CN" altLang="en-US" sz="2800" spc="400">
              <a:solidFill>
                <a:srgbClr val="2053A8"/>
              </a:solidFill>
              <a:effectLst/>
              <a:uFillTx/>
              <a:latin typeface="微软雅黑" panose="020B0503020204020204" pitchFamily="34" charset="-122"/>
              <a:ea typeface="微软雅黑" panose="020B0503020204020204" pitchFamily="34" charset="-122"/>
              <a:sym typeface="+mn-ea"/>
            </a:endParaRP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4" name="表格 3"/>
          <p:cNvGraphicFramePr>
            <a:graphicFrameLocks noGrp="1"/>
          </p:cNvGraphicFramePr>
          <p:nvPr/>
        </p:nvGraphicFramePr>
        <p:xfrm>
          <a:off x="3090545" y="2983865"/>
          <a:ext cx="5638800" cy="1873885"/>
        </p:xfrm>
        <a:graphic>
          <a:graphicData uri="http://schemas.openxmlformats.org/drawingml/2006/table">
            <a:tbl>
              <a:tblPr firstRow="1" firstCol="1" bandRow="1">
                <a:tableStyleId>{5C22544A-7EE6-4342-B048-85BDC9FD1C3A}</a:tableStyleId>
              </a:tblPr>
              <a:tblGrid>
                <a:gridCol w="2470150"/>
                <a:gridCol w="831850"/>
                <a:gridCol w="1168400"/>
                <a:gridCol w="1168400"/>
              </a:tblGrid>
              <a:tr h="374777">
                <a:tc rowSpan="2">
                  <a:txBody>
                    <a:bodyPr/>
                    <a:lstStyle/>
                    <a:p>
                      <a:pPr algn="ctr" fontAlgn="b">
                        <a:buNone/>
                      </a:pPr>
                      <a:r>
                        <a:rPr lang="zh-CN" sz="1200" kern="0" dirty="0">
                          <a:effectLst/>
                        </a:rPr>
                        <a:t>业务信息安全被破坏时所侵害的客体</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ctr"/>
                </a:tc>
                <a:tc gridSpan="3">
                  <a:txBody>
                    <a:bodyPr/>
                    <a:lstStyle/>
                    <a:p>
                      <a:pPr algn="ctr" fontAlgn="b">
                        <a:buNone/>
                      </a:pPr>
                      <a:r>
                        <a:rPr lang="zh-CN" sz="1200" kern="0" dirty="0">
                          <a:effectLst/>
                        </a:rPr>
                        <a:t>对相应客体的侵害程度</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tc>
                <a:tc hMerge="1">
                  <a:tcPr/>
                </a:tc>
                <a:tc hMerge="1">
                  <a:tcPr/>
                </a:tc>
              </a:tr>
              <a:tr h="374777">
                <a:tc vMerge="1">
                  <a:tcPr/>
                </a:tc>
                <a:tc>
                  <a:txBody>
                    <a:bodyPr/>
                    <a:lstStyle/>
                    <a:p>
                      <a:pPr algn="ctr" fontAlgn="b">
                        <a:buNone/>
                      </a:pPr>
                      <a:r>
                        <a:rPr lang="zh-CN" sz="1200" kern="0" dirty="0">
                          <a:effectLst/>
                        </a:rPr>
                        <a:t>一般损害</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严重损害</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特别严重损害</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r>
              <a:tr h="374777">
                <a:tc>
                  <a:txBody>
                    <a:bodyPr/>
                    <a:lstStyle/>
                    <a:p>
                      <a:pPr algn="ctr" fontAlgn="b">
                        <a:buNone/>
                      </a:pPr>
                      <a:r>
                        <a:rPr lang="zh-CN" sz="1200" kern="0">
                          <a:effectLst/>
                        </a:rPr>
                        <a:t>公民、法人和其他组织的合法权益</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dirty="0">
                          <a:effectLst/>
                        </a:rPr>
                        <a:t>第一级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第二级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solidFill>
                      <a:schemeClr val="bg1">
                        <a:lumMod val="65000"/>
                      </a:schemeClr>
                    </a:solidFill>
                  </a:tcPr>
                </a:tc>
                <a:tc>
                  <a:txBody>
                    <a:bodyPr/>
                    <a:lstStyle/>
                    <a:p>
                      <a:pPr algn="ctr" fontAlgn="b">
                        <a:buNone/>
                      </a:pPr>
                      <a:r>
                        <a:rPr lang="zh-CN" sz="1200" kern="0" dirty="0">
                          <a:effectLst/>
                        </a:rPr>
                        <a:t>第二级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r>
              <a:tr h="374777">
                <a:tc>
                  <a:txBody>
                    <a:bodyPr/>
                    <a:lstStyle/>
                    <a:p>
                      <a:pPr algn="ctr" fontAlgn="b">
                        <a:buNone/>
                      </a:pPr>
                      <a:r>
                        <a:rPr lang="zh-CN" sz="1200" kern="0">
                          <a:effectLst/>
                        </a:rPr>
                        <a:t>社会秩序、公共利益</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a:effectLst/>
                        </a:rPr>
                        <a:t>第二级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第三级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solidFill>
                      <a:schemeClr val="bg1">
                        <a:lumMod val="65000"/>
                      </a:schemeClr>
                    </a:solidFill>
                  </a:tcPr>
                </a:tc>
                <a:tc>
                  <a:txBody>
                    <a:bodyPr/>
                    <a:lstStyle/>
                    <a:p>
                      <a:pPr algn="ctr" fontAlgn="b">
                        <a:buNone/>
                      </a:pPr>
                      <a:r>
                        <a:rPr lang="zh-CN" sz="1200" kern="0" dirty="0">
                          <a:effectLst/>
                        </a:rPr>
                        <a:t>第四级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r>
              <a:tr h="374777">
                <a:tc>
                  <a:txBody>
                    <a:bodyPr/>
                    <a:lstStyle/>
                    <a:p>
                      <a:pPr algn="ctr" fontAlgn="b">
                        <a:buNone/>
                      </a:pPr>
                      <a:r>
                        <a:rPr lang="zh-CN" sz="1200" kern="0">
                          <a:effectLst/>
                        </a:rPr>
                        <a:t>国家安全或地区安全、国计民生</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a:effectLst/>
                        </a:rPr>
                        <a:t>第四级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第五级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第五级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r>
            </a:tbl>
          </a:graphicData>
        </a:graphic>
      </p:graphicFrame>
      <p:sp>
        <p:nvSpPr>
          <p:cNvPr id="10" name="文本框 9"/>
          <p:cNvSpPr txBox="1"/>
          <p:nvPr/>
        </p:nvSpPr>
        <p:spPr>
          <a:xfrm>
            <a:off x="4389755" y="2023771"/>
            <a:ext cx="3619500" cy="369332"/>
          </a:xfrm>
          <a:prstGeom prst="rect">
            <a:avLst/>
          </a:prstGeom>
          <a:noFill/>
        </p:spPr>
        <p:txBody>
          <a:bodyPr wrap="square">
            <a:spAutoFit/>
          </a:bodyPr>
          <a:lstStyle/>
          <a:p>
            <a:r>
              <a:rPr lang="zh-CN" altLang="zh-CN" sz="1800" dirty="0">
                <a:effectLst/>
                <a:latin typeface="Times New Roman" panose="02020603050405020304" pitchFamily="18" charset="0"/>
                <a:ea typeface="仿宋_GB2312" panose="02010609030101010101" pitchFamily="49" charset="-122"/>
                <a:cs typeface="Times New Roman" panose="02020603050405020304" pitchFamily="18" charset="0"/>
              </a:rPr>
              <a:t>业务信息安全保护等级矩阵表</a:t>
            </a:r>
            <a:endParaRPr lang="zh-CN" altLang="en-US" dirty="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系统服务安全等级</a:t>
            </a:r>
            <a:endParaRPr lang="zh-CN" altLang="en-US" sz="2800" spc="400">
              <a:solidFill>
                <a:srgbClr val="2053A8"/>
              </a:solidFill>
              <a:effectLst/>
              <a:uFillTx/>
              <a:latin typeface="微软雅黑" panose="020B0503020204020204" pitchFamily="34" charset="-122"/>
              <a:ea typeface="微软雅黑" panose="020B0503020204020204" pitchFamily="34" charset="-122"/>
              <a:sym typeface="+mn-ea"/>
            </a:endParaRP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591310" y="1184910"/>
            <a:ext cx="9137650" cy="1050911"/>
          </a:xfrm>
          <a:prstGeom prst="rect">
            <a:avLst/>
          </a:prstGeom>
          <a:noFill/>
        </p:spPr>
        <p:txBody>
          <a:bodyPr wrap="square" rtlCol="0">
            <a:noAutofit/>
          </a:bodyPr>
          <a:lstStyle/>
          <a:p>
            <a:r>
              <a:rPr lang="zh-CN" altLang="en-US" dirty="0"/>
              <a:t>系统服务：宁夏高层次人才管理服务系统主要包括数据集管理、服务事项管理、指标管理、代码管理、订阅管理、人员信息等功能。通过政务外网对自治区高技能人才以及专业技术人员提供服务，使用范围约</a:t>
            </a:r>
            <a:r>
              <a:rPr lang="en-US" altLang="zh-CN" dirty="0"/>
              <a:t>25</a:t>
            </a:r>
            <a:r>
              <a:rPr lang="zh-CN" altLang="en-US" dirty="0"/>
              <a:t>万人，系统连续运行时间工作日</a:t>
            </a:r>
            <a:r>
              <a:rPr lang="en-US" altLang="zh-CN" dirty="0"/>
              <a:t>8:00-18:00,</a:t>
            </a:r>
            <a:r>
              <a:rPr lang="zh-CN" altLang="en-US" dirty="0"/>
              <a:t>允许连续故障时间</a:t>
            </a:r>
            <a:r>
              <a:rPr lang="en-US" altLang="zh-CN" dirty="0"/>
              <a:t>2</a:t>
            </a:r>
            <a:r>
              <a:rPr lang="zh-CN" altLang="en-US" dirty="0"/>
              <a:t>小时。</a:t>
            </a:r>
            <a:endParaRPr lang="zh-CN" altLang="en-US" dirty="0"/>
          </a:p>
        </p:txBody>
      </p:sp>
      <p:sp>
        <p:nvSpPr>
          <p:cNvPr id="8" name="文本框 7"/>
          <p:cNvSpPr txBox="1"/>
          <p:nvPr/>
        </p:nvSpPr>
        <p:spPr>
          <a:xfrm>
            <a:off x="1591310" y="2979420"/>
            <a:ext cx="9146540" cy="3692525"/>
          </a:xfrm>
          <a:prstGeom prst="rect">
            <a:avLst/>
          </a:prstGeom>
          <a:noFill/>
        </p:spPr>
        <p:txBody>
          <a:bodyPr wrap="square" rtlCol="0">
            <a:spAutoFit/>
          </a:bodyPr>
          <a:lstStyle/>
          <a:p>
            <a:r>
              <a:rPr lang="zh-CN" altLang="en-US" dirty="0"/>
              <a:t>对应客体的侵害程度：</a:t>
            </a:r>
            <a:r>
              <a:rPr lang="zh-CN" altLang="zh-CN" dirty="0"/>
              <a:t>客观方面表现得侵害结果为：一旦系统被攻击破坏导致系统服务中断，不能及时、有效地提供服务，会对宁夏人力资源与社会保障厅的合法权益造成影响和损害，同时也对社会秩序、公共利益造成侵害。可以表现为：</a:t>
            </a:r>
            <a:endParaRPr lang="zh-CN" altLang="zh-CN" dirty="0"/>
          </a:p>
          <a:p>
            <a:r>
              <a:rPr lang="en-US" altLang="zh-CN" dirty="0"/>
              <a:t>1</a:t>
            </a:r>
            <a:r>
              <a:rPr lang="zh-CN" altLang="zh-CN" dirty="0"/>
              <a:t>）社会秩序、公共利益遭受侵害可发生的后果：若</a:t>
            </a:r>
            <a:r>
              <a:rPr lang="zh-CN" altLang="en-US" dirty="0">
                <a:sym typeface="+mn-ea"/>
              </a:rPr>
              <a:t>宁夏高层次人才管理服务系统</a:t>
            </a:r>
            <a:r>
              <a:rPr lang="zh-CN" altLang="zh-CN" dirty="0"/>
              <a:t>中断超过</a:t>
            </a:r>
            <a:r>
              <a:rPr lang="en-US" altLang="zh-CN" dirty="0"/>
              <a:t>4</a:t>
            </a:r>
            <a:r>
              <a:rPr lang="zh-CN" altLang="zh-CN" dirty="0"/>
              <a:t>小时，导致大量用户无法办理业务，影响社会公共服务连续性；</a:t>
            </a:r>
            <a:endParaRPr lang="zh-CN" altLang="zh-CN" dirty="0"/>
          </a:p>
          <a:p>
            <a:r>
              <a:rPr lang="en-US" altLang="zh-CN" dirty="0"/>
              <a:t>2</a:t>
            </a:r>
            <a:r>
              <a:rPr lang="zh-CN" altLang="zh-CN" dirty="0"/>
              <a:t>）公民、法人和其他组织遭受侵害可发生的后果：若</a:t>
            </a:r>
            <a:r>
              <a:rPr lang="zh-CN" altLang="en-US" dirty="0">
                <a:sym typeface="+mn-ea"/>
              </a:rPr>
              <a:t>宁夏高层次人才管理服务系统</a:t>
            </a:r>
            <a:r>
              <a:rPr lang="zh-CN" altLang="zh-CN" dirty="0"/>
              <a:t>服务中断，导致大量群众无法进行身份认证，影响</a:t>
            </a:r>
            <a:r>
              <a:rPr lang="zh-CN" altLang="en-US" dirty="0"/>
              <a:t>用户职称评审、人才申报</a:t>
            </a:r>
            <a:r>
              <a:rPr lang="zh-CN" altLang="zh-CN" dirty="0"/>
              <a:t>等，同时影响其正常工作的开展，导致其业务能力下降，造成单位不良影响</a:t>
            </a:r>
            <a:r>
              <a:rPr lang="zh-CN" altLang="en-US" dirty="0"/>
              <a:t>。</a:t>
            </a:r>
            <a:endParaRPr lang="en-US" altLang="zh-CN" dirty="0"/>
          </a:p>
          <a:p>
            <a:endParaRPr lang="en-US" altLang="zh-CN" dirty="0"/>
          </a:p>
          <a:p>
            <a:r>
              <a:rPr lang="zh-CN" altLang="en-US" dirty="0"/>
              <a:t>系统服务受到破坏后，对社会秩序、公共利益造成的侵害程度表现为严重损害，即会出现较大范围的社会不良影响和较严重程度的公共利益的损害等；对公民、法人和其他组织的合法权益造成侵害的程度表现为严重损害，即工作职能受到严重影响，业务能力显著下降且严重影响主要功能执行，较大范围的不良影响等。</a:t>
            </a:r>
            <a:endParaRPr lang="zh-CN" altLang="en-US" dirty="0"/>
          </a:p>
        </p:txBody>
      </p:sp>
      <p:sp>
        <p:nvSpPr>
          <p:cNvPr id="9" name="文本框 8"/>
          <p:cNvSpPr txBox="1"/>
          <p:nvPr/>
        </p:nvSpPr>
        <p:spPr>
          <a:xfrm>
            <a:off x="1582420" y="2235821"/>
            <a:ext cx="9137650" cy="646331"/>
          </a:xfrm>
          <a:prstGeom prst="rect">
            <a:avLst/>
          </a:prstGeom>
          <a:noFill/>
        </p:spPr>
        <p:txBody>
          <a:bodyPr wrap="square" rtlCol="0">
            <a:spAutoFit/>
          </a:bodyPr>
          <a:lstStyle/>
          <a:p>
            <a:r>
              <a:rPr lang="zh-CN" altLang="en-US" dirty="0"/>
              <a:t>系统服务被破坏侵害的客体：系统服务受到破坏后，侵害的客体类型属于公民、法人和其他组织的合法权益，以及社会秩序、公共利益。</a:t>
            </a:r>
            <a:endParaRPr lang="zh-CN" altLang="en-US" dirty="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系统服务安全等级</a:t>
            </a:r>
            <a:endParaRPr lang="zh-CN" altLang="en-US" sz="2800" spc="400">
              <a:solidFill>
                <a:srgbClr val="2053A8"/>
              </a:solidFill>
              <a:effectLst/>
              <a:uFillTx/>
              <a:latin typeface="微软雅黑" panose="020B0503020204020204" pitchFamily="34" charset="-122"/>
              <a:ea typeface="微软雅黑" panose="020B0503020204020204" pitchFamily="34" charset="-122"/>
              <a:sym typeface="+mn-ea"/>
            </a:endParaRP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4450094" y="1926074"/>
            <a:ext cx="3268980" cy="369332"/>
          </a:xfrm>
          <a:prstGeom prst="rect">
            <a:avLst/>
          </a:prstGeom>
          <a:noFill/>
        </p:spPr>
        <p:txBody>
          <a:bodyPr wrap="square">
            <a:spAutoFit/>
          </a:bodyPr>
          <a:lstStyle/>
          <a:p>
            <a:r>
              <a:rPr lang="zh-CN" altLang="zh-CN" sz="1800" dirty="0">
                <a:effectLst/>
                <a:latin typeface="Times New Roman" panose="02020603050405020304" pitchFamily="18" charset="0"/>
                <a:ea typeface="仿宋_GB2312" panose="02010609030101010101" pitchFamily="49" charset="-122"/>
                <a:cs typeface="Times New Roman" panose="02020603050405020304" pitchFamily="18" charset="0"/>
              </a:rPr>
              <a:t>系统服务安全保护等级矩阵表</a:t>
            </a:r>
            <a:endParaRPr lang="zh-CN" altLang="en-US" dirty="0"/>
          </a:p>
        </p:txBody>
      </p:sp>
      <p:graphicFrame>
        <p:nvGraphicFramePr>
          <p:cNvPr id="7" name="表格 6"/>
          <p:cNvGraphicFramePr>
            <a:graphicFrameLocks noGrp="1"/>
          </p:cNvGraphicFramePr>
          <p:nvPr/>
        </p:nvGraphicFramePr>
        <p:xfrm>
          <a:off x="3314700" y="3162300"/>
          <a:ext cx="5562600" cy="1986280"/>
        </p:xfrm>
        <a:graphic>
          <a:graphicData uri="http://schemas.openxmlformats.org/drawingml/2006/table">
            <a:tbl>
              <a:tblPr firstRow="1" firstCol="1" bandRow="1">
                <a:tableStyleId>{5C22544A-7EE6-4342-B048-85BDC9FD1C3A}</a:tableStyleId>
              </a:tblPr>
              <a:tblGrid>
                <a:gridCol w="2679700"/>
                <a:gridCol w="723900"/>
                <a:gridCol w="1079500"/>
                <a:gridCol w="1079500"/>
              </a:tblGrid>
              <a:tr h="397256">
                <a:tc rowSpan="2">
                  <a:txBody>
                    <a:bodyPr/>
                    <a:lstStyle/>
                    <a:p>
                      <a:pPr algn="just" fontAlgn="b">
                        <a:buNone/>
                      </a:pPr>
                      <a:r>
                        <a:rPr lang="zh-CN" sz="1200" kern="0">
                          <a:effectLst/>
                        </a:rPr>
                        <a:t>系统服务安全被破坏时所侵害的客体</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gridSpan="3">
                  <a:txBody>
                    <a:bodyPr/>
                    <a:lstStyle/>
                    <a:p>
                      <a:pPr algn="ctr" fontAlgn="b">
                        <a:buNone/>
                      </a:pPr>
                      <a:r>
                        <a:rPr lang="zh-CN" sz="1200" kern="0">
                          <a:effectLst/>
                        </a:rPr>
                        <a:t>对相应客体的侵害程度</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tc>
                <a:tc hMerge="1">
                  <a:tcPr/>
                </a:tc>
                <a:tc hMerge="1">
                  <a:tcPr/>
                </a:tc>
              </a:tr>
              <a:tr h="397256">
                <a:tc vMerge="1">
                  <a:tcPr/>
                </a:tc>
                <a:tc>
                  <a:txBody>
                    <a:bodyPr/>
                    <a:lstStyle/>
                    <a:p>
                      <a:pPr algn="l" fontAlgn="b">
                        <a:buNone/>
                      </a:pPr>
                      <a:r>
                        <a:rPr lang="zh-CN" sz="1200" kern="0" dirty="0">
                          <a:effectLst/>
                        </a:rPr>
                        <a:t>一般损害</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l" fontAlgn="b">
                        <a:buNone/>
                      </a:pPr>
                      <a:r>
                        <a:rPr lang="zh-CN" sz="1200" kern="0">
                          <a:effectLst/>
                        </a:rPr>
                        <a:t>严重损害</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l" fontAlgn="b">
                        <a:buNone/>
                      </a:pPr>
                      <a:r>
                        <a:rPr lang="zh-CN" sz="1200" kern="0">
                          <a:effectLst/>
                        </a:rPr>
                        <a:t>特别严重损害</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r>
              <a:tr h="397256">
                <a:tc>
                  <a:txBody>
                    <a:bodyPr/>
                    <a:lstStyle/>
                    <a:p>
                      <a:pPr algn="just" fontAlgn="b">
                        <a:buNone/>
                      </a:pPr>
                      <a:r>
                        <a:rPr lang="zh-CN" sz="1200" kern="0">
                          <a:effectLst/>
                        </a:rPr>
                        <a:t>公民、法人和其他组织的合法权益</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a:effectLst/>
                        </a:rPr>
                        <a:t>第一级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第二级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solidFill>
                      <a:schemeClr val="bg1">
                        <a:lumMod val="65000"/>
                      </a:schemeClr>
                    </a:solidFill>
                  </a:tcPr>
                </a:tc>
                <a:tc>
                  <a:txBody>
                    <a:bodyPr/>
                    <a:lstStyle/>
                    <a:p>
                      <a:pPr algn="ctr" fontAlgn="b">
                        <a:buNone/>
                      </a:pPr>
                      <a:r>
                        <a:rPr lang="zh-CN" sz="1200" kern="0">
                          <a:effectLst/>
                        </a:rPr>
                        <a:t>第二级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r>
              <a:tr h="397256">
                <a:tc>
                  <a:txBody>
                    <a:bodyPr/>
                    <a:lstStyle/>
                    <a:p>
                      <a:pPr algn="just" fontAlgn="b">
                        <a:buNone/>
                      </a:pPr>
                      <a:r>
                        <a:rPr lang="zh-CN" sz="1200" kern="0">
                          <a:effectLst/>
                        </a:rPr>
                        <a:t>社会秩序、公共利益</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a:effectLst/>
                        </a:rPr>
                        <a:t>第二级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第三级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solidFill>
                      <a:schemeClr val="bg1">
                        <a:lumMod val="65000"/>
                      </a:schemeClr>
                    </a:solidFill>
                  </a:tcPr>
                </a:tc>
                <a:tc>
                  <a:txBody>
                    <a:bodyPr/>
                    <a:lstStyle/>
                    <a:p>
                      <a:pPr algn="ctr" fontAlgn="b">
                        <a:buNone/>
                      </a:pPr>
                      <a:r>
                        <a:rPr lang="zh-CN" sz="1200" kern="0" dirty="0">
                          <a:effectLst/>
                        </a:rPr>
                        <a:t>第四级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r>
              <a:tr h="397256">
                <a:tc>
                  <a:txBody>
                    <a:bodyPr/>
                    <a:lstStyle/>
                    <a:p>
                      <a:pPr algn="just" fontAlgn="b">
                        <a:buNone/>
                      </a:pPr>
                      <a:r>
                        <a:rPr lang="zh-CN" sz="1200" kern="0">
                          <a:effectLst/>
                        </a:rPr>
                        <a:t>国家安全或地区安全、国计民生</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a:effectLst/>
                        </a:rPr>
                        <a:t>第四级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a:effectLst/>
                        </a:rPr>
                        <a:t>第五级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第五级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r>
            </a:tbl>
          </a:graphicData>
        </a:graphic>
      </p:graphicFrame>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安全等级确定</a:t>
            </a:r>
            <a:endParaRPr lang="zh-CN" altLang="en-US" sz="2800" spc="400">
              <a:solidFill>
                <a:srgbClr val="2053A8"/>
              </a:solidFill>
              <a:effectLst/>
              <a:uFillTx/>
              <a:latin typeface="微软雅黑" panose="020B0503020204020204" pitchFamily="34" charset="-122"/>
              <a:ea typeface="微软雅黑" panose="020B0503020204020204" pitchFamily="34" charset="-122"/>
              <a:sym typeface="+mn-ea"/>
            </a:endParaRP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423160" y="1845945"/>
            <a:ext cx="7007225" cy="1268095"/>
          </a:xfrm>
          <a:prstGeom prst="rect">
            <a:avLst/>
          </a:prstGeom>
          <a:noFill/>
        </p:spPr>
        <p:txBody>
          <a:bodyPr wrap="square" rtlCol="0">
            <a:noAutofit/>
          </a:bodyPr>
          <a:lstStyle/>
          <a:p>
            <a:pPr indent="406400"/>
            <a:r>
              <a:rPr lang="zh-CN" sz="2400" dirty="0">
                <a:cs typeface="仿宋_GB2312" charset="0"/>
                <a:sym typeface="+mn-ea"/>
              </a:rPr>
              <a:t>系统的安全保护等级由业务信息安全等级和系统服务安全等级较高者决定，最终确定</a:t>
            </a:r>
            <a:r>
              <a:rPr lang="zh-CN" altLang="en-US" sz="2400" dirty="0">
                <a:sym typeface="+mn-ea"/>
              </a:rPr>
              <a:t>宁夏高层次人才管理服务系统</a:t>
            </a:r>
            <a:r>
              <a:rPr lang="zh-CN" sz="2400" dirty="0">
                <a:cs typeface="仿宋_GB2312" charset="0"/>
                <a:sym typeface="+mn-ea"/>
              </a:rPr>
              <a:t>安全保护等级为第三级。</a:t>
            </a:r>
            <a:endParaRPr lang="zh-CN" altLang="en-US" sz="2400" dirty="0"/>
          </a:p>
        </p:txBody>
      </p:sp>
      <p:graphicFrame>
        <p:nvGraphicFramePr>
          <p:cNvPr id="13" name="表格 12"/>
          <p:cNvGraphicFramePr/>
          <p:nvPr>
            <p:custDataLst>
              <p:tags r:id="rId1"/>
            </p:custDataLst>
          </p:nvPr>
        </p:nvGraphicFramePr>
        <p:xfrm>
          <a:off x="2721927" y="3346450"/>
          <a:ext cx="6410325" cy="2454275"/>
        </p:xfrm>
        <a:graphic>
          <a:graphicData uri="http://schemas.openxmlformats.org/drawingml/2006/table">
            <a:tbl>
              <a:tblPr firstRow="1" bandRow="1">
                <a:tableStyleId>{5940675A-B579-460E-94D1-54222C63F5DA}</a:tableStyleId>
              </a:tblPr>
              <a:tblGrid>
                <a:gridCol w="1552575"/>
                <a:gridCol w="1268095"/>
                <a:gridCol w="1794510"/>
                <a:gridCol w="1795145"/>
              </a:tblGrid>
              <a:tr h="84074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信息系统名称</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3F3F3"/>
                    </a:solid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安全保护等级</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3F3F3"/>
                    </a:solid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业务信息安全等级</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3F3F3"/>
                    </a:solid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系统服务安全等级</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3F3F3"/>
                    </a:solidFill>
                  </a:tcPr>
                </a:tc>
              </a:tr>
              <a:tr h="1613535">
                <a:tc>
                  <a:txBody>
                    <a:bodyPr/>
                    <a:lstStyle/>
                    <a:p>
                      <a:pPr indent="0" algn="ctr">
                        <a:buNone/>
                      </a:pPr>
                      <a:r>
                        <a:rPr lang="zh-CN" altLang="en-US" sz="2000" dirty="0">
                          <a:sym typeface="+mn-ea"/>
                        </a:rPr>
                        <a:t>宁夏高层次人才管理服务系统</a:t>
                      </a:r>
                      <a:endParaRPr lang="en-US" altLang="en-US" sz="2000" b="0" dirty="0">
                        <a:latin typeface="仿宋_GB2312" charset="0"/>
                        <a:ea typeface="仿宋_GB2312" charset="0"/>
                        <a:cs typeface="仿宋_GB2312"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err="1">
                          <a:latin typeface="宋体" panose="02010600030101010101" pitchFamily="2" charset="-122"/>
                          <a:ea typeface="宋体" panose="02010600030101010101" pitchFamily="2" charset="-122"/>
                          <a:cs typeface="宋体" panose="02010600030101010101" pitchFamily="2" charset="-122"/>
                        </a:rPr>
                        <a:t>第三级</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第三级</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err="1">
                          <a:latin typeface="宋体" panose="02010600030101010101" pitchFamily="2" charset="-122"/>
                          <a:ea typeface="宋体" panose="02010600030101010101" pitchFamily="2" charset="-122"/>
                          <a:cs typeface="宋体" panose="02010600030101010101" pitchFamily="2" charset="-122"/>
                        </a:rPr>
                        <a:t>第三级</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rot="19800000">
            <a:off x="-7554595" y="-3768725"/>
            <a:ext cx="15746095" cy="5777865"/>
          </a:xfrm>
          <a:prstGeom prst="roundRect">
            <a:avLst>
              <a:gd name="adj" fmla="val 50000"/>
            </a:avLst>
          </a:prstGeom>
          <a:solidFill>
            <a:schemeClr val="bg1">
              <a:lumMod val="9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rot="19800000">
            <a:off x="-4252595" y="-82169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rot="19800000">
            <a:off x="2938145" y="4948555"/>
            <a:ext cx="12651740" cy="3895090"/>
          </a:xfrm>
          <a:prstGeom prst="roundRect">
            <a:avLst>
              <a:gd name="adj" fmla="val 50000"/>
            </a:avLst>
          </a:prstGeom>
          <a:solidFill>
            <a:schemeClr val="bg1">
              <a:lumMod val="9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rot="19800000">
            <a:off x="3461385" y="570103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80035" y="262890"/>
            <a:ext cx="11639550" cy="6362700"/>
          </a:xfrm>
          <a:prstGeom prst="rect">
            <a:avLst/>
          </a:prstGeom>
          <a:noFill/>
          <a:ln>
            <a:solidFill>
              <a:srgbClr val="205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rot="19800000">
            <a:off x="-2416028" y="6990065"/>
            <a:ext cx="4681220"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rot="19800000">
            <a:off x="10505587" y="-661050"/>
            <a:ext cx="4681220"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rot="19800000">
            <a:off x="10218885" y="-427376"/>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副标题 61"/>
          <p:cNvSpPr>
            <a:spLocks noGrp="1"/>
          </p:cNvSpPr>
          <p:nvPr>
            <p:ph type="subTitle" idx="1"/>
            <p:custDataLst>
              <p:tags r:id="rId1"/>
            </p:custDataLst>
          </p:nvPr>
        </p:nvSpPr>
        <p:spPr>
          <a:xfrm>
            <a:off x="69850" y="4591685"/>
            <a:ext cx="12192000" cy="1034415"/>
          </a:xfrm>
        </p:spPr>
        <p:txBody>
          <a:bodyPr>
            <a:noAutofit/>
          </a:bodyPr>
          <a:lstStyle/>
          <a:p>
            <a:pPr marL="0" indent="0" algn="ctr">
              <a:lnSpc>
                <a:spcPct val="100000"/>
              </a:lnSpc>
              <a:buNone/>
            </a:pPr>
            <a:r>
              <a:rPr lang="zh-CN" altLang="en-US" sz="4000" b="1">
                <a:solidFill>
                  <a:schemeClr val="tx1">
                    <a:lumMod val="75000"/>
                    <a:lumOff val="25000"/>
                  </a:schemeClr>
                </a:solidFill>
                <a:latin typeface="+mj-ea"/>
                <a:ea typeface="+mj-ea"/>
                <a:cs typeface="汉仪雅酷黑 95W" panose="020B0A04020202020204" charset="-122"/>
              </a:rPr>
              <a:t>不忘初心 砥砺前行</a:t>
            </a:r>
            <a:endParaRPr lang="zh-CN" altLang="en-US" sz="4000" b="1">
              <a:solidFill>
                <a:schemeClr val="tx1">
                  <a:lumMod val="75000"/>
                  <a:lumOff val="25000"/>
                </a:schemeClr>
              </a:solidFill>
              <a:latin typeface="+mj-ea"/>
              <a:ea typeface="+mj-ea"/>
              <a:cs typeface="汉仪雅酷黑 95W" panose="020B0A04020202020204" charset="-122"/>
            </a:endParaRPr>
          </a:p>
        </p:txBody>
      </p:sp>
      <p:sp>
        <p:nvSpPr>
          <p:cNvPr id="9" name="文本框 8"/>
          <p:cNvSpPr txBox="1"/>
          <p:nvPr/>
        </p:nvSpPr>
        <p:spPr>
          <a:xfrm>
            <a:off x="3325178" y="5316220"/>
            <a:ext cx="5681345" cy="368300"/>
          </a:xfrm>
          <a:prstGeom prst="rect">
            <a:avLst/>
          </a:prstGeom>
          <a:noFill/>
        </p:spPr>
        <p:txBody>
          <a:bodyPr wrap="none" rtlCol="0">
            <a:spAutoFit/>
          </a:bodyPr>
          <a:lstStyle/>
          <a:p>
            <a:pPr algn="ctr"/>
            <a:r>
              <a:rPr lang="zh-CN" altLang="en-US" spc="500">
                <a:solidFill>
                  <a:schemeClr val="tx1">
                    <a:lumMod val="50000"/>
                    <a:lumOff val="50000"/>
                  </a:schemeClr>
                </a:solidFill>
                <a:uFillTx/>
              </a:rPr>
              <a:t>SIMPLE WORK SUMMARY REPORT</a:t>
            </a:r>
            <a:endParaRPr lang="zh-CN" altLang="en-US" spc="500">
              <a:solidFill>
                <a:schemeClr val="tx1">
                  <a:lumMod val="50000"/>
                  <a:lumOff val="50000"/>
                </a:schemeClr>
              </a:solidFill>
              <a:uFillTx/>
            </a:endParaRPr>
          </a:p>
        </p:txBody>
      </p:sp>
      <p:sp>
        <p:nvSpPr>
          <p:cNvPr id="2" name="圆角矩形 1"/>
          <p:cNvSpPr/>
          <p:nvPr/>
        </p:nvSpPr>
        <p:spPr>
          <a:xfrm rot="19800000">
            <a:off x="11057720" y="4369678"/>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rot="19800000">
            <a:off x="-2982448" y="6482065"/>
            <a:ext cx="4681220" cy="360000"/>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rot="19800000">
            <a:off x="-3454570" y="6819508"/>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rot="19800000">
            <a:off x="11139317" y="-189880"/>
            <a:ext cx="4681220" cy="360000"/>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rot="19800000">
            <a:off x="13986340" y="2404988"/>
            <a:ext cx="5898515"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rot="19800000">
            <a:off x="-4030820" y="3520580"/>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nvSpPr>
        <p:spPr>
          <a:xfrm rot="19800000">
            <a:off x="10530365" y="2076590"/>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048000" y="1005205"/>
            <a:ext cx="6096000" cy="922020"/>
          </a:xfrm>
          <a:prstGeom prst="rect">
            <a:avLst/>
          </a:prstGeom>
          <a:noFill/>
        </p:spPr>
        <p:txBody>
          <a:bodyPr wrap="square" rtlCol="0" anchor="t">
            <a:spAutoFit/>
          </a:bodyPr>
          <a:lstStyle/>
          <a:p>
            <a:r>
              <a:rPr lang="zh-CN" altLang="en-US" sz="5400" b="1" spc="400" dirty="0">
                <a:solidFill>
                  <a:schemeClr val="bg1"/>
                </a:solidFill>
                <a:latin typeface="微软雅黑" panose="020B0503020204020204" pitchFamily="34" charset="-122"/>
                <a:ea typeface="微软雅黑" panose="020B0503020204020204" pitchFamily="34" charset="-122"/>
                <a:sym typeface="+mn-ea"/>
              </a:rPr>
              <a:t>谢 谢</a:t>
            </a:r>
            <a:endParaRPr lang="zh-CN" altLang="en-US" sz="5400" b="1" spc="400" dirty="0">
              <a:solidFill>
                <a:schemeClr val="bg1"/>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3021965" y="1845945"/>
            <a:ext cx="5960745" cy="1715135"/>
          </a:xfrm>
          <a:prstGeom prst="rect">
            <a:avLst/>
          </a:prstGeom>
          <a:noFill/>
        </p:spPr>
        <p:txBody>
          <a:bodyPr wrap="square" rtlCol="0" anchor="t">
            <a:noAutofit/>
          </a:bodyPr>
          <a:lstStyle/>
          <a:p>
            <a:pPr algn="ctr"/>
            <a:r>
              <a:rPr lang="zh-CN" altLang="en-US" sz="6000" b="1">
                <a:solidFill>
                  <a:schemeClr val="tx1">
                    <a:lumMod val="75000"/>
                    <a:lumOff val="25000"/>
                  </a:schemeClr>
                </a:solidFill>
                <a:latin typeface="+mj-ea"/>
                <a:ea typeface="+mj-ea"/>
                <a:cs typeface="汉仪雅酷黑 95W" panose="020B0A04020202020204" charset="-122"/>
                <a:sym typeface="+mn-ea"/>
              </a:rPr>
              <a:t>谢</a:t>
            </a:r>
            <a:r>
              <a:rPr lang="en-US" altLang="zh-CN" sz="6000" b="1">
                <a:solidFill>
                  <a:schemeClr val="tx1">
                    <a:lumMod val="75000"/>
                    <a:lumOff val="25000"/>
                  </a:schemeClr>
                </a:solidFill>
                <a:latin typeface="+mj-ea"/>
                <a:ea typeface="+mj-ea"/>
                <a:cs typeface="汉仪雅酷黑 95W" panose="020B0A04020202020204" charset="-122"/>
                <a:sym typeface="+mn-ea"/>
              </a:rPr>
              <a:t>    </a:t>
            </a:r>
            <a:r>
              <a:rPr lang="zh-CN" altLang="en-US" sz="6000" b="1">
                <a:solidFill>
                  <a:schemeClr val="tx1">
                    <a:lumMod val="75000"/>
                    <a:lumOff val="25000"/>
                  </a:schemeClr>
                </a:solidFill>
                <a:latin typeface="+mj-ea"/>
                <a:ea typeface="+mj-ea"/>
                <a:cs typeface="汉仪雅酷黑 95W" panose="020B0A04020202020204" charset="-122"/>
                <a:sym typeface="+mn-ea"/>
              </a:rPr>
              <a:t>谢</a:t>
            </a:r>
            <a:endParaRPr lang="zh-CN" altLang="en-US" sz="6000" b="1">
              <a:solidFill>
                <a:schemeClr val="tx1">
                  <a:lumMod val="75000"/>
                  <a:lumOff val="25000"/>
                </a:schemeClr>
              </a:solidFill>
              <a:latin typeface="+mj-ea"/>
              <a:ea typeface="+mj-ea"/>
              <a:cs typeface="汉仪雅酷黑 95W" panose="020B0A04020202020204" charset="-122"/>
              <a:sym typeface="+mn-ea"/>
            </a:endParaRPr>
          </a:p>
          <a:p>
            <a:pPr algn="ctr"/>
            <a:r>
              <a:rPr lang="zh-CN" altLang="en-US" sz="6000" b="1">
                <a:solidFill>
                  <a:schemeClr val="tx1">
                    <a:lumMod val="75000"/>
                    <a:lumOff val="25000"/>
                  </a:schemeClr>
                </a:solidFill>
                <a:latin typeface="+mj-ea"/>
                <a:ea typeface="+mj-ea"/>
                <a:cs typeface="汉仪雅酷黑 95W" panose="020B0A04020202020204" charset="-122"/>
                <a:sym typeface="+mn-ea"/>
              </a:rPr>
              <a:t>THANK  YOU</a:t>
            </a:r>
            <a:endParaRPr lang="zh-CN" altLang="en-US" sz="6000" b="1">
              <a:solidFill>
                <a:schemeClr val="tx1">
                  <a:lumMod val="75000"/>
                  <a:lumOff val="25000"/>
                </a:schemeClr>
              </a:solidFill>
              <a:latin typeface="+mj-ea"/>
              <a:ea typeface="+mj-ea"/>
              <a:cs typeface="汉仪雅酷黑 95W" panose="020B0A04020202020204" charset="-122"/>
              <a:sym typeface="+mn-ea"/>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UNIT_ISCONTENTSTITLE" val="1"/>
  <p:tag name="KSO_WM_UNIT_PRESET_TEXT" val="目录"/>
  <p:tag name="KSO_WM_UNIT_NOCLEAR" val="1"/>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5081_3*a*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66.xml><?xml version="1.0" encoding="utf-8"?>
<p:tagLst xmlns:p="http://schemas.openxmlformats.org/presentationml/2006/main">
  <p:tag name="KSO_WM_UNIT_ISCONTENTSTITLE" val="0"/>
  <p:tag name="KSO_WM_UNIT_PRESET_TEXT" val="CONTENTS"/>
  <p:tag name="KSO_WM_UNIT_NOCLEAR" val="1"/>
  <p:tag name="KSO_WM_UNIT_VALUE" val="7"/>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5081_3*b*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5081_3*i*1"/>
  <p:tag name="KSO_WM_TEMPLATE_CATEGORY" val="custom"/>
  <p:tag name="KSO_WM_TEMPLATE_INDEX" val="20205081"/>
  <p:tag name="KSO_WM_UNIT_LAYERLEVEL" val="1"/>
  <p:tag name="KSO_WM_TAG_VERSION" val="1.0"/>
  <p:tag name="KSO_WM_BEAUTIFY_FLAG" val="#wm#"/>
  <p:tag name="KSO_WM_UNIT_FILL_FORE_SCHEMECOLOR_INDEX" val="13"/>
  <p:tag name="KSO_WM_UNIT_FILL_TYPE" val="1"/>
  <p:tag name="KSO_WM_UNIT_TEXT_FILL_FORE_SCHEMECOLOR_INDEX" val="2"/>
  <p:tag name="KSO_WM_UNIT_TEXT_FILL_TYPE" val="1"/>
  <p:tag name="KSO_WM_UNIT_USESOURCEFORMAT_APPLY"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5081_3*l_h_i*1_1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69.xml><?xml version="1.0" encoding="utf-8"?>
<p:tagLst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3*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5081_3*l_h_i*1_2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71.xml><?xml version="1.0" encoding="utf-8"?>
<p:tagLst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5081_3*l_h_f*1_2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5081_3*l_h_i*1_3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73.xml><?xml version="1.0" encoding="utf-8"?>
<p:tagLst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5081_3*l_h_f*1_3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5081_3*i*2"/>
  <p:tag name="KSO_WM_TEMPLATE_CATEGORY" val="custom"/>
  <p:tag name="KSO_WM_TEMPLATE_INDEX" val="20205081"/>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75.xml><?xml version="1.0" encoding="utf-8"?>
<p:tagLst xmlns:p="http://schemas.openxmlformats.org/presentationml/2006/main">
  <p:tag name="KSO_WM_SLIDE_ID" val="custom20205081_3"/>
  <p:tag name="KSO_WM_TEMPLATE_SUBCATEGORY" val="19"/>
  <p:tag name="KSO_WM_TEMPLATE_MASTER_TYPE" val="0"/>
  <p:tag name="KSO_WM_TEMPLATE_COLOR_TYPE" val="1"/>
  <p:tag name="KSO_WM_SLIDE_TYPE" val="contents"/>
  <p:tag name="KSO_WM_SLIDE_SUBTYPE" val="diag"/>
  <p:tag name="KSO_WM_SLIDE_ITEM_CNT" val="3"/>
  <p:tag name="KSO_WM_SLIDE_INDEX" val="3"/>
  <p:tag name="KSO_WM_DIAGRAM_GROUP_CODE" val="l1-1"/>
  <p:tag name="KSO_WM_SLIDE_DIAGTYPE" val="l"/>
  <p:tag name="KSO_WM_TAG_VERSION" val="1.0"/>
  <p:tag name="KSO_WM_BEAUTIFY_FLAG" val="#wm#"/>
  <p:tag name="KSO_WM_TEMPLATE_CATEGORY" val="custom"/>
  <p:tag name="KSO_WM_TEMPLATE_INDEX" val="20205081"/>
  <p:tag name="KSO_WM_SLIDE_LAYOUT" val="a_b_l"/>
  <p:tag name="KSO_WM_SLIDE_LAYOUT_CNT" val="1_1_1"/>
  <p:tag name="KSO_WM_UNIT_SHOW_EDIT_AREA_INDICATION" val="1"/>
</p:tagLst>
</file>

<file path=ppt/tags/tag76.xml><?xml version="1.0" encoding="utf-8"?>
<p:tagLst xmlns:p="http://schemas.openxmlformats.org/presentationml/2006/main">
  <p:tag name="KSO_WM_UNIT_PLACING_PICTURE_USER_VIEWPORT" val="{&quot;height&quot;:4003,&quot;width&quot;:6149}"/>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ISCONTENTSTITLE" val="1"/>
  <p:tag name="KSO_WM_UNIT_PRESET_TEXT" val="目录"/>
  <p:tag name="KSO_WM_UNIT_NOCLEAR" val="1"/>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5081_3*a*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82.xml><?xml version="1.0" encoding="utf-8"?>
<p:tagLst xmlns:p="http://schemas.openxmlformats.org/presentationml/2006/main">
  <p:tag name="KSO_WM_UNIT_ISCONTENTSTITLE" val="0"/>
  <p:tag name="KSO_WM_UNIT_PRESET_TEXT" val="CONTENTS"/>
  <p:tag name="KSO_WM_UNIT_NOCLEAR" val="1"/>
  <p:tag name="KSO_WM_UNIT_VALUE" val="7"/>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5081_3*b*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5081_3*i*1"/>
  <p:tag name="KSO_WM_TEMPLATE_CATEGORY" val="custom"/>
  <p:tag name="KSO_WM_TEMPLATE_INDEX" val="20205081"/>
  <p:tag name="KSO_WM_UNIT_LAYERLEVEL" val="1"/>
  <p:tag name="KSO_WM_TAG_VERSION" val="1.0"/>
  <p:tag name="KSO_WM_BEAUTIFY_FLAG" val="#wm#"/>
  <p:tag name="KSO_WM_UNIT_FILL_FORE_SCHEMECOLOR_INDEX" val="13"/>
  <p:tag name="KSO_WM_UNIT_FILL_TYPE" val="1"/>
  <p:tag name="KSO_WM_UNIT_TEXT_FILL_FORE_SCHEMECOLOR_INDEX" val="2"/>
  <p:tag name="KSO_WM_UNIT_TEXT_FILL_TYPE" val="1"/>
  <p:tag name="KSO_WM_UNIT_USESOURCEFORMAT_APPLY"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5081_3*l_h_i*1_1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85.xml><?xml version="1.0" encoding="utf-8"?>
<p:tagLst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3*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5081_3*l_h_i*1_2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87.xml><?xml version="1.0" encoding="utf-8"?>
<p:tagLst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5081_3*l_h_f*1_2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5081_3*l_h_i*1_3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89.xml><?xml version="1.0" encoding="utf-8"?>
<p:tagLst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5081_3*l_h_f*1_3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5081_3*i*2"/>
  <p:tag name="KSO_WM_TEMPLATE_CATEGORY" val="custom"/>
  <p:tag name="KSO_WM_TEMPLATE_INDEX" val="20205081"/>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91.xml><?xml version="1.0" encoding="utf-8"?>
<p:tagLst xmlns:p="http://schemas.openxmlformats.org/presentationml/2006/main">
  <p:tag name="KSO_WM_SLIDE_ID" val="custom20205081_3"/>
  <p:tag name="KSO_WM_TEMPLATE_SUBCATEGORY" val="19"/>
  <p:tag name="KSO_WM_TEMPLATE_MASTER_TYPE" val="0"/>
  <p:tag name="KSO_WM_TEMPLATE_COLOR_TYPE" val="1"/>
  <p:tag name="KSO_WM_SLIDE_TYPE" val="contents"/>
  <p:tag name="KSO_WM_SLIDE_SUBTYPE" val="diag"/>
  <p:tag name="KSO_WM_SLIDE_ITEM_CNT" val="3"/>
  <p:tag name="KSO_WM_SLIDE_INDEX" val="3"/>
  <p:tag name="KSO_WM_DIAGRAM_GROUP_CODE" val="l1-1"/>
  <p:tag name="KSO_WM_SLIDE_DIAGTYPE" val="l"/>
  <p:tag name="KSO_WM_TAG_VERSION" val="1.0"/>
  <p:tag name="KSO_WM_BEAUTIFY_FLAG" val="#wm#"/>
  <p:tag name="KSO_WM_TEMPLATE_CATEGORY" val="custom"/>
  <p:tag name="KSO_WM_TEMPLATE_INDEX" val="20205081"/>
  <p:tag name="KSO_WM_SLIDE_LAYOUT" val="a_b_l"/>
  <p:tag name="KSO_WM_SLIDE_LAYOUT_CNT" val="1_1_1"/>
  <p:tag name="KSO_WM_UNIT_SHOW_EDIT_AREA_INDICATION" val="1"/>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BEAUTIFY_FLAG" val="#wm#"/>
  <p:tag name="KSO_WM_TEMPLATE_CATEGORY" val="custom"/>
  <p:tag name="KSO_WM_TEMPLATE_INDEX" val="20205081"/>
</p:tagLst>
</file>

<file path=ppt/tags/tag94.xml><?xml version="1.0" encoding="utf-8"?>
<p:tagLst xmlns:p="http://schemas.openxmlformats.org/presentationml/2006/main">
  <p:tag name="KSO_WM_UNIT_ISCONTENTSTITLE" val="1"/>
  <p:tag name="KSO_WM_UNIT_PRESET_TEXT" val="目录"/>
  <p:tag name="KSO_WM_UNIT_NOCLEAR" val="1"/>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5081_3*a*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95.xml><?xml version="1.0" encoding="utf-8"?>
<p:tagLst xmlns:p="http://schemas.openxmlformats.org/presentationml/2006/main">
  <p:tag name="KSO_WM_UNIT_ISCONTENTSTITLE" val="0"/>
  <p:tag name="KSO_WM_UNIT_PRESET_TEXT" val="CONTENTS"/>
  <p:tag name="KSO_WM_UNIT_NOCLEAR" val="1"/>
  <p:tag name="KSO_WM_UNIT_VALUE" val="7"/>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5081_3*b*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5081_3*i*1"/>
  <p:tag name="KSO_WM_TEMPLATE_CATEGORY" val="custom"/>
  <p:tag name="KSO_WM_TEMPLATE_INDEX" val="20205081"/>
  <p:tag name="KSO_WM_UNIT_LAYERLEVEL" val="1"/>
  <p:tag name="KSO_WM_TAG_VERSION" val="1.0"/>
  <p:tag name="KSO_WM_BEAUTIFY_FLAG" val="#wm#"/>
  <p:tag name="KSO_WM_UNIT_FILL_FORE_SCHEMECOLOR_INDEX" val="13"/>
  <p:tag name="KSO_WM_UNIT_FILL_TYPE" val="1"/>
  <p:tag name="KSO_WM_UNIT_TEXT_FILL_FORE_SCHEMECOLOR_INDEX" val="2"/>
  <p:tag name="KSO_WM_UNIT_TEXT_FILL_TYPE" val="1"/>
  <p:tag name="KSO_WM_UNIT_USESOURCEFORMAT_APPLY"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5081_3*l_h_i*1_1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98.xml><?xml version="1.0" encoding="utf-8"?>
<p:tagLst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3*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5081_3*l_h_i*1_2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00.xml><?xml version="1.0" encoding="utf-8"?>
<p:tagLst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5081_3*l_h_f*1_2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5081_3*l_h_i*1_3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02.xml><?xml version="1.0" encoding="utf-8"?>
<p:tagLst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5081_3*l_h_f*1_3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5081_3*i*2"/>
  <p:tag name="KSO_WM_TEMPLATE_CATEGORY" val="custom"/>
  <p:tag name="KSO_WM_TEMPLATE_INDEX" val="20205081"/>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104.xml><?xml version="1.0" encoding="utf-8"?>
<p:tagLst xmlns:p="http://schemas.openxmlformats.org/presentationml/2006/main">
  <p:tag name="KSO_WM_SLIDE_ID" val="custom20205081_3"/>
  <p:tag name="KSO_WM_TEMPLATE_SUBCATEGORY" val="19"/>
  <p:tag name="KSO_WM_TEMPLATE_MASTER_TYPE" val="0"/>
  <p:tag name="KSO_WM_TEMPLATE_COLOR_TYPE" val="1"/>
  <p:tag name="KSO_WM_SLIDE_TYPE" val="contents"/>
  <p:tag name="KSO_WM_SLIDE_SUBTYPE" val="diag"/>
  <p:tag name="KSO_WM_SLIDE_ITEM_CNT" val="3"/>
  <p:tag name="KSO_WM_SLIDE_INDEX" val="3"/>
  <p:tag name="KSO_WM_DIAGRAM_GROUP_CODE" val="l1-1"/>
  <p:tag name="KSO_WM_SLIDE_DIAGTYPE" val="l"/>
  <p:tag name="KSO_WM_TAG_VERSION" val="1.0"/>
  <p:tag name="KSO_WM_BEAUTIFY_FLAG" val="#wm#"/>
  <p:tag name="KSO_WM_TEMPLATE_CATEGORY" val="custom"/>
  <p:tag name="KSO_WM_TEMPLATE_INDEX" val="20205081"/>
  <p:tag name="KSO_WM_SLIDE_LAYOUT" val="a_b_l"/>
  <p:tag name="KSO_WM_SLIDE_LAYOUT_CNT" val="1_1_1"/>
  <p:tag name="KSO_WM_UNIT_SHOW_EDIT_AREA_INDICATION" val="1"/>
</p:tagLst>
</file>

<file path=ppt/tags/tag105.xml><?xml version="1.0" encoding="utf-8"?>
<p:tagLst xmlns:p="http://schemas.openxmlformats.org/presentationml/2006/main">
  <p:tag name="KSO_WM_BEAUTIFY_FLAG" val="#wm#"/>
  <p:tag name="KSO_WM_TEMPLATE_CATEGORY" val="custom"/>
  <p:tag name="KSO_WM_TEMPLATE_INDEX" val="20205081"/>
</p:tagLst>
</file>

<file path=ppt/tags/tag106.xml><?xml version="1.0" encoding="utf-8"?>
<p:tagLst xmlns:p="http://schemas.openxmlformats.org/presentationml/2006/main">
  <p:tag name="KSO_WM_BEAUTIFY_FLAG" val="#wm#"/>
  <p:tag name="KSO_WM_TEMPLATE_CATEGORY" val="custom"/>
  <p:tag name="KSO_WM_TEMPLATE_INDEX" val="20205081"/>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BEAUTIFY_FLAG" val="#wm#"/>
  <p:tag name="KSO_WM_TEMPLATE_CATEGORY" val="custom"/>
  <p:tag name="KSO_WM_TEMPLATE_INDEX" val="20205081"/>
</p:tagLst>
</file>

<file path=ppt/tags/tag109.xml><?xml version="1.0" encoding="utf-8"?>
<p:tagLst xmlns:p="http://schemas.openxmlformats.org/presentationml/2006/main">
  <p:tag name="KSO_WM_UNIT_TABLE_BEAUTIFY" val="smartTable{1ecd78d5-54e2-4f66-940d-9a4a0857ae42}"/>
  <p:tag name="TABLE_ENDDRAG_ORIGIN_RECT" val="504*193"/>
  <p:tag name="TABLE_ENDDRAG_RECT" val="263*226*504*193"/>
</p:tagLst>
</file>

<file path=ppt/tags/tag110.xml><?xml version="1.0" encoding="utf-8"?>
<p:tagLst xmlns:p="http://schemas.openxmlformats.org/presentationml/2006/main">
  <p:tag name="KSO_WM_BEAUTIFY_FLAG" val="#wm#"/>
  <p:tag name="KSO_WM_TEMPLATE_CATEGORY" val="custom"/>
  <p:tag name="KSO_WM_TEMPLATE_INDEX" val="20205081"/>
</p:tagLst>
</file>

<file path=ppt/tags/tag111.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1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3.xml><?xml version="1.0" encoding="utf-8"?>
<p:tagLst xmlns:p="http://schemas.openxmlformats.org/presentationml/2006/main">
  <p:tag name="KSO_WPP_MARK_KEY" val="d7a8523c-357e-4e37-b1e7-5450d9cd35e8"/>
  <p:tag name="COMMONDATA" val="eyJjb3VudCI6MiwiaGRpZCI6ImU4ZjYwMzFiZWYxZDJkMDg1MDEyZGMxNjgxYmJhZmE3IiwidXNlckNvdW50Ijoy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2735</Words>
  <Application>WPS 演示</Application>
  <PresentationFormat>宽屏</PresentationFormat>
  <Paragraphs>232</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宋体</vt:lpstr>
      <vt:lpstr>Wingdings</vt:lpstr>
      <vt:lpstr>微软雅黑</vt:lpstr>
      <vt:lpstr>Wingdings</vt:lpstr>
      <vt:lpstr>汉仪雅酷黑 95W</vt:lpstr>
      <vt:lpstr>Times New Roman</vt:lpstr>
      <vt:lpstr>仿宋_GB2312</vt:lpstr>
      <vt:lpstr>仿宋</vt:lpstr>
      <vt:lpstr>仿宋_GB2312</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启智设计</dc:creator>
  <cp:lastModifiedBy>Looking</cp:lastModifiedBy>
  <cp:revision>169</cp:revision>
  <dcterms:created xsi:type="dcterms:W3CDTF">2019-06-19T02:08:00Z</dcterms:created>
  <dcterms:modified xsi:type="dcterms:W3CDTF">2025-04-08T09:35:03Z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KSOTemplateUUID">
    <vt:lpwstr>v1.0_mb_i6E0kVYxaw1FLZy5Umr34w==</vt:lpwstr>
  </property>
  <property fmtid="{D5CDD505-2E9C-101B-9397-08002B2CF9AE}" pid="4" name="ICV">
    <vt:lpwstr>5C248E9584D94CEFAA05002B383D9CA8_13</vt:lpwstr>
  </property>
</Properties>
</file>
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10" r:id="rId2"/>
    <p:sldId id="453" r:id="rId3"/>
    <p:sldId id="414" r:id="rId4"/>
    <p:sldId id="446" r:id="rId5"/>
    <p:sldId id="468" r:id="rId6"/>
    <p:sldId id="451" r:id="rId7"/>
    <p:sldId id="454" r:id="rId8"/>
    <p:sldId id="415" r:id="rId9"/>
    <p:sldId id="466" r:id="rId10"/>
    <p:sldId id="455" r:id="rId11"/>
    <p:sldId id="447" r:id="rId12"/>
    <p:sldId id="456" r:id="rId13"/>
    <p:sldId id="448" r:id="rId14"/>
    <p:sldId id="457" r:id="rId15"/>
    <p:sldId id="449" r:id="rId16"/>
    <p:sldId id="438" r:id="rId17"/>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8" userDrawn="1">
          <p15:clr>
            <a:srgbClr val="A4A3A4"/>
          </p15:clr>
        </p15:guide>
        <p15:guide id="2" pos="383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9921"/>
    <a:srgbClr val="2053A8"/>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56" d="100"/>
          <a:sy n="156" d="100"/>
        </p:scale>
        <p:origin x="600" y="156"/>
      </p:cViewPr>
      <p:guideLst>
        <p:guide orient="horz" pos="2108"/>
        <p:guide pos="383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2025/4/8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9" name="矩形 8"/>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defRPr kumimoji="0" lang="zh-CN" altLang="en-US" sz="18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2025/4/8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
        <p:nvSpPr>
          <p:cNvPr id="19" name="圆角矩形 18"/>
          <p:cNvSpPr/>
          <p:nvPr userDrawn="1"/>
        </p:nvSpPr>
        <p:spPr>
          <a:xfrm rot="19800000">
            <a:off x="-4252595" y="-82169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userDrawn="1"/>
        </p:nvSpPr>
        <p:spPr>
          <a:xfrm rot="19800000">
            <a:off x="3034030" y="5051425"/>
            <a:ext cx="12651740" cy="3895090"/>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userDrawn="1"/>
        </p:nvSpPr>
        <p:spPr>
          <a:xfrm rot="19800000">
            <a:off x="3461385" y="570103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128588" y="138113"/>
            <a:ext cx="11934825" cy="6581775"/>
          </a:xfrm>
          <a:prstGeom prst="rect">
            <a:avLst/>
          </a:prstGeom>
          <a:noFill/>
          <a:ln>
            <a:solidFill>
              <a:srgbClr val="205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userDrawn="1"/>
        </p:nvSpPr>
        <p:spPr>
          <a:xfrm rot="19800000">
            <a:off x="11209997" y="-907944"/>
            <a:ext cx="4681220" cy="216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nvSpPr>
        <p:spPr>
          <a:xfrm rot="19800000">
            <a:off x="11006480" y="-893980"/>
            <a:ext cx="5898515" cy="216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userDrawn="1"/>
        </p:nvSpPr>
        <p:spPr>
          <a:xfrm rot="19800000">
            <a:off x="-4343875" y="2491245"/>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userDrawn="1"/>
        </p:nvSpPr>
        <p:spPr>
          <a:xfrm rot="19800000">
            <a:off x="-3735363" y="7231486"/>
            <a:ext cx="4681220" cy="216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userDrawn="1"/>
        </p:nvSpPr>
        <p:spPr>
          <a:xfrm rot="19800000">
            <a:off x="-3735363" y="7470246"/>
            <a:ext cx="4681220" cy="216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userDrawn="1"/>
        </p:nvSpPr>
        <p:spPr>
          <a:xfrm rot="19800000">
            <a:off x="10503060" y="2256295"/>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uFillTx/>
                <a:latin typeface="Arial" panose="020B0604020202020204" pitchFamily="34" charset="0"/>
                <a:ea typeface="微软雅黑" panose="020B0503020204020204" pitchFamily="34" charset="-122"/>
                <a:cs typeface="+mn-cs"/>
                <a:sym typeface="+mn-ea"/>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2025/4/8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defRPr sz="1600" u="none" strike="noStrike" kern="1200" cap="none" spc="150" normalizeH="0" baseline="0">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tabLst>
                <a:tab pos="1609725" algn="l"/>
                <a:tab pos="1609725" algn="l"/>
                <a:tab pos="1609725" algn="l"/>
                <a:tab pos="1609725" algn="l"/>
              </a:tabLst>
              <a:defRPr sz="1600" u="none" strike="noStrike" kern="1200" cap="none" spc="150" normalizeH="0" baseline="0">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defRPr sz="1600" u="none" strike="noStrike" kern="1200" cap="none" spc="150" normalizeH="0" baseline="0">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defRPr sz="1400" u="none" strike="noStrike" kern="1200" cap="none" spc="150" normalizeH="0" baseline="0">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2025/4/8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None/>
              <a:defRPr kumimoji="0" lang="zh-CN" altLang="en-US" sz="2000" b="1" i="0" u="none" strike="noStrike" kern="1200" cap="none" spc="200" normalizeH="0" baseline="0" noProof="1" dirty="0">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2025/4/8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2025/4/8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2025/4/8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2025/4/8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defRPr u="none" strike="noStrike" kern="1200" cap="none" spc="150" normalizeH="0" baseline="0">
                <a:uFillTx/>
              </a:defRPr>
            </a:lvl1pPr>
            <a:lvl2pPr marL="685800" indent="-228600" defTabSz="914400" eaLnBrk="1" fontAlgn="auto" latinLnBrk="0" hangingPunct="1">
              <a:lnSpc>
                <a:spcPct val="120000"/>
              </a:lnSpc>
              <a:spcAft>
                <a:spcPts val="600"/>
              </a:spcAft>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spcAft>
                <a:spcPts val="600"/>
              </a:spcAft>
              <a:defRPr u="none" strike="noStrike" kern="1200" cap="none" spc="150" normalizeH="0" baseline="0">
                <a:uFillTx/>
              </a:defRPr>
            </a:lvl3pPr>
            <a:lvl4pPr marL="1600200" indent="-228600" eaLnBrk="1" fontAlgn="auto" latinLnBrk="0" hangingPunct="1">
              <a:lnSpc>
                <a:spcPct val="120000"/>
              </a:lnSpc>
              <a:spcAft>
                <a:spcPts val="300"/>
              </a:spcAft>
              <a:defRPr u="none" strike="noStrike" kern="1200" cap="none" spc="150" normalizeH="0" baseline="0">
                <a:uFillTx/>
              </a:defRPr>
            </a:lvl4pPr>
            <a:lvl5pPr marL="2057400" indent="-228600" eaLnBrk="1" fontAlgn="auto" latinLnBrk="0" hangingPunct="1">
              <a:lnSpc>
                <a:spcPct val="120000"/>
              </a:lnSpc>
              <a:spcAft>
                <a:spcPts val="300"/>
              </a:spcAft>
              <a:defRPr u="none" strike="noStrike" kern="1200" cap="none" spc="150" normalizeH="0" baseline="0">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2025/4/8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2025/4/8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defRPr u="none" strike="noStrike" kern="1200" cap="none" spc="150" normalizeH="0" baseline="0">
                <a:uFillTx/>
              </a:defRPr>
            </a:lvl1pPr>
            <a:lvl2pPr marL="685800" indent="-228600" defTabSz="914400" eaLnBrk="1" fontAlgn="auto" latinLnBrk="0" hangingPunct="1">
              <a:lnSpc>
                <a:spcPct val="120000"/>
              </a:lnSpc>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defRPr u="none" strike="noStrike" kern="1200" cap="none" spc="150" normalizeH="0" baseline="0">
                <a:uFillTx/>
              </a:defRPr>
            </a:lvl3pPr>
            <a:lvl4pPr marL="1600200" indent="-228600" eaLnBrk="1" fontAlgn="auto" latinLnBrk="0" hangingPunct="1">
              <a:lnSpc>
                <a:spcPct val="120000"/>
              </a:lnSpc>
              <a:defRPr u="none" strike="noStrike" kern="1200" cap="none" spc="150" normalizeH="0" baseline="0">
                <a:uFillTx/>
              </a:defRPr>
            </a:lvl4pPr>
            <a:lvl5pPr marL="2057400" indent="-228600" eaLnBrk="1" fontAlgn="auto" latinLnBrk="0" hangingPunct="1">
              <a:lnSpc>
                <a:spcPct val="120000"/>
              </a:lnSpc>
              <a:defRPr u="none" strike="noStrike" kern="1200" cap="none" spc="150" normalizeH="0" baseline="0">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2025/4/8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2025/4/8</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s>
</file>

<file path=ppt/slides/_rels/slide2.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5" Type="http://schemas.openxmlformats.org/officeDocument/2006/relationships/tags" Target="../tags/tag70.xml"/><Relationship Id="rId10" Type="http://schemas.openxmlformats.org/officeDocument/2006/relationships/tags" Target="../tags/tag75.xml"/><Relationship Id="rId4" Type="http://schemas.openxmlformats.org/officeDocument/2006/relationships/tags" Target="../tags/tag69.xml"/><Relationship Id="rId9" Type="http://schemas.openxmlformats.org/officeDocument/2006/relationships/tags" Target="../tags/tag7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7.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10.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3.xml"/><Relationship Id="rId1" Type="http://schemas.openxmlformats.org/officeDocument/2006/relationships/tags" Target="../tags/tag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rot="19800000">
            <a:off x="-7554595" y="-3768725"/>
            <a:ext cx="15746095" cy="5777865"/>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rot="19800000">
            <a:off x="-4252595" y="-82169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rot="19800000">
            <a:off x="3034030" y="5051425"/>
            <a:ext cx="12651740" cy="3895090"/>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rot="19800000">
            <a:off x="3461385" y="570103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80035" y="262890"/>
            <a:ext cx="11639550" cy="6362700"/>
          </a:xfrm>
          <a:prstGeom prst="rect">
            <a:avLst/>
          </a:prstGeom>
          <a:noFill/>
          <a:ln>
            <a:solidFill>
              <a:srgbClr val="205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19800000">
            <a:off x="-2416028" y="6990065"/>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rot="19800000">
            <a:off x="10505587" y="-661050"/>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rot="19800000">
            <a:off x="10218885" y="-427376"/>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副标题 61"/>
          <p:cNvSpPr>
            <a:spLocks noGrp="1"/>
          </p:cNvSpPr>
          <p:nvPr>
            <p:ph type="subTitle" idx="1"/>
            <p:custDataLst>
              <p:tags r:id="rId2"/>
            </p:custDataLst>
          </p:nvPr>
        </p:nvSpPr>
        <p:spPr>
          <a:xfrm>
            <a:off x="3810" y="1884680"/>
            <a:ext cx="12192000" cy="1034415"/>
          </a:xfrm>
        </p:spPr>
        <p:txBody>
          <a:bodyPr>
            <a:noAutofit/>
          </a:bodyPr>
          <a:lstStyle/>
          <a:p>
            <a:pPr marL="0" indent="0" algn="ctr">
              <a:lnSpc>
                <a:spcPct val="100000"/>
              </a:lnSpc>
              <a:buNone/>
            </a:pPr>
            <a:r>
              <a:rPr lang="zh-CN" altLang="en-US" sz="6000" b="1" dirty="0">
                <a:solidFill>
                  <a:schemeClr val="tx1">
                    <a:lumMod val="75000"/>
                    <a:lumOff val="25000"/>
                  </a:schemeClr>
                </a:solidFill>
                <a:latin typeface="+mj-ea"/>
                <a:ea typeface="+mj-ea"/>
                <a:cs typeface="汉仪雅酷黑 95W" panose="020B0A04020202020204" charset="-122"/>
              </a:rPr>
              <a:t>宁夏高层次人才服务管理系统</a:t>
            </a:r>
            <a:endParaRPr lang="en-US" altLang="zh-CN" sz="6000" b="1" dirty="0">
              <a:solidFill>
                <a:schemeClr val="tx1">
                  <a:lumMod val="75000"/>
                  <a:lumOff val="25000"/>
                </a:schemeClr>
              </a:solidFill>
              <a:latin typeface="+mj-ea"/>
              <a:ea typeface="+mj-ea"/>
              <a:cs typeface="汉仪雅酷黑 95W" panose="020B0A04020202020204" charset="-122"/>
            </a:endParaRPr>
          </a:p>
          <a:p>
            <a:pPr marL="0" indent="0" algn="ctr">
              <a:lnSpc>
                <a:spcPct val="100000"/>
              </a:lnSpc>
              <a:buNone/>
            </a:pPr>
            <a:r>
              <a:rPr lang="zh-CN" altLang="en-US" sz="6000" b="1" dirty="0">
                <a:solidFill>
                  <a:schemeClr val="tx1">
                    <a:lumMod val="75000"/>
                    <a:lumOff val="25000"/>
                  </a:schemeClr>
                </a:solidFill>
                <a:latin typeface="+mj-ea"/>
                <a:ea typeface="+mj-ea"/>
                <a:cs typeface="汉仪雅酷黑 95W" panose="020B0A04020202020204" charset="-122"/>
              </a:rPr>
              <a:t>定级专家评审会</a:t>
            </a:r>
          </a:p>
        </p:txBody>
      </p:sp>
      <p:grpSp>
        <p:nvGrpSpPr>
          <p:cNvPr id="63" name="组合 62"/>
          <p:cNvGrpSpPr/>
          <p:nvPr/>
        </p:nvGrpSpPr>
        <p:grpSpPr>
          <a:xfrm>
            <a:off x="4841240" y="5464175"/>
            <a:ext cx="2407237" cy="524846"/>
            <a:chOff x="5802" y="6946"/>
            <a:chExt cx="2507" cy="548"/>
          </a:xfrm>
        </p:grpSpPr>
        <p:sp>
          <p:nvSpPr>
            <p:cNvPr id="88" name="圆角矩形 87"/>
            <p:cNvSpPr/>
            <p:nvPr/>
          </p:nvSpPr>
          <p:spPr>
            <a:xfrm>
              <a:off x="5802" y="6946"/>
              <a:ext cx="2507" cy="548"/>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5959" y="7038"/>
              <a:ext cx="2192" cy="385"/>
            </a:xfrm>
            <a:prstGeom prst="rect">
              <a:avLst/>
            </a:prstGeom>
            <a:noFill/>
          </p:spPr>
          <p:txBody>
            <a:bodyPr wrap="square" rtlCol="0">
              <a:spAutoFit/>
            </a:bodyPr>
            <a:lstStyle/>
            <a:p>
              <a:pPr algn="ctr">
                <a:buClrTx/>
                <a:buSzTx/>
                <a:buFontTx/>
              </a:pPr>
              <a:r>
                <a:rPr lang="zh-CN" altLang="en-US" sz="1800" dirty="0">
                  <a:solidFill>
                    <a:schemeClr val="bg1"/>
                  </a:solidFill>
                  <a:latin typeface="+mj-ea"/>
                  <a:ea typeface="+mj-ea"/>
                </a:rPr>
                <a:t>202</a:t>
              </a:r>
              <a:r>
                <a:rPr lang="en-US" altLang="zh-CN" sz="1800" dirty="0">
                  <a:solidFill>
                    <a:schemeClr val="bg1"/>
                  </a:solidFill>
                  <a:latin typeface="+mj-ea"/>
                  <a:ea typeface="+mj-ea"/>
                </a:rPr>
                <a:t>5</a:t>
              </a:r>
              <a:r>
                <a:rPr lang="zh-CN" altLang="en-US" sz="1800" dirty="0">
                  <a:solidFill>
                    <a:schemeClr val="bg1"/>
                  </a:solidFill>
                  <a:latin typeface="+mj-ea"/>
                  <a:ea typeface="+mj-ea"/>
                </a:rPr>
                <a:t>年</a:t>
              </a:r>
              <a:r>
                <a:rPr lang="en-US" altLang="zh-CN" sz="1800" dirty="0">
                  <a:solidFill>
                    <a:schemeClr val="bg1"/>
                  </a:solidFill>
                  <a:latin typeface="+mj-ea"/>
                  <a:ea typeface="+mj-ea"/>
                </a:rPr>
                <a:t>4</a:t>
              </a:r>
              <a:r>
                <a:rPr lang="zh-CN" altLang="en-US" sz="1800" dirty="0">
                  <a:solidFill>
                    <a:schemeClr val="bg1"/>
                  </a:solidFill>
                  <a:latin typeface="+mj-ea"/>
                  <a:ea typeface="+mj-ea"/>
                </a:rPr>
                <a:t>月</a:t>
              </a:r>
              <a:r>
                <a:rPr lang="en-US" altLang="zh-CN" sz="1800" dirty="0">
                  <a:solidFill>
                    <a:schemeClr val="bg1"/>
                  </a:solidFill>
                  <a:latin typeface="+mj-ea"/>
                  <a:ea typeface="+mj-ea"/>
                </a:rPr>
                <a:t>10</a:t>
              </a:r>
              <a:r>
                <a:rPr lang="zh-CN" altLang="en-US" sz="1800" dirty="0">
                  <a:solidFill>
                    <a:schemeClr val="bg1"/>
                  </a:solidFill>
                  <a:latin typeface="+mj-ea"/>
                  <a:ea typeface="+mj-ea"/>
                </a:rPr>
                <a:t>日</a:t>
              </a:r>
            </a:p>
          </p:txBody>
        </p:sp>
      </p:grpSp>
      <p:sp>
        <p:nvSpPr>
          <p:cNvPr id="2" name="圆角矩形 1"/>
          <p:cNvSpPr/>
          <p:nvPr/>
        </p:nvSpPr>
        <p:spPr>
          <a:xfrm rot="19800000">
            <a:off x="11057720" y="436967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rot="19800000">
            <a:off x="-2982448" y="6482065"/>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19800000">
            <a:off x="-3454570" y="681950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rot="19800000">
            <a:off x="11139317" y="-189880"/>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rot="19800000">
            <a:off x="13986340" y="2404988"/>
            <a:ext cx="5898515"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19800000">
            <a:off x="-4030820" y="352058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rot="19800000">
            <a:off x="10530365" y="207659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3910273" y="4675979"/>
            <a:ext cx="4371453" cy="545465"/>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j-ea"/>
                <a:ea typeface="+mj-ea"/>
                <a:sym typeface="+mn-ea"/>
              </a:rPr>
              <a:t>宁夏回族自治区人力资源和社会保障厅</a:t>
            </a:r>
            <a:endParaRPr lang="zh-CN" altLang="en-US"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887096" y="1393190"/>
            <a:ext cx="1851660" cy="768350"/>
          </a:xfrm>
          <a:prstGeom prst="rect">
            <a:avLst/>
          </a:prstGeom>
          <a:noFill/>
        </p:spPr>
        <p:txBody>
          <a:bodyPr wrap="square" rtlCol="0">
            <a:normAutofit fontScale="95000"/>
          </a:bodyPr>
          <a:lstStyle/>
          <a:p>
            <a:pPr algn="r"/>
            <a:r>
              <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7" name="文本框 6"/>
          <p:cNvSpPr txBox="1"/>
          <p:nvPr>
            <p:custDataLst>
              <p:tags r:id="rId3"/>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CONTENTS</a:t>
            </a:r>
          </a:p>
        </p:txBody>
      </p:sp>
      <p:sp>
        <p:nvSpPr>
          <p:cNvPr id="8" name="矩形 7"/>
          <p:cNvSpPr/>
          <p:nvPr>
            <p:custDataLst>
              <p:tags r:id="rId4"/>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custDataLst>
              <p:tags r:id="rId5"/>
            </p:custDataLst>
          </p:nvPr>
        </p:nvSpPr>
        <p:spPr>
          <a:xfrm>
            <a:off x="5318125" y="211454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p>
        </p:txBody>
      </p:sp>
      <p:sp>
        <p:nvSpPr>
          <p:cNvPr id="18" name="文本框 17"/>
          <p:cNvSpPr txBox="1"/>
          <p:nvPr>
            <p:custDataLst>
              <p:tags r:id="rId6"/>
            </p:custDataLst>
          </p:nvPr>
        </p:nvSpPr>
        <p:spPr>
          <a:xfrm>
            <a:off x="6428105" y="211454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系统基本情况介绍</a:t>
            </a:r>
          </a:p>
        </p:txBody>
      </p:sp>
      <p:sp>
        <p:nvSpPr>
          <p:cNvPr id="26" name="文本框 25"/>
          <p:cNvSpPr txBox="1"/>
          <p:nvPr>
            <p:custDataLst>
              <p:tags r:id="rId7"/>
            </p:custDataLst>
          </p:nvPr>
        </p:nvSpPr>
        <p:spPr>
          <a:xfrm>
            <a:off x="5318125" y="3399790"/>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p>
        </p:txBody>
      </p:sp>
      <p:sp>
        <p:nvSpPr>
          <p:cNvPr id="27" name="文本框 26"/>
          <p:cNvSpPr txBox="1"/>
          <p:nvPr>
            <p:custDataLst>
              <p:tags r:id="rId8"/>
            </p:custDataLst>
          </p:nvPr>
        </p:nvSpPr>
        <p:spPr>
          <a:xfrm>
            <a:off x="6428105" y="3399790"/>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系统拓扑及安全方面介绍</a:t>
            </a:r>
          </a:p>
        </p:txBody>
      </p:sp>
      <p:sp>
        <p:nvSpPr>
          <p:cNvPr id="29" name="文本框 28"/>
          <p:cNvSpPr txBox="1"/>
          <p:nvPr>
            <p:custDataLst>
              <p:tags r:id="rId9"/>
            </p:custDataLst>
          </p:nvPr>
        </p:nvSpPr>
        <p:spPr>
          <a:xfrm>
            <a:off x="5318125" y="4685029"/>
            <a:ext cx="1030605" cy="829945"/>
          </a:xfrm>
          <a:prstGeom prst="rect">
            <a:avLst/>
          </a:prstGeom>
          <a:noFill/>
        </p:spPr>
        <p:txBody>
          <a:bodyPr wrap="square" rtlCol="0">
            <a:normAutofit/>
          </a:bodyPr>
          <a:lstStyle/>
          <a:p>
            <a:r>
              <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p>
        </p:txBody>
      </p:sp>
      <p:sp>
        <p:nvSpPr>
          <p:cNvPr id="30" name="文本框 29"/>
          <p:cNvSpPr txBox="1"/>
          <p:nvPr>
            <p:custDataLst>
              <p:tags r:id="rId10"/>
            </p:custDataLst>
          </p:nvPr>
        </p:nvSpPr>
        <p:spPr>
          <a:xfrm>
            <a:off x="6428105" y="468502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系统预定级情况介绍</a:t>
            </a:r>
          </a:p>
        </p:txBody>
      </p:sp>
      <p:cxnSp>
        <p:nvCxnSpPr>
          <p:cNvPr id="38" name="直接连接符 37"/>
          <p:cNvCxnSpPr/>
          <p:nvPr>
            <p:custDataLst>
              <p:tags r:id="rId11"/>
            </p:custDataLst>
          </p:nvPr>
        </p:nvCxnSpPr>
        <p:spPr>
          <a:xfrm>
            <a:off x="5426075" y="149606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右箭头 8"/>
          <p:cNvSpPr/>
          <p:nvPr/>
        </p:nvSpPr>
        <p:spPr>
          <a:xfrm>
            <a:off x="3866515" y="2240915"/>
            <a:ext cx="850900" cy="552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267200" y="1591310"/>
            <a:ext cx="7317105" cy="3822700"/>
          </a:xfrm>
          <a:prstGeom prst="rect">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2"/>
            </p:custDataLst>
          </p:nvPr>
        </p:nvSpPr>
        <p:spPr>
          <a:xfrm>
            <a:off x="214630" y="2095500"/>
            <a:ext cx="3904615" cy="2541905"/>
          </a:xfrm>
          <a:prstGeom prst="rect">
            <a:avLst/>
          </a:prstGeom>
          <a:blipFill rotWithShape="1">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4743449" y="2095500"/>
            <a:ext cx="6364605" cy="2417445"/>
          </a:xfrm>
          <a:prstGeom prst="rect">
            <a:avLst/>
          </a:prstGeom>
          <a:noFill/>
        </p:spPr>
        <p:txBody>
          <a:bodyPr wrap="square" rtlCol="0">
            <a:noAutofit/>
          </a:bodyPr>
          <a:lstStyle/>
          <a:p>
            <a:pPr indent="609600" fontAlgn="auto">
              <a:lnSpc>
                <a:spcPct val="150000"/>
              </a:lnSpc>
              <a:extLst>
                <a:ext uri="{35155182-B16C-46BC-9424-99874614C6A1}">
                  <wpsdc:indentchars xmlns:wpsdc="http://www.wps.cn/officeDocument/2017/drawingmlCustomData" xmlns="" val="200" checksum="4158780845"/>
                </a:ext>
              </a:extLst>
            </a:pPr>
            <a:r>
              <a:rPr lang="zh-CN" altLang="en-US" sz="2400" dirty="0">
                <a:solidFill>
                  <a:schemeClr val="bg1"/>
                </a:solidFill>
                <a:latin typeface="+mj-ea"/>
                <a:ea typeface="+mj-ea"/>
              </a:rPr>
              <a:t>宁夏高层次人才服务管理系统为本次网络安全等级保护定级对象，宁夏回族自治区人力资源和社会保障厅是该系统的主管单位，同时也是该系统的安全责任单位，对该系统具有网络安全保护责任。</a:t>
            </a:r>
          </a:p>
        </p:txBody>
      </p:sp>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定级对象介绍</a:t>
            </a:r>
          </a:p>
        </p:txBody>
      </p:sp>
      <p:cxnSp>
        <p:nvCxnSpPr>
          <p:cNvPr id="4" name="直接连接符 3"/>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系统业务介绍</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048000" y="1577975"/>
            <a:ext cx="6096000" cy="1753235"/>
          </a:xfrm>
          <a:prstGeom prst="rect">
            <a:avLst/>
          </a:prstGeom>
          <a:noFill/>
        </p:spPr>
        <p:txBody>
          <a:bodyPr wrap="square" rtlCol="0" anchor="t">
            <a:spAutoFit/>
          </a:bodyPr>
          <a:lstStyle/>
          <a:p>
            <a:pPr indent="406400"/>
            <a:r>
              <a:rPr lang="zh-CN" altLang="en-US" dirty="0">
                <a:sym typeface="+mn-ea"/>
              </a:rPr>
              <a:t>该定级对象承载着宁夏高层次人才管理服务系统主要包括数据服务、职称人员及信息注册服务、通用上传服务、通用下载等服务。包含</a:t>
            </a:r>
            <a:r>
              <a:rPr lang="en-US" altLang="zh-CN" dirty="0">
                <a:sym typeface="+mn-ea"/>
              </a:rPr>
              <a:t>1</a:t>
            </a:r>
            <a:r>
              <a:rPr lang="zh-CN" altLang="en-US" dirty="0">
                <a:sym typeface="+mn-ea"/>
              </a:rPr>
              <a:t>个业务系统，该业务相对独立，通过电子政务外网面向宁夏自治区职称申报人员、用人单位、组织评审单位等部门或群体提供服务。该定级系统为独立业务系统，与其他系统存在互联和数据调用情况。</a:t>
            </a:r>
          </a:p>
        </p:txBody>
      </p:sp>
      <p:graphicFrame>
        <p:nvGraphicFramePr>
          <p:cNvPr id="7" name="表格 6"/>
          <p:cNvGraphicFramePr>
            <a:graphicFrameLocks noGrp="1"/>
          </p:cNvGraphicFramePr>
          <p:nvPr/>
        </p:nvGraphicFramePr>
        <p:xfrm>
          <a:off x="3394089" y="3352800"/>
          <a:ext cx="5380990" cy="1539113"/>
        </p:xfrm>
        <a:graphic>
          <a:graphicData uri="http://schemas.openxmlformats.org/drawingml/2006/table">
            <a:tbl>
              <a:tblPr firstRow="1" firstCol="1" bandRow="1">
                <a:tableStyleId>{5C22544A-7EE6-4342-B048-85BDC9FD1C3A}</a:tableStyleId>
              </a:tblPr>
              <a:tblGrid>
                <a:gridCol w="537845">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gridCol w="3309620">
                  <a:extLst>
                    <a:ext uri="{9D8B030D-6E8A-4147-A177-3AD203B41FA5}">
                      <a16:colId xmlns:a16="http://schemas.microsoft.com/office/drawing/2014/main" val="20002"/>
                    </a:ext>
                  </a:extLst>
                </a:gridCol>
              </a:tblGrid>
              <a:tr h="258953">
                <a:tc>
                  <a:txBody>
                    <a:bodyPr/>
                    <a:lstStyle/>
                    <a:p>
                      <a:pPr algn="ctr">
                        <a:buNone/>
                      </a:pPr>
                      <a:r>
                        <a:rPr lang="zh-CN" sz="1200" kern="100">
                          <a:effectLst/>
                        </a:rPr>
                        <a:t>序号</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ctr">
                        <a:buNone/>
                      </a:pPr>
                      <a:r>
                        <a:rPr lang="zh-CN" sz="1200" kern="100">
                          <a:effectLst/>
                        </a:rPr>
                        <a:t>系统名称</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ctr">
                        <a:buNone/>
                      </a:pPr>
                      <a:r>
                        <a:rPr lang="zh-CN" sz="1200" kern="100">
                          <a:effectLst/>
                        </a:rPr>
                        <a:t>业务功能描述</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extLst>
                  <a:ext uri="{0D108BD9-81ED-4DB2-BD59-A6C34878D82A}">
                    <a16:rowId xmlns:a16="http://schemas.microsoft.com/office/drawing/2014/main" val="10000"/>
                  </a:ext>
                </a:extLst>
              </a:tr>
              <a:tr h="1035812">
                <a:tc>
                  <a:txBody>
                    <a:bodyPr/>
                    <a:lstStyle/>
                    <a:p>
                      <a:pPr algn="ctr">
                        <a:buNone/>
                      </a:pPr>
                      <a:r>
                        <a:rPr lang="en-US" sz="1200" kern="100">
                          <a:effectLst/>
                        </a:rPr>
                        <a:t>1</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ctr">
                        <a:buNone/>
                      </a:pPr>
                      <a:r>
                        <a:rPr lang="zh-CN" sz="1600" kern="100">
                          <a:effectLst/>
                          <a:sym typeface="+mn-ea"/>
                        </a:rPr>
                        <a:t>宁夏高层次人才管理服务系统</a:t>
                      </a:r>
                      <a:endParaRPr lang="zh-CN" sz="1600" kern="100">
                        <a:effectLst/>
                        <a:latin typeface="Times New Roman" panose="02020603050405020304" pitchFamily="18" charset="0"/>
                        <a:ea typeface="仿宋_GB2312" panose="02010609030101010101" pitchFamily="49" charset="-122"/>
                      </a:endParaRPr>
                    </a:p>
                  </a:txBody>
                  <a:tcPr marL="68580" marR="68580" marT="0" marB="0" anchor="ctr"/>
                </a:tc>
                <a:tc>
                  <a:txBody>
                    <a:bodyPr/>
                    <a:lstStyle/>
                    <a:p>
                      <a:pPr algn="l">
                        <a:buNone/>
                      </a:pPr>
                      <a:r>
                        <a:rPr lang="zh-CN" sz="1200" kern="100">
                          <a:effectLst/>
                        </a:rPr>
                        <a:t>宁夏高层次人才管理服务系统主要包括职称评审、高层次人才认定、人才服务、人才项目、人才和载体管理、预算和资金管理、评审专家及评审过程管理、数据分析应用等功能。系统承载着单一或相对独立的业务，通过电子政务外网面向宁夏自治区职称申报人员、用人单位、组织评审单位等部门或群体提供服务。</a:t>
                      </a:r>
                    </a:p>
                  </a:txBody>
                  <a:tcPr marL="68580" marR="68580" marT="0" marB="0" anchor="ctr"/>
                </a:tc>
                <a:extLst>
                  <a:ext uri="{0D108BD9-81ED-4DB2-BD59-A6C34878D82A}">
                    <a16:rowId xmlns:a16="http://schemas.microsoft.com/office/drawing/2014/main" val="10001"/>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系统界面展示</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a:stretch>
            <a:fillRect/>
          </a:stretch>
        </p:blipFill>
        <p:spPr>
          <a:xfrm>
            <a:off x="188595" y="984250"/>
            <a:ext cx="11858625" cy="5553075"/>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系统界面展示</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3"/>
          <a:stretch>
            <a:fillRect/>
          </a:stretch>
        </p:blipFill>
        <p:spPr>
          <a:xfrm>
            <a:off x="366395" y="1062355"/>
            <a:ext cx="11536680" cy="5596890"/>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887096" y="1393190"/>
            <a:ext cx="1851660" cy="768350"/>
          </a:xfrm>
          <a:prstGeom prst="rect">
            <a:avLst/>
          </a:prstGeom>
          <a:noFill/>
        </p:spPr>
        <p:txBody>
          <a:bodyPr wrap="square" rtlCol="0">
            <a:normAutofit fontScale="95000"/>
          </a:bodyPr>
          <a:lstStyle/>
          <a:p>
            <a:pPr algn="r"/>
            <a:r>
              <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7" name="文本框 6"/>
          <p:cNvSpPr txBox="1"/>
          <p:nvPr>
            <p:custDataLst>
              <p:tags r:id="rId3"/>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CONTENTS</a:t>
            </a:r>
          </a:p>
        </p:txBody>
      </p:sp>
      <p:sp>
        <p:nvSpPr>
          <p:cNvPr id="8" name="矩形 7"/>
          <p:cNvSpPr/>
          <p:nvPr>
            <p:custDataLst>
              <p:tags r:id="rId4"/>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custDataLst>
              <p:tags r:id="rId5"/>
            </p:custDataLst>
          </p:nvPr>
        </p:nvSpPr>
        <p:spPr>
          <a:xfrm>
            <a:off x="5318125" y="211454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p>
        </p:txBody>
      </p:sp>
      <p:sp>
        <p:nvSpPr>
          <p:cNvPr id="18" name="文本框 17"/>
          <p:cNvSpPr txBox="1"/>
          <p:nvPr>
            <p:custDataLst>
              <p:tags r:id="rId6"/>
            </p:custDataLst>
          </p:nvPr>
        </p:nvSpPr>
        <p:spPr>
          <a:xfrm>
            <a:off x="6428105" y="211454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系统基本情况介绍</a:t>
            </a:r>
          </a:p>
        </p:txBody>
      </p:sp>
      <p:sp>
        <p:nvSpPr>
          <p:cNvPr id="26" name="文本框 25"/>
          <p:cNvSpPr txBox="1"/>
          <p:nvPr>
            <p:custDataLst>
              <p:tags r:id="rId7"/>
            </p:custDataLst>
          </p:nvPr>
        </p:nvSpPr>
        <p:spPr>
          <a:xfrm>
            <a:off x="5318125" y="3399790"/>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p>
        </p:txBody>
      </p:sp>
      <p:sp>
        <p:nvSpPr>
          <p:cNvPr id="27" name="文本框 26"/>
          <p:cNvSpPr txBox="1"/>
          <p:nvPr>
            <p:custDataLst>
              <p:tags r:id="rId8"/>
            </p:custDataLst>
          </p:nvPr>
        </p:nvSpPr>
        <p:spPr>
          <a:xfrm>
            <a:off x="6428105" y="3399790"/>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系统拓扑及安全方面介绍</a:t>
            </a:r>
          </a:p>
        </p:txBody>
      </p:sp>
      <p:sp>
        <p:nvSpPr>
          <p:cNvPr id="29" name="文本框 28"/>
          <p:cNvSpPr txBox="1"/>
          <p:nvPr>
            <p:custDataLst>
              <p:tags r:id="rId9"/>
            </p:custDataLst>
          </p:nvPr>
        </p:nvSpPr>
        <p:spPr>
          <a:xfrm>
            <a:off x="5318125" y="4685029"/>
            <a:ext cx="1030605" cy="829945"/>
          </a:xfrm>
          <a:prstGeom prst="rect">
            <a:avLst/>
          </a:prstGeom>
          <a:noFill/>
        </p:spPr>
        <p:txBody>
          <a:bodyPr wrap="square" rtlCol="0">
            <a:normAutofit/>
          </a:bodyPr>
          <a:lstStyle/>
          <a:p>
            <a:r>
              <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p>
        </p:txBody>
      </p:sp>
      <p:sp>
        <p:nvSpPr>
          <p:cNvPr id="30" name="文本框 29"/>
          <p:cNvSpPr txBox="1"/>
          <p:nvPr>
            <p:custDataLst>
              <p:tags r:id="rId10"/>
            </p:custDataLst>
          </p:nvPr>
        </p:nvSpPr>
        <p:spPr>
          <a:xfrm>
            <a:off x="6428105" y="468502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系统预定级情况介绍</a:t>
            </a:r>
          </a:p>
        </p:txBody>
      </p:sp>
      <p:cxnSp>
        <p:nvCxnSpPr>
          <p:cNvPr id="38" name="直接连接符 37"/>
          <p:cNvCxnSpPr/>
          <p:nvPr>
            <p:custDataLst>
              <p:tags r:id="rId11"/>
            </p:custDataLst>
          </p:nvPr>
        </p:nvCxnSpPr>
        <p:spPr>
          <a:xfrm>
            <a:off x="5426075" y="149606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右箭头 8"/>
          <p:cNvSpPr/>
          <p:nvPr/>
        </p:nvSpPr>
        <p:spPr>
          <a:xfrm>
            <a:off x="3866515" y="3538220"/>
            <a:ext cx="850900" cy="552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系统拓扑及说明</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 name="图片 3" descr="D:/高层次人才/图片1.png图片1"/>
          <p:cNvPicPr/>
          <p:nvPr/>
        </p:nvPicPr>
        <p:blipFill>
          <a:blip r:embed="rId3"/>
          <a:srcRect/>
          <a:stretch>
            <a:fillRect/>
          </a:stretch>
        </p:blipFill>
        <p:spPr>
          <a:xfrm>
            <a:off x="572135" y="935355"/>
            <a:ext cx="10659745" cy="55467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系统拓扑及说明</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426085" y="1557655"/>
            <a:ext cx="11312525" cy="4481830"/>
          </a:xfrm>
          <a:prstGeom prst="rect">
            <a:avLst/>
          </a:prstGeom>
        </p:spPr>
        <p:txBody>
          <a:bodyPr wrap="square" lIns="91424" tIns="45711" rIns="91424" bIns="45711">
            <a:noAutofit/>
          </a:bodyPr>
          <a:lstStyle/>
          <a:p>
            <a:pPr indent="406400" fontAlgn="auto" latinLnBrk="1">
              <a:lnSpc>
                <a:spcPct val="150000"/>
              </a:lnSpc>
              <a:defRPr/>
              <a:extLst>
                <a:ext uri="{35155182-B16C-46BC-9424-99874614C6A1}">
                  <wpsdc:indentchars xmlns:wpsdc="http://www.wps.cn/officeDocument/2017/drawingmlCustomData" xmlns="" val="200" checksum="1740828767"/>
                </a:ext>
              </a:extLst>
            </a:pPr>
            <a:r>
              <a:rPr lang="zh-CN" altLang="en-US" sz="1600" b="1" dirty="0">
                <a:solidFill>
                  <a:srgbClr val="262626"/>
                </a:solidFill>
                <a:latin typeface="微软雅黑" panose="020B0503020204020204" pitchFamily="34" charset="-122"/>
                <a:ea typeface="微软雅黑" panose="020B0503020204020204" pitchFamily="34" charset="-122"/>
                <a:sym typeface="+mn-ea"/>
              </a:rPr>
              <a:t>该定级对象部署在移动政务信创云平台，该云平台提供容器组件和虚拟主机，云平台安全保护等级为三级。定级对象相关配套的网络设备、安全设备、操作系统和数据库等设施部署在移动政务信创云平台机房内，网络中部署了网关与外部网络互联，网关以内的互联网络为内部网络，以及网络边界属于本次定级对象的范围。</a:t>
            </a:r>
          </a:p>
          <a:p>
            <a:pPr indent="406400" fontAlgn="auto" latinLnBrk="1">
              <a:lnSpc>
                <a:spcPct val="150000"/>
              </a:lnSpc>
              <a:defRPr/>
              <a:extLst>
                <a:ext uri="{35155182-B16C-46BC-9424-99874614C6A1}">
                  <wpsdc:indentchars xmlns:wpsdc="http://www.wps.cn/officeDocument/2017/drawingmlCustomData" xmlns="" val="200" checksum="1740828767"/>
                </a:ext>
              </a:extLst>
            </a:pPr>
            <a:r>
              <a:rPr lang="zh-CN" altLang="en-US" sz="1600" b="1" dirty="0">
                <a:solidFill>
                  <a:srgbClr val="262626"/>
                </a:solidFill>
                <a:latin typeface="微软雅黑" panose="020B0503020204020204" pitchFamily="34" charset="-122"/>
                <a:ea typeface="微软雅黑" panose="020B0503020204020204" pitchFamily="34" charset="-122"/>
                <a:sym typeface="+mn-ea"/>
              </a:rPr>
              <a:t>定级对象的网络结构主要包括前端服务区和核心数据区。前端服务区通过负载均衡（</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10.60.144.30</a:t>
            </a:r>
            <a:r>
              <a:rPr lang="zh-CN" altLang="en-US" sz="1600" b="1" dirty="0">
                <a:solidFill>
                  <a:srgbClr val="262626"/>
                </a:solidFill>
                <a:latin typeface="微软雅黑" panose="020B0503020204020204" pitchFamily="34" charset="-122"/>
                <a:ea typeface="微软雅黑" panose="020B0503020204020204" pitchFamily="34" charset="-122"/>
                <a:sym typeface="+mn-ea"/>
              </a:rPr>
              <a:t>）和两个前端服务器（</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10.60.144.8</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10.60.144.9</a:t>
            </a:r>
            <a:r>
              <a:rPr lang="zh-CN" altLang="en-US" sz="1600" b="1" dirty="0">
                <a:solidFill>
                  <a:srgbClr val="262626"/>
                </a:solidFill>
                <a:latin typeface="微软雅黑" panose="020B0503020204020204" pitchFamily="34" charset="-122"/>
                <a:ea typeface="微软雅黑" panose="020B0503020204020204" pitchFamily="34" charset="-122"/>
                <a:sym typeface="+mn-ea"/>
              </a:rPr>
              <a:t>）处理外部请求；核心数据区包含以下组件：</a:t>
            </a:r>
          </a:p>
          <a:p>
            <a:pPr indent="406400" fontAlgn="auto" latinLnBrk="1">
              <a:lnSpc>
                <a:spcPct val="150000"/>
              </a:lnSpc>
              <a:defRPr/>
              <a:extLst>
                <a:ext uri="{35155182-B16C-46BC-9424-99874614C6A1}">
                  <wpsdc:indentchars xmlns:wpsdc="http://www.wps.cn/officeDocument/2017/drawingmlCustomData" xmlns=""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1.</a:t>
            </a:r>
            <a:r>
              <a:rPr lang="zh-CN" altLang="en-US" sz="1600" b="1" dirty="0">
                <a:solidFill>
                  <a:srgbClr val="262626"/>
                </a:solidFill>
                <a:latin typeface="微软雅黑" panose="020B0503020204020204" pitchFamily="34" charset="-122"/>
                <a:ea typeface="微软雅黑" panose="020B0503020204020204" pitchFamily="34" charset="-122"/>
                <a:sym typeface="+mn-ea"/>
              </a:rPr>
              <a:t>缓存集群（</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10.60.145.67-69</a:t>
            </a:r>
            <a:r>
              <a:rPr lang="zh-CN" altLang="en-US" sz="1600" b="1" dirty="0">
                <a:solidFill>
                  <a:srgbClr val="262626"/>
                </a:solidFill>
                <a:latin typeface="微软雅黑" panose="020B0503020204020204" pitchFamily="34" charset="-122"/>
                <a:ea typeface="微软雅黑" panose="020B0503020204020204" pitchFamily="34" charset="-122"/>
                <a:sym typeface="+mn-ea"/>
              </a:rPr>
              <a:t>），提供高速数据访问；</a:t>
            </a:r>
          </a:p>
          <a:p>
            <a:pPr indent="406400" fontAlgn="auto" latinLnBrk="1">
              <a:lnSpc>
                <a:spcPct val="150000"/>
              </a:lnSpc>
              <a:defRPr/>
              <a:extLst>
                <a:ext uri="{35155182-B16C-46BC-9424-99874614C6A1}">
                  <wpsdc:indentchars xmlns:wpsdc="http://www.wps.cn/officeDocument/2017/drawingmlCustomData" xmlns=""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2.</a:t>
            </a:r>
            <a:r>
              <a:rPr lang="zh-CN" altLang="en-US" sz="1600" b="1" dirty="0">
                <a:solidFill>
                  <a:srgbClr val="262626"/>
                </a:solidFill>
                <a:latin typeface="微软雅黑" panose="020B0503020204020204" pitchFamily="34" charset="-122"/>
                <a:ea typeface="微软雅黑" panose="020B0503020204020204" pitchFamily="34" charset="-122"/>
                <a:sym typeface="+mn-ea"/>
              </a:rPr>
              <a:t>人工智能服务（知识库</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10.60.145.71</a:t>
            </a:r>
            <a:r>
              <a:rPr lang="zh-CN" altLang="en-US" sz="1600" b="1" dirty="0">
                <a:solidFill>
                  <a:srgbClr val="262626"/>
                </a:solidFill>
                <a:latin typeface="微软雅黑" panose="020B0503020204020204" pitchFamily="34" charset="-122"/>
                <a:ea typeface="微软雅黑" panose="020B0503020204020204" pitchFamily="34" charset="-122"/>
                <a:sym typeface="+mn-ea"/>
              </a:rPr>
              <a:t>、向量模型</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10.60.145.72</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p>
          <a:p>
            <a:pPr indent="406400" fontAlgn="auto" latinLnBrk="1">
              <a:lnSpc>
                <a:spcPct val="150000"/>
              </a:lnSpc>
              <a:defRPr/>
              <a:extLst>
                <a:ext uri="{35155182-B16C-46BC-9424-99874614C6A1}">
                  <wpsdc:indentchars xmlns:wpsdc="http://www.wps.cn/officeDocument/2017/drawingmlCustomData" xmlns=""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3.</a:t>
            </a:r>
            <a:r>
              <a:rPr lang="zh-CN" altLang="en-US" sz="1600" b="1" dirty="0">
                <a:solidFill>
                  <a:srgbClr val="262626"/>
                </a:solidFill>
                <a:latin typeface="微软雅黑" panose="020B0503020204020204" pitchFamily="34" charset="-122"/>
                <a:ea typeface="微软雅黑" panose="020B0503020204020204" pitchFamily="34" charset="-122"/>
                <a:sym typeface="+mn-ea"/>
              </a:rPr>
              <a:t>数据仓库及大数据应用（</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10.60.145.73-76</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p>
          <a:p>
            <a:pPr indent="406400" fontAlgn="auto" latinLnBrk="1">
              <a:lnSpc>
                <a:spcPct val="150000"/>
              </a:lnSpc>
              <a:defRPr/>
              <a:extLst>
                <a:ext uri="{35155182-B16C-46BC-9424-99874614C6A1}">
                  <wpsdc:indentchars xmlns:wpsdc="http://www.wps.cn/officeDocument/2017/drawingmlCustomData" xmlns=""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4.</a:t>
            </a:r>
            <a:r>
              <a:rPr lang="zh-CN" altLang="en-US" sz="1600" b="1" dirty="0">
                <a:solidFill>
                  <a:srgbClr val="262626"/>
                </a:solidFill>
                <a:latin typeface="微软雅黑" panose="020B0503020204020204" pitchFamily="34" charset="-122"/>
                <a:ea typeface="微软雅黑" panose="020B0503020204020204" pitchFamily="34" charset="-122"/>
                <a:sym typeface="+mn-ea"/>
              </a:rPr>
              <a:t>数据中台（</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10.60.145.77</a:t>
            </a:r>
            <a:r>
              <a:rPr lang="zh-CN" altLang="en-US" sz="1600" b="1" dirty="0">
                <a:solidFill>
                  <a:srgbClr val="262626"/>
                </a:solidFill>
                <a:latin typeface="微软雅黑" panose="020B0503020204020204" pitchFamily="34" charset="-122"/>
                <a:ea typeface="微软雅黑" panose="020B0503020204020204" pitchFamily="34" charset="-122"/>
                <a:sym typeface="+mn-ea"/>
              </a:rPr>
              <a:t>）；</a:t>
            </a:r>
          </a:p>
          <a:p>
            <a:pPr indent="406400" fontAlgn="auto" latinLnBrk="1">
              <a:lnSpc>
                <a:spcPct val="150000"/>
              </a:lnSpc>
              <a:defRPr/>
              <a:extLst>
                <a:ext uri="{35155182-B16C-46BC-9424-99874614C6A1}">
                  <wpsdc:indentchars xmlns:wpsdc="http://www.wps.cn/officeDocument/2017/drawingmlCustomData" xmlns="" val="200" checksum="1740828767"/>
                </a:ext>
              </a:extLst>
            </a:pPr>
            <a:r>
              <a:rPr lang="en-US" altLang="zh-CN" sz="1600" b="1" dirty="0">
                <a:solidFill>
                  <a:srgbClr val="262626"/>
                </a:solidFill>
                <a:latin typeface="微软雅黑" panose="020B0503020204020204" pitchFamily="34" charset="-122"/>
                <a:ea typeface="微软雅黑" panose="020B0503020204020204" pitchFamily="34" charset="-122"/>
                <a:sym typeface="+mn-ea"/>
              </a:rPr>
              <a:t>5.</a:t>
            </a:r>
            <a:r>
              <a:rPr lang="zh-CN" altLang="en-US" sz="1600" b="1" dirty="0">
                <a:solidFill>
                  <a:srgbClr val="262626"/>
                </a:solidFill>
                <a:latin typeface="微软雅黑" panose="020B0503020204020204" pitchFamily="34" charset="-122"/>
                <a:ea typeface="微软雅黑" panose="020B0503020204020204" pitchFamily="34" charset="-122"/>
                <a:sym typeface="+mn-ea"/>
              </a:rPr>
              <a:t>容器化数据库集群（</a:t>
            </a:r>
            <a:r>
              <a:rPr lang="en-US" altLang="zh-CN" sz="1600" b="1" dirty="0">
                <a:solidFill>
                  <a:srgbClr val="262626"/>
                </a:solidFill>
                <a:latin typeface="微软雅黑" panose="020B0503020204020204" pitchFamily="34" charset="-122"/>
                <a:ea typeface="微软雅黑" panose="020B0503020204020204" pitchFamily="34" charset="-122"/>
                <a:sym typeface="+mn-ea"/>
              </a:rPr>
              <a:t>10.60.145.80-81</a:t>
            </a:r>
            <a:r>
              <a:rPr lang="zh-CN" altLang="en-US" sz="1600" b="1" dirty="0">
                <a:solidFill>
                  <a:srgbClr val="262626"/>
                </a:solidFill>
                <a:latin typeface="微软雅黑" panose="020B0503020204020204" pitchFamily="34" charset="-122"/>
                <a:ea typeface="微软雅黑" panose="020B0503020204020204" pitchFamily="34" charset="-122"/>
                <a:sym typeface="+mn-ea"/>
              </a:rPr>
              <a:t>）及对象存储（</a:t>
            </a:r>
            <a:r>
              <a:rPr lang="en-US" altLang="zh-CN" sz="1600" b="1" dirty="0">
                <a:solidFill>
                  <a:srgbClr val="262626"/>
                </a:solidFill>
                <a:latin typeface="微软雅黑" panose="020B0503020204020204" pitchFamily="34" charset="-122"/>
                <a:ea typeface="微软雅黑" panose="020B0503020204020204" pitchFamily="34" charset="-122"/>
                <a:sym typeface="+mn-ea"/>
              </a:rPr>
              <a:t>CMCC.GovECLoudOss.com</a:t>
            </a:r>
            <a:r>
              <a:rPr lang="zh-CN" altLang="en-US" sz="1600" b="1" dirty="0">
                <a:solidFill>
                  <a:srgbClr val="262626"/>
                </a:solidFill>
                <a:latin typeface="微软雅黑" panose="020B0503020204020204" pitchFamily="34" charset="-122"/>
                <a:ea typeface="微软雅黑" panose="020B0503020204020204" pitchFamily="34" charset="-122"/>
                <a:sym typeface="+mn-ea"/>
              </a:rPr>
              <a:t>），支撑核心业务与数据持久化存储。</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887096" y="1393190"/>
            <a:ext cx="1851660" cy="768350"/>
          </a:xfrm>
          <a:prstGeom prst="rect">
            <a:avLst/>
          </a:prstGeom>
          <a:noFill/>
        </p:spPr>
        <p:txBody>
          <a:bodyPr wrap="square" rtlCol="0">
            <a:normAutofit fontScale="95000"/>
          </a:bodyPr>
          <a:lstStyle/>
          <a:p>
            <a:pPr algn="r"/>
            <a:r>
              <a:rPr lang="zh-CN" altLang="en-US" sz="4400" b="1" spc="3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7" name="文本框 6"/>
          <p:cNvSpPr txBox="1"/>
          <p:nvPr>
            <p:custDataLst>
              <p:tags r:id="rId3"/>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CONTENTS</a:t>
            </a:r>
          </a:p>
        </p:txBody>
      </p:sp>
      <p:sp>
        <p:nvSpPr>
          <p:cNvPr id="8" name="矩形 7"/>
          <p:cNvSpPr/>
          <p:nvPr>
            <p:custDataLst>
              <p:tags r:id="rId4"/>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custDataLst>
              <p:tags r:id="rId5"/>
            </p:custDataLst>
          </p:nvPr>
        </p:nvSpPr>
        <p:spPr>
          <a:xfrm>
            <a:off x="5318125" y="2114549"/>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p>
        </p:txBody>
      </p:sp>
      <p:sp>
        <p:nvSpPr>
          <p:cNvPr id="18" name="文本框 17"/>
          <p:cNvSpPr txBox="1"/>
          <p:nvPr>
            <p:custDataLst>
              <p:tags r:id="rId6"/>
            </p:custDataLst>
          </p:nvPr>
        </p:nvSpPr>
        <p:spPr>
          <a:xfrm>
            <a:off x="6428105" y="211454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系统基本情况介绍</a:t>
            </a:r>
          </a:p>
        </p:txBody>
      </p:sp>
      <p:sp>
        <p:nvSpPr>
          <p:cNvPr id="26" name="文本框 25"/>
          <p:cNvSpPr txBox="1"/>
          <p:nvPr>
            <p:custDataLst>
              <p:tags r:id="rId7"/>
            </p:custDataLst>
          </p:nvPr>
        </p:nvSpPr>
        <p:spPr>
          <a:xfrm>
            <a:off x="5318125" y="3399790"/>
            <a:ext cx="1030605" cy="829945"/>
          </a:xfrm>
          <a:prstGeom prst="rect">
            <a:avLst/>
          </a:prstGeom>
          <a:noFill/>
        </p:spPr>
        <p:txBody>
          <a:bodyPr wrap="square" rtlCol="0">
            <a:normAutofit/>
          </a:bodyPr>
          <a:lstStyle/>
          <a:p>
            <a:r>
              <a:rPr lang="en-US" altLang="zh-CN" sz="4800" b="1"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p>
        </p:txBody>
      </p:sp>
      <p:sp>
        <p:nvSpPr>
          <p:cNvPr id="27" name="文本框 26"/>
          <p:cNvSpPr txBox="1"/>
          <p:nvPr>
            <p:custDataLst>
              <p:tags r:id="rId8"/>
            </p:custDataLst>
          </p:nvPr>
        </p:nvSpPr>
        <p:spPr>
          <a:xfrm>
            <a:off x="6428105" y="3399790"/>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系统拓扑及安全方面介绍</a:t>
            </a:r>
          </a:p>
        </p:txBody>
      </p:sp>
      <p:sp>
        <p:nvSpPr>
          <p:cNvPr id="29" name="文本框 28"/>
          <p:cNvSpPr txBox="1"/>
          <p:nvPr>
            <p:custDataLst>
              <p:tags r:id="rId9"/>
            </p:custDataLst>
          </p:nvPr>
        </p:nvSpPr>
        <p:spPr>
          <a:xfrm>
            <a:off x="5318125" y="4685029"/>
            <a:ext cx="1030605" cy="829945"/>
          </a:xfrm>
          <a:prstGeom prst="rect">
            <a:avLst/>
          </a:prstGeom>
          <a:noFill/>
        </p:spPr>
        <p:txBody>
          <a:bodyPr wrap="square" rtlCol="0">
            <a:normAutofit/>
          </a:bodyPr>
          <a:lstStyle/>
          <a:p>
            <a:r>
              <a:rPr lang="en-US" altLang="zh-CN" sz="4800" b="1">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p>
        </p:txBody>
      </p:sp>
      <p:sp>
        <p:nvSpPr>
          <p:cNvPr id="30" name="文本框 29"/>
          <p:cNvSpPr txBox="1"/>
          <p:nvPr>
            <p:custDataLst>
              <p:tags r:id="rId10"/>
            </p:custDataLst>
          </p:nvPr>
        </p:nvSpPr>
        <p:spPr>
          <a:xfrm>
            <a:off x="6428105" y="4685029"/>
            <a:ext cx="4246245" cy="831600"/>
          </a:xfrm>
          <a:prstGeom prst="rect">
            <a:avLst/>
          </a:prstGeom>
          <a:noFill/>
        </p:spPr>
        <p:txBody>
          <a:bodyPr wrap="square" bIns="46990" rtlCol="0" anchor="ctr" anchorCtr="0">
            <a:normAutofit/>
          </a:bodyPr>
          <a:lstStyle/>
          <a:p>
            <a:pPr>
              <a:lnSpc>
                <a:spcPct val="120000"/>
              </a:lnSpc>
            </a:pPr>
            <a:r>
              <a:rPr lang="zh-CN" altLang="en-US" sz="2800" dirty="0">
                <a:solidFill>
                  <a:schemeClr val="tx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系统预定级情况介绍</a:t>
            </a:r>
          </a:p>
        </p:txBody>
      </p:sp>
      <p:cxnSp>
        <p:nvCxnSpPr>
          <p:cNvPr id="38" name="直接连接符 37"/>
          <p:cNvCxnSpPr/>
          <p:nvPr>
            <p:custDataLst>
              <p:tags r:id="rId11"/>
            </p:custDataLst>
          </p:nvPr>
        </p:nvCxnSpPr>
        <p:spPr>
          <a:xfrm>
            <a:off x="5426075" y="149606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右箭头 8"/>
          <p:cNvSpPr/>
          <p:nvPr/>
        </p:nvSpPr>
        <p:spPr>
          <a:xfrm>
            <a:off x="3866515" y="4823460"/>
            <a:ext cx="850900" cy="552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业务信息安全等级</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591310" y="1184910"/>
            <a:ext cx="9838690" cy="1009650"/>
          </a:xfrm>
          <a:prstGeom prst="rect">
            <a:avLst/>
          </a:prstGeom>
          <a:noFill/>
        </p:spPr>
        <p:txBody>
          <a:bodyPr wrap="square" rtlCol="0">
            <a:noAutofit/>
          </a:bodyPr>
          <a:lstStyle/>
          <a:p>
            <a:r>
              <a:rPr lang="zh-CN" altLang="en-US" dirty="0"/>
              <a:t>业务信息：处理的业务信息包括单位信息（单位名称、法人、地址、电话等）、人员信息（身份证号码、姓名、电话、家庭住址等）及其他跟职称申报人员、用人单位相关的信息。数据约</a:t>
            </a:r>
            <a:r>
              <a:rPr lang="en-US" altLang="zh-CN" dirty="0"/>
              <a:t>25</a:t>
            </a:r>
            <a:r>
              <a:rPr lang="zh-CN" altLang="en-US" dirty="0"/>
              <a:t>万条，每年增长</a:t>
            </a:r>
            <a:r>
              <a:rPr lang="en-US" altLang="zh-CN" dirty="0"/>
              <a:t>10%</a:t>
            </a:r>
            <a:r>
              <a:rPr lang="zh-CN" altLang="en-US" dirty="0"/>
              <a:t>。</a:t>
            </a:r>
          </a:p>
        </p:txBody>
      </p:sp>
      <p:sp>
        <p:nvSpPr>
          <p:cNvPr id="8" name="文本框 7"/>
          <p:cNvSpPr txBox="1"/>
          <p:nvPr/>
        </p:nvSpPr>
        <p:spPr>
          <a:xfrm>
            <a:off x="1591310" y="2857600"/>
            <a:ext cx="9549130" cy="3692525"/>
          </a:xfrm>
          <a:prstGeom prst="rect">
            <a:avLst/>
          </a:prstGeom>
          <a:noFill/>
        </p:spPr>
        <p:txBody>
          <a:bodyPr wrap="square" rtlCol="0">
            <a:spAutoFit/>
          </a:bodyPr>
          <a:lstStyle/>
          <a:p>
            <a:r>
              <a:rPr lang="zh-CN" altLang="en-US" dirty="0"/>
              <a:t>对应客体的侵害程度：</a:t>
            </a:r>
            <a:r>
              <a:rPr lang="zh-CN" altLang="zh-CN" dirty="0"/>
              <a:t>侵害的客观方面表现为：一旦该系统的业务信息遭到入侵、修改、增加、删除等不明侵害，会对宁夏人力资源与社会保障厅的合法权益造成影响和损害，同时也会对社会秩序、公共利益造成侵害。可以表现为：</a:t>
            </a:r>
          </a:p>
          <a:p>
            <a:pPr indent="457200"/>
            <a:r>
              <a:rPr lang="en-US" altLang="zh-CN" dirty="0"/>
              <a:t>1</a:t>
            </a:r>
            <a:r>
              <a:rPr lang="zh-CN" altLang="zh-CN" dirty="0"/>
              <a:t>）社会秩序、公共利益遭受侵害可发生的后果：若公民身份信息大量泄露，可能被用于电信诈骗，造成社会群体性财产损失，损害公共利益、造成社会不良影响；</a:t>
            </a:r>
          </a:p>
          <a:p>
            <a:pPr indent="457200"/>
            <a:r>
              <a:rPr lang="en-US" altLang="zh-CN" dirty="0"/>
              <a:t>2</a:t>
            </a:r>
            <a:r>
              <a:rPr lang="zh-CN" altLang="zh-CN" dirty="0"/>
              <a:t>）公民、法人和其他组织遭受侵害可发生的后果：若个人敏感信息泄露，导致个人身份被冒用，侵犯公民人身安全权；同时影响其正常工作的开展，导致其业务能力下降，造成单位不良影响</a:t>
            </a:r>
            <a:r>
              <a:rPr lang="zh-CN" altLang="en-US" dirty="0"/>
              <a:t>。</a:t>
            </a:r>
            <a:endParaRPr lang="en-US" altLang="zh-CN" dirty="0"/>
          </a:p>
          <a:p>
            <a:endParaRPr lang="en-US" altLang="zh-CN" dirty="0"/>
          </a:p>
          <a:p>
            <a:r>
              <a:rPr lang="zh-CN" altLang="en-US" dirty="0"/>
              <a:t>信息受到破坏后，对社会秩序、公共利益造成的侵害程度表现为严重损害，即会出现较大范围的社会不良影响和较严重程度的公共利益的损害等；对公民、法人和其他组织的合法权益造成侵害的程度表现为严重损害，即工作职能受到严重影响，业务能力显著下降且严重影响主要功能执行，较大范围的不良影响等</a:t>
            </a:r>
          </a:p>
        </p:txBody>
      </p:sp>
      <p:sp>
        <p:nvSpPr>
          <p:cNvPr id="9" name="文本框 8"/>
          <p:cNvSpPr txBox="1"/>
          <p:nvPr/>
        </p:nvSpPr>
        <p:spPr>
          <a:xfrm>
            <a:off x="1591310" y="2118487"/>
            <a:ext cx="9724390" cy="646331"/>
          </a:xfrm>
          <a:prstGeom prst="rect">
            <a:avLst/>
          </a:prstGeom>
          <a:noFill/>
        </p:spPr>
        <p:txBody>
          <a:bodyPr wrap="square" rtlCol="0">
            <a:spAutoFit/>
          </a:bodyPr>
          <a:lstStyle/>
          <a:p>
            <a:r>
              <a:rPr lang="zh-CN" altLang="en-US" dirty="0"/>
              <a:t>业务信息被破坏侵害的客体：系统信息遭到破坏后，侵害的客体类型属于公民、法人和其他组织的合法权益，以及社会秩序、公共利益</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业务信息安全等级</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4" name="表格 3"/>
          <p:cNvGraphicFramePr>
            <a:graphicFrameLocks noGrp="1"/>
          </p:cNvGraphicFramePr>
          <p:nvPr>
            <p:extLst>
              <p:ext uri="{D42A27DB-BD31-4B8C-83A1-F6EECF244321}">
                <p14:modId xmlns:p14="http://schemas.microsoft.com/office/powerpoint/2010/main" val="119329015"/>
              </p:ext>
            </p:extLst>
          </p:nvPr>
        </p:nvGraphicFramePr>
        <p:xfrm>
          <a:off x="3090545" y="2983865"/>
          <a:ext cx="5638800" cy="1873885"/>
        </p:xfrm>
        <a:graphic>
          <a:graphicData uri="http://schemas.openxmlformats.org/drawingml/2006/table">
            <a:tbl>
              <a:tblPr firstRow="1" firstCol="1" bandRow="1">
                <a:tableStyleId>{5C22544A-7EE6-4342-B048-85BDC9FD1C3A}</a:tableStyleId>
              </a:tblPr>
              <a:tblGrid>
                <a:gridCol w="2470150">
                  <a:extLst>
                    <a:ext uri="{9D8B030D-6E8A-4147-A177-3AD203B41FA5}">
                      <a16:colId xmlns:a16="http://schemas.microsoft.com/office/drawing/2014/main" val="20000"/>
                    </a:ext>
                  </a:extLst>
                </a:gridCol>
                <a:gridCol w="83185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74777">
                <a:tc rowSpan="2">
                  <a:txBody>
                    <a:bodyPr/>
                    <a:lstStyle/>
                    <a:p>
                      <a:pPr algn="ctr" fontAlgn="b">
                        <a:buNone/>
                      </a:pPr>
                      <a:r>
                        <a:rPr lang="zh-CN" sz="1200" kern="0" dirty="0">
                          <a:effectLst/>
                        </a:rPr>
                        <a:t>业务信息安全被破坏时所侵害的客体</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ctr"/>
                </a:tc>
                <a:tc gridSpan="3">
                  <a:txBody>
                    <a:bodyPr/>
                    <a:lstStyle/>
                    <a:p>
                      <a:pPr algn="ctr" fontAlgn="b">
                        <a:buNone/>
                      </a:pPr>
                      <a:r>
                        <a:rPr lang="zh-CN" sz="1200" kern="0" dirty="0">
                          <a:effectLst/>
                        </a:rPr>
                        <a:t>对相应客体的侵害程度</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74777">
                <a:tc vMerge="1">
                  <a:txBody>
                    <a:bodyPr/>
                    <a:lstStyle/>
                    <a:p>
                      <a:endParaRPr lang="zh-CN"/>
                    </a:p>
                  </a:txBody>
                  <a:tcPr/>
                </a:tc>
                <a:tc>
                  <a:txBody>
                    <a:bodyPr/>
                    <a:lstStyle/>
                    <a:p>
                      <a:pPr algn="ctr" fontAlgn="b">
                        <a:buNone/>
                      </a:pPr>
                      <a:r>
                        <a:rPr lang="zh-CN" sz="1200" kern="0" dirty="0">
                          <a:effectLst/>
                        </a:rPr>
                        <a:t>一般损害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严重损害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特别严重损害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extLst>
                  <a:ext uri="{0D108BD9-81ED-4DB2-BD59-A6C34878D82A}">
                    <a16:rowId xmlns:a16="http://schemas.microsoft.com/office/drawing/2014/main" val="10001"/>
                  </a:ext>
                </a:extLst>
              </a:tr>
              <a:tr h="374777">
                <a:tc>
                  <a:txBody>
                    <a:bodyPr/>
                    <a:lstStyle/>
                    <a:p>
                      <a:pPr algn="ctr" fontAlgn="b">
                        <a:buNone/>
                      </a:pPr>
                      <a:r>
                        <a:rPr lang="zh-CN" sz="1200" kern="0">
                          <a:effectLst/>
                        </a:rPr>
                        <a:t>公民、法人和其他组织的合法权益</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dirty="0">
                          <a:effectLst/>
                        </a:rPr>
                        <a:t>第一级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第二级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第二级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extLst>
                  <a:ext uri="{0D108BD9-81ED-4DB2-BD59-A6C34878D82A}">
                    <a16:rowId xmlns:a16="http://schemas.microsoft.com/office/drawing/2014/main" val="10002"/>
                  </a:ext>
                </a:extLst>
              </a:tr>
              <a:tr h="374777">
                <a:tc>
                  <a:txBody>
                    <a:bodyPr/>
                    <a:lstStyle/>
                    <a:p>
                      <a:pPr algn="ctr" fontAlgn="b">
                        <a:buNone/>
                      </a:pPr>
                      <a:r>
                        <a:rPr lang="zh-CN" sz="1200" kern="0">
                          <a:effectLst/>
                        </a:rPr>
                        <a:t>社会秩序、公共利益</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第二级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第三级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tc>
                  <a:txBody>
                    <a:bodyPr/>
                    <a:lstStyle/>
                    <a:p>
                      <a:pPr algn="ctr" fontAlgn="b">
                        <a:buNone/>
                      </a:pPr>
                      <a:r>
                        <a:rPr lang="zh-CN" sz="1200" kern="0" dirty="0">
                          <a:effectLst/>
                        </a:rPr>
                        <a:t>第四级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extLst>
                  <a:ext uri="{0D108BD9-81ED-4DB2-BD59-A6C34878D82A}">
                    <a16:rowId xmlns:a16="http://schemas.microsoft.com/office/drawing/2014/main" val="10003"/>
                  </a:ext>
                </a:extLst>
              </a:tr>
              <a:tr h="374777">
                <a:tc>
                  <a:txBody>
                    <a:bodyPr/>
                    <a:lstStyle/>
                    <a:p>
                      <a:pPr algn="ctr" fontAlgn="b">
                        <a:buNone/>
                      </a:pPr>
                      <a:r>
                        <a:rPr lang="zh-CN" sz="1200" kern="0">
                          <a:effectLst/>
                        </a:rPr>
                        <a:t>国家安全或地区安全、国计民生</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第四级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第五级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第五级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extLst>
                  <a:ext uri="{0D108BD9-81ED-4DB2-BD59-A6C34878D82A}">
                    <a16:rowId xmlns:a16="http://schemas.microsoft.com/office/drawing/2014/main" val="10004"/>
                  </a:ext>
                </a:extLst>
              </a:tr>
            </a:tbl>
          </a:graphicData>
        </a:graphic>
      </p:graphicFrame>
      <p:sp>
        <p:nvSpPr>
          <p:cNvPr id="10" name="文本框 9"/>
          <p:cNvSpPr txBox="1"/>
          <p:nvPr/>
        </p:nvSpPr>
        <p:spPr>
          <a:xfrm>
            <a:off x="4389755" y="2023771"/>
            <a:ext cx="3619500" cy="369332"/>
          </a:xfrm>
          <a:prstGeom prst="rect">
            <a:avLst/>
          </a:prstGeom>
          <a:noFill/>
        </p:spPr>
        <p:txBody>
          <a:bodyPr wrap="square">
            <a:spAutoFit/>
          </a:bodyPr>
          <a:lstStyle/>
          <a:p>
            <a:r>
              <a:rPr lang="zh-CN" altLang="zh-CN" sz="1800" dirty="0">
                <a:effectLst/>
                <a:latin typeface="Times New Roman" panose="02020603050405020304" pitchFamily="18" charset="0"/>
                <a:ea typeface="仿宋_GB2312" panose="02010609030101010101" pitchFamily="49" charset="-122"/>
                <a:cs typeface="Times New Roman" panose="02020603050405020304" pitchFamily="18" charset="0"/>
              </a:rPr>
              <a:t>业务信息安全保护等级矩阵表</a:t>
            </a:r>
            <a:endParaRPr lang="zh-CN" altLang="en-US"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系统服务安全等级</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591310" y="1184910"/>
            <a:ext cx="9137650" cy="1050911"/>
          </a:xfrm>
          <a:prstGeom prst="rect">
            <a:avLst/>
          </a:prstGeom>
          <a:noFill/>
        </p:spPr>
        <p:txBody>
          <a:bodyPr wrap="square" rtlCol="0">
            <a:noAutofit/>
          </a:bodyPr>
          <a:lstStyle/>
          <a:p>
            <a:r>
              <a:rPr lang="zh-CN" altLang="en-US" dirty="0"/>
              <a:t>系统服务：宁夏高层次人才管理服务系统主要包括数据集管理、服务事项管理、指标管理、代码管理、订阅管理、人员信息等功能。通过政务外网对自治区高技能人才以及专业技术人员提供服务，使用范围约</a:t>
            </a:r>
            <a:r>
              <a:rPr lang="en-US" altLang="zh-CN" dirty="0"/>
              <a:t>25</a:t>
            </a:r>
            <a:r>
              <a:rPr lang="zh-CN" altLang="en-US" dirty="0"/>
              <a:t>万人，系统连续运行时间工作日</a:t>
            </a:r>
            <a:r>
              <a:rPr lang="en-US" altLang="zh-CN" dirty="0"/>
              <a:t>8:00-18:00,</a:t>
            </a:r>
            <a:r>
              <a:rPr lang="zh-CN" altLang="en-US" dirty="0"/>
              <a:t>允许连续故障时间</a:t>
            </a:r>
            <a:r>
              <a:rPr lang="en-US" altLang="zh-CN" dirty="0"/>
              <a:t>2</a:t>
            </a:r>
            <a:r>
              <a:rPr lang="zh-CN" altLang="en-US" dirty="0"/>
              <a:t>小时。</a:t>
            </a:r>
          </a:p>
        </p:txBody>
      </p:sp>
      <p:sp>
        <p:nvSpPr>
          <p:cNvPr id="8" name="文本框 7"/>
          <p:cNvSpPr txBox="1"/>
          <p:nvPr/>
        </p:nvSpPr>
        <p:spPr>
          <a:xfrm>
            <a:off x="1591310" y="2979420"/>
            <a:ext cx="9146540" cy="3692525"/>
          </a:xfrm>
          <a:prstGeom prst="rect">
            <a:avLst/>
          </a:prstGeom>
          <a:noFill/>
        </p:spPr>
        <p:txBody>
          <a:bodyPr wrap="square" rtlCol="0">
            <a:spAutoFit/>
          </a:bodyPr>
          <a:lstStyle/>
          <a:p>
            <a:r>
              <a:rPr lang="zh-CN" altLang="en-US" dirty="0"/>
              <a:t>对应客体的侵害程度：</a:t>
            </a:r>
            <a:r>
              <a:rPr lang="zh-CN" altLang="zh-CN" dirty="0"/>
              <a:t>客观方面表现得侵害结果为：一旦系统被攻击破坏导致系统服务中断，不能及时、有效地提供服务，会对宁夏人力资源与社会保障厅的合法权益造成影响和损害，同时也对社会秩序、公共利益造成侵害。可以表现为：</a:t>
            </a:r>
          </a:p>
          <a:p>
            <a:r>
              <a:rPr lang="en-US" altLang="zh-CN" dirty="0"/>
              <a:t>1</a:t>
            </a:r>
            <a:r>
              <a:rPr lang="zh-CN" altLang="zh-CN" dirty="0"/>
              <a:t>）社会秩序、公共利益遭受侵害可发生的后果：若</a:t>
            </a:r>
            <a:r>
              <a:rPr lang="zh-CN" altLang="en-US" dirty="0">
                <a:sym typeface="+mn-ea"/>
              </a:rPr>
              <a:t>宁夏高层次人才管理服务系统</a:t>
            </a:r>
            <a:r>
              <a:rPr lang="zh-CN" altLang="zh-CN" dirty="0"/>
              <a:t>中断超过</a:t>
            </a:r>
            <a:r>
              <a:rPr lang="en-US" altLang="zh-CN" dirty="0"/>
              <a:t>4</a:t>
            </a:r>
            <a:r>
              <a:rPr lang="zh-CN" altLang="zh-CN" dirty="0"/>
              <a:t>小时，导致大量用户无法办理业务，影响社会公共服务连续性；</a:t>
            </a:r>
          </a:p>
          <a:p>
            <a:r>
              <a:rPr lang="en-US" altLang="zh-CN" dirty="0"/>
              <a:t>2</a:t>
            </a:r>
            <a:r>
              <a:rPr lang="zh-CN" altLang="zh-CN" dirty="0"/>
              <a:t>）公民、法人和其他组织遭受侵害可发生的后果：若</a:t>
            </a:r>
            <a:r>
              <a:rPr lang="zh-CN" altLang="en-US" dirty="0">
                <a:sym typeface="+mn-ea"/>
              </a:rPr>
              <a:t>宁夏高层次人才管理服务系统</a:t>
            </a:r>
            <a:r>
              <a:rPr lang="zh-CN" altLang="zh-CN" dirty="0"/>
              <a:t>服务中断，导致大量群众无法进行身份认证，影响</a:t>
            </a:r>
            <a:r>
              <a:rPr lang="zh-CN" altLang="en-US" dirty="0"/>
              <a:t>用户职称评审、人才申报</a:t>
            </a:r>
            <a:r>
              <a:rPr lang="zh-CN" altLang="zh-CN" dirty="0"/>
              <a:t>等，同时影响其正常工作的开展，导致其业务能力下降，造成单位不良影响</a:t>
            </a:r>
            <a:r>
              <a:rPr lang="zh-CN" altLang="en-US" dirty="0"/>
              <a:t>。</a:t>
            </a:r>
            <a:endParaRPr lang="en-US" altLang="zh-CN" dirty="0"/>
          </a:p>
          <a:p>
            <a:endParaRPr lang="en-US" altLang="zh-CN" dirty="0"/>
          </a:p>
          <a:p>
            <a:r>
              <a:rPr lang="zh-CN" altLang="en-US" dirty="0"/>
              <a:t>系统服务受到破坏后，对社会秩序、公共利益造成的侵害程度表现为严重损害，即会出现较大范围的社会不良影响和较严重程度的公共利益的损害等；对公民、法人和其他组织的合法权益造成侵害的程度表现为严重损害，即工作职能受到严重影响，业务能力显著下降且严重影响主要功能执行，较大范围的不良影响等。</a:t>
            </a:r>
          </a:p>
        </p:txBody>
      </p:sp>
      <p:sp>
        <p:nvSpPr>
          <p:cNvPr id="9" name="文本框 8"/>
          <p:cNvSpPr txBox="1"/>
          <p:nvPr/>
        </p:nvSpPr>
        <p:spPr>
          <a:xfrm>
            <a:off x="1582420" y="2235821"/>
            <a:ext cx="9137650" cy="646331"/>
          </a:xfrm>
          <a:prstGeom prst="rect">
            <a:avLst/>
          </a:prstGeom>
          <a:noFill/>
        </p:spPr>
        <p:txBody>
          <a:bodyPr wrap="square" rtlCol="0">
            <a:spAutoFit/>
          </a:bodyPr>
          <a:lstStyle/>
          <a:p>
            <a:r>
              <a:rPr lang="zh-CN" altLang="en-US" dirty="0"/>
              <a:t>系统服务被破坏侵害的客体：系统服务受到破坏后，侵害的客体类型属于公民、法人和其他组织的合法权益，以及社会秩序、公共利益。</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系统服务安全等级</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450094" y="1926074"/>
            <a:ext cx="3268980" cy="369332"/>
          </a:xfrm>
          <a:prstGeom prst="rect">
            <a:avLst/>
          </a:prstGeom>
          <a:noFill/>
        </p:spPr>
        <p:txBody>
          <a:bodyPr wrap="square">
            <a:spAutoFit/>
          </a:bodyPr>
          <a:lstStyle/>
          <a:p>
            <a:r>
              <a:rPr lang="zh-CN" altLang="zh-CN" sz="1800" dirty="0">
                <a:effectLst/>
                <a:latin typeface="Times New Roman" panose="02020603050405020304" pitchFamily="18" charset="0"/>
                <a:ea typeface="仿宋_GB2312" panose="02010609030101010101" pitchFamily="49" charset="-122"/>
                <a:cs typeface="Times New Roman" panose="02020603050405020304" pitchFamily="18" charset="0"/>
              </a:rPr>
              <a:t>系统服务安全保护等级矩阵表</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4293547871"/>
              </p:ext>
            </p:extLst>
          </p:nvPr>
        </p:nvGraphicFramePr>
        <p:xfrm>
          <a:off x="3314700" y="3162300"/>
          <a:ext cx="5562600" cy="1986280"/>
        </p:xfrm>
        <a:graphic>
          <a:graphicData uri="http://schemas.openxmlformats.org/drawingml/2006/table">
            <a:tbl>
              <a:tblPr firstRow="1" firstCol="1" bandRow="1">
                <a:tableStyleId>{5C22544A-7EE6-4342-B048-85BDC9FD1C3A}</a:tableStyleId>
              </a:tblPr>
              <a:tblGrid>
                <a:gridCol w="26797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tblGrid>
              <a:tr h="397256">
                <a:tc rowSpan="2">
                  <a:txBody>
                    <a:bodyPr/>
                    <a:lstStyle/>
                    <a:p>
                      <a:pPr algn="just" fontAlgn="b">
                        <a:buNone/>
                      </a:pPr>
                      <a:r>
                        <a:rPr lang="zh-CN" sz="1200" kern="0">
                          <a:effectLst/>
                        </a:rPr>
                        <a:t>系统服务安全被破坏时所侵害的客体</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gridSpan="3">
                  <a:txBody>
                    <a:bodyPr/>
                    <a:lstStyle/>
                    <a:p>
                      <a:pPr algn="ctr" fontAlgn="b">
                        <a:buNone/>
                      </a:pPr>
                      <a:r>
                        <a:rPr lang="zh-CN" sz="1200" kern="0">
                          <a:effectLst/>
                        </a:rPr>
                        <a:t>对相应客体的侵害程度</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97256">
                <a:tc vMerge="1">
                  <a:txBody>
                    <a:bodyPr/>
                    <a:lstStyle/>
                    <a:p>
                      <a:endParaRPr lang="zh-CN"/>
                    </a:p>
                  </a:txBody>
                  <a:tcPr/>
                </a:tc>
                <a:tc>
                  <a:txBody>
                    <a:bodyPr/>
                    <a:lstStyle/>
                    <a:p>
                      <a:pPr algn="l" fontAlgn="b">
                        <a:buNone/>
                      </a:pPr>
                      <a:r>
                        <a:rPr lang="zh-CN" sz="1200" kern="0" dirty="0">
                          <a:effectLst/>
                        </a:rPr>
                        <a:t>一般损害</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l" fontAlgn="b">
                        <a:buNone/>
                      </a:pPr>
                      <a:r>
                        <a:rPr lang="zh-CN" sz="1200" kern="0">
                          <a:effectLst/>
                        </a:rPr>
                        <a:t>严重损害</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l" fontAlgn="b">
                        <a:buNone/>
                      </a:pPr>
                      <a:r>
                        <a:rPr lang="zh-CN" sz="1200" kern="0">
                          <a:effectLst/>
                        </a:rPr>
                        <a:t>特别严重损害</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extLst>
                  <a:ext uri="{0D108BD9-81ED-4DB2-BD59-A6C34878D82A}">
                    <a16:rowId xmlns:a16="http://schemas.microsoft.com/office/drawing/2014/main" val="10001"/>
                  </a:ext>
                </a:extLst>
              </a:tr>
              <a:tr h="397256">
                <a:tc>
                  <a:txBody>
                    <a:bodyPr/>
                    <a:lstStyle/>
                    <a:p>
                      <a:pPr algn="just" fontAlgn="b">
                        <a:buNone/>
                      </a:pPr>
                      <a:r>
                        <a:rPr lang="zh-CN" sz="1200" kern="0" dirty="0">
                          <a:effectLst/>
                        </a:rPr>
                        <a:t>公民、法人和其他组织的合法权益</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第一级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第二级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第二级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extLst>
                  <a:ext uri="{0D108BD9-81ED-4DB2-BD59-A6C34878D82A}">
                    <a16:rowId xmlns:a16="http://schemas.microsoft.com/office/drawing/2014/main" val="10002"/>
                  </a:ext>
                </a:extLst>
              </a:tr>
              <a:tr h="397256">
                <a:tc>
                  <a:txBody>
                    <a:bodyPr/>
                    <a:lstStyle/>
                    <a:p>
                      <a:pPr algn="just" fontAlgn="b">
                        <a:buNone/>
                      </a:pPr>
                      <a:r>
                        <a:rPr lang="zh-CN" sz="1200" kern="0">
                          <a:effectLst/>
                        </a:rPr>
                        <a:t>社会秩序、公共利益</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第二级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第三级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solidFill>
                      <a:schemeClr val="bg1">
                        <a:lumMod val="65000"/>
                      </a:schemeClr>
                    </a:solidFill>
                  </a:tcPr>
                </a:tc>
                <a:tc>
                  <a:txBody>
                    <a:bodyPr/>
                    <a:lstStyle/>
                    <a:p>
                      <a:pPr algn="ctr" fontAlgn="b">
                        <a:buNone/>
                      </a:pPr>
                      <a:r>
                        <a:rPr lang="zh-CN" sz="1200" kern="0" dirty="0">
                          <a:effectLst/>
                        </a:rPr>
                        <a:t>第四级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extLst>
                  <a:ext uri="{0D108BD9-81ED-4DB2-BD59-A6C34878D82A}">
                    <a16:rowId xmlns:a16="http://schemas.microsoft.com/office/drawing/2014/main" val="10003"/>
                  </a:ext>
                </a:extLst>
              </a:tr>
              <a:tr h="397256">
                <a:tc>
                  <a:txBody>
                    <a:bodyPr/>
                    <a:lstStyle/>
                    <a:p>
                      <a:pPr algn="just" fontAlgn="b">
                        <a:buNone/>
                      </a:pPr>
                      <a:r>
                        <a:rPr lang="zh-CN" sz="1200" kern="0">
                          <a:effectLst/>
                        </a:rPr>
                        <a:t>国家安全或地区安全、国计民生</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ctr"/>
                </a:tc>
                <a:tc>
                  <a:txBody>
                    <a:bodyPr/>
                    <a:lstStyle/>
                    <a:p>
                      <a:pPr algn="ctr" fontAlgn="b">
                        <a:buNone/>
                      </a:pPr>
                      <a:r>
                        <a:rPr lang="zh-CN" sz="1200" kern="0">
                          <a:effectLst/>
                        </a:rPr>
                        <a:t>第四级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a:effectLst/>
                        </a:rPr>
                        <a:t>第五级</a:t>
                      </a:r>
                      <a:endParaRPr lang="zh-CN" sz="1600" kern="100">
                        <a:effectLst/>
                        <a:latin typeface="Times New Roman" panose="02020603050405020304" pitchFamily="18" charset="0"/>
                        <a:ea typeface="仿宋_GB2312" panose="02010609030101010101" pitchFamily="49" charset="-122"/>
                      </a:endParaRPr>
                    </a:p>
                  </a:txBody>
                  <a:tcPr marL="6350" marR="6350" marT="6350" marB="0" anchor="b">
                    <a:noFill/>
                  </a:tcPr>
                </a:tc>
                <a:tc>
                  <a:txBody>
                    <a:bodyPr/>
                    <a:lstStyle/>
                    <a:p>
                      <a:pPr algn="ctr" fontAlgn="b">
                        <a:buNone/>
                      </a:pPr>
                      <a:r>
                        <a:rPr lang="zh-CN" sz="1200" kern="0" dirty="0">
                          <a:effectLst/>
                        </a:rPr>
                        <a:t>第五级</a:t>
                      </a:r>
                      <a:endParaRPr lang="zh-CN" sz="1600" kern="100" dirty="0">
                        <a:effectLst/>
                        <a:latin typeface="Times New Roman" panose="02020603050405020304" pitchFamily="18" charset="0"/>
                        <a:ea typeface="仿宋_GB2312" panose="02010609030101010101" pitchFamily="49" charset="-122"/>
                      </a:endParaRPr>
                    </a:p>
                  </a:txBody>
                  <a:tcPr marL="6350" marR="6350" marT="6350" marB="0" anchor="b">
                    <a:noFill/>
                  </a:tcPr>
                </a:tc>
                <a:extLst>
                  <a:ext uri="{0D108BD9-81ED-4DB2-BD59-A6C34878D82A}">
                    <a16:rowId xmlns:a16="http://schemas.microsoft.com/office/drawing/2014/main" val="10004"/>
                  </a:ext>
                </a:extLst>
              </a:tr>
            </a:tbl>
          </a:graphicData>
        </a:graphic>
      </p:graphicFrame>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65430"/>
            <a:ext cx="12192000" cy="521970"/>
          </a:xfrm>
          <a:prstGeom prst="rect">
            <a:avLst/>
          </a:prstGeom>
          <a:noFill/>
        </p:spPr>
        <p:txBody>
          <a:bodyPr wrap="square" rtlCol="0">
            <a:spAutoFit/>
          </a:bodyPr>
          <a:lstStyle/>
          <a:p>
            <a:pPr algn="ctr"/>
            <a:r>
              <a:rPr lang="zh-CN" altLang="en-US" sz="2800" spc="400">
                <a:solidFill>
                  <a:srgbClr val="2053A8"/>
                </a:solidFill>
                <a:effectLst/>
                <a:uFillTx/>
                <a:latin typeface="微软雅黑" panose="020B0503020204020204" pitchFamily="34" charset="-122"/>
                <a:ea typeface="微软雅黑" panose="020B0503020204020204" pitchFamily="34" charset="-122"/>
                <a:sym typeface="+mn-ea"/>
              </a:rPr>
              <a:t>安全等级确定</a:t>
            </a:r>
          </a:p>
        </p:txBody>
      </p:sp>
      <p:cxnSp>
        <p:nvCxnSpPr>
          <p:cNvPr id="2" name="直接连接符 1"/>
          <p:cNvCxnSpPr/>
          <p:nvPr/>
        </p:nvCxnSpPr>
        <p:spPr>
          <a:xfrm>
            <a:off x="121617" y="864897"/>
            <a:ext cx="11925935" cy="41275"/>
          </a:xfrm>
          <a:prstGeom prst="line">
            <a:avLst/>
          </a:prstGeom>
          <a:ln w="381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23160" y="1845945"/>
            <a:ext cx="7007225" cy="1268095"/>
          </a:xfrm>
          <a:prstGeom prst="rect">
            <a:avLst/>
          </a:prstGeom>
          <a:noFill/>
        </p:spPr>
        <p:txBody>
          <a:bodyPr wrap="square" rtlCol="0">
            <a:noAutofit/>
          </a:bodyPr>
          <a:lstStyle/>
          <a:p>
            <a:pPr indent="406400"/>
            <a:r>
              <a:rPr lang="zh-CN" sz="2400" dirty="0">
                <a:cs typeface="仿宋_GB2312" charset="0"/>
                <a:sym typeface="+mn-ea"/>
              </a:rPr>
              <a:t>系统的安全保护等级由业务信息安全等级和系统服务安全等级较高者决定，最终确定</a:t>
            </a:r>
            <a:r>
              <a:rPr lang="zh-CN" altLang="en-US" sz="2400" dirty="0">
                <a:sym typeface="+mn-ea"/>
              </a:rPr>
              <a:t>宁夏高层次人才管理服务系统</a:t>
            </a:r>
            <a:r>
              <a:rPr lang="zh-CN" sz="2400" dirty="0">
                <a:cs typeface="仿宋_GB2312" charset="0"/>
                <a:sym typeface="+mn-ea"/>
              </a:rPr>
              <a:t>安全保护等级为第三级。</a:t>
            </a:r>
            <a:endParaRPr lang="zh-CN" altLang="en-US" sz="2400" dirty="0"/>
          </a:p>
        </p:txBody>
      </p:sp>
      <p:graphicFrame>
        <p:nvGraphicFramePr>
          <p:cNvPr id="13" name="表格 12"/>
          <p:cNvGraphicFramePr/>
          <p:nvPr>
            <p:custDataLst>
              <p:tags r:id="rId2"/>
            </p:custDataLst>
          </p:nvPr>
        </p:nvGraphicFramePr>
        <p:xfrm>
          <a:off x="2721927" y="3346450"/>
          <a:ext cx="6410325" cy="2454275"/>
        </p:xfrm>
        <a:graphic>
          <a:graphicData uri="http://schemas.openxmlformats.org/drawingml/2006/table">
            <a:tbl>
              <a:tblPr firstRow="1" bandRow="1">
                <a:tableStyleId>{5940675A-B579-460E-94D1-54222C63F5DA}</a:tableStyleId>
              </a:tblPr>
              <a:tblGrid>
                <a:gridCol w="1552575">
                  <a:extLst>
                    <a:ext uri="{9D8B030D-6E8A-4147-A177-3AD203B41FA5}">
                      <a16:colId xmlns:a16="http://schemas.microsoft.com/office/drawing/2014/main" val="20000"/>
                    </a:ext>
                  </a:extLst>
                </a:gridCol>
                <a:gridCol w="1268095">
                  <a:extLst>
                    <a:ext uri="{9D8B030D-6E8A-4147-A177-3AD203B41FA5}">
                      <a16:colId xmlns:a16="http://schemas.microsoft.com/office/drawing/2014/main" val="20001"/>
                    </a:ext>
                  </a:extLst>
                </a:gridCol>
                <a:gridCol w="1794510">
                  <a:extLst>
                    <a:ext uri="{9D8B030D-6E8A-4147-A177-3AD203B41FA5}">
                      <a16:colId xmlns:a16="http://schemas.microsoft.com/office/drawing/2014/main" val="20002"/>
                    </a:ext>
                  </a:extLst>
                </a:gridCol>
                <a:gridCol w="1795145">
                  <a:extLst>
                    <a:ext uri="{9D8B030D-6E8A-4147-A177-3AD203B41FA5}">
                      <a16:colId xmlns:a16="http://schemas.microsoft.com/office/drawing/2014/main" val="20003"/>
                    </a:ext>
                  </a:extLst>
                </a:gridCol>
              </a:tblGrid>
              <a:tr h="84074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信息系统名称</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安全保护等级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业务信息安全等级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系统服务安全等级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0"/>
                  </a:ext>
                </a:extLst>
              </a:tr>
              <a:tr h="1613535">
                <a:tc>
                  <a:txBody>
                    <a:bodyPr/>
                    <a:lstStyle/>
                    <a:p>
                      <a:pPr indent="0" algn="ctr">
                        <a:buNone/>
                      </a:pPr>
                      <a:r>
                        <a:rPr lang="zh-CN" altLang="en-US" sz="2000" dirty="0">
                          <a:sym typeface="+mn-ea"/>
                        </a:rPr>
                        <a:t>宁夏高层次人才管理服务系统</a:t>
                      </a:r>
                      <a:endParaRPr lang="en-US" altLang="en-US" sz="2000" b="0" dirty="0">
                        <a:latin typeface="仿宋_GB2312" charset="0"/>
                        <a:ea typeface="仿宋_GB2312" charset="0"/>
                        <a:cs typeface="仿宋_GB2312"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第三级</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第三级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第三级</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rot="19800000">
            <a:off x="-7554595" y="-3768725"/>
            <a:ext cx="15746095" cy="5777865"/>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rot="19800000">
            <a:off x="-4252595" y="-82169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rot="19800000">
            <a:off x="2938145" y="4948555"/>
            <a:ext cx="12651740" cy="3895090"/>
          </a:xfrm>
          <a:prstGeom prst="roundRect">
            <a:avLst>
              <a:gd name="adj" fmla="val 50000"/>
            </a:avLst>
          </a:prstGeom>
          <a:solidFill>
            <a:schemeClr val="bg1">
              <a:lumMod val="9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rot="19800000">
            <a:off x="3461385" y="5701030"/>
            <a:ext cx="12651740" cy="1148715"/>
          </a:xfrm>
          <a:prstGeom prst="roundRect">
            <a:avLst>
              <a:gd name="adj" fmla="val 50000"/>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80035" y="262890"/>
            <a:ext cx="11639550" cy="6362700"/>
          </a:xfrm>
          <a:prstGeom prst="rect">
            <a:avLst/>
          </a:prstGeom>
          <a:noFill/>
          <a:ln>
            <a:solidFill>
              <a:srgbClr val="205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19800000">
            <a:off x="-2416028" y="6990065"/>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rot="19800000">
            <a:off x="10505587" y="-661050"/>
            <a:ext cx="4681220"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rot="19800000">
            <a:off x="10218885" y="-427376"/>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副标题 61"/>
          <p:cNvSpPr>
            <a:spLocks noGrp="1"/>
          </p:cNvSpPr>
          <p:nvPr>
            <p:ph type="subTitle" idx="1"/>
            <p:custDataLst>
              <p:tags r:id="rId2"/>
            </p:custDataLst>
          </p:nvPr>
        </p:nvSpPr>
        <p:spPr>
          <a:xfrm>
            <a:off x="69850" y="4591685"/>
            <a:ext cx="12192000" cy="1034415"/>
          </a:xfrm>
        </p:spPr>
        <p:txBody>
          <a:bodyPr>
            <a:noAutofit/>
          </a:bodyPr>
          <a:lstStyle/>
          <a:p>
            <a:pPr marL="0" indent="0" algn="ctr">
              <a:lnSpc>
                <a:spcPct val="100000"/>
              </a:lnSpc>
              <a:buNone/>
            </a:pPr>
            <a:r>
              <a:rPr lang="zh-CN" altLang="en-US" sz="4000" b="1">
                <a:solidFill>
                  <a:schemeClr val="tx1">
                    <a:lumMod val="75000"/>
                    <a:lumOff val="25000"/>
                  </a:schemeClr>
                </a:solidFill>
                <a:latin typeface="+mj-ea"/>
                <a:ea typeface="+mj-ea"/>
                <a:cs typeface="汉仪雅酷黑 95W" panose="020B0A04020202020204" charset="-122"/>
              </a:rPr>
              <a:t>不忘初心 砥砺前行</a:t>
            </a:r>
          </a:p>
        </p:txBody>
      </p:sp>
      <p:sp>
        <p:nvSpPr>
          <p:cNvPr id="9" name="文本框 8"/>
          <p:cNvSpPr txBox="1"/>
          <p:nvPr/>
        </p:nvSpPr>
        <p:spPr>
          <a:xfrm>
            <a:off x="3325178" y="5316220"/>
            <a:ext cx="5681345" cy="368300"/>
          </a:xfrm>
          <a:prstGeom prst="rect">
            <a:avLst/>
          </a:prstGeom>
          <a:noFill/>
        </p:spPr>
        <p:txBody>
          <a:bodyPr wrap="none" rtlCol="0">
            <a:spAutoFit/>
          </a:bodyPr>
          <a:lstStyle/>
          <a:p>
            <a:pPr algn="ctr"/>
            <a:r>
              <a:rPr lang="zh-CN" altLang="en-US" spc="500">
                <a:solidFill>
                  <a:schemeClr val="tx1">
                    <a:lumMod val="50000"/>
                    <a:lumOff val="50000"/>
                  </a:schemeClr>
                </a:solidFill>
                <a:uFillTx/>
              </a:rPr>
              <a:t>SIMPLE WORK SUMMARY REPORT</a:t>
            </a:r>
          </a:p>
        </p:txBody>
      </p:sp>
      <p:sp>
        <p:nvSpPr>
          <p:cNvPr id="2" name="圆角矩形 1"/>
          <p:cNvSpPr/>
          <p:nvPr/>
        </p:nvSpPr>
        <p:spPr>
          <a:xfrm rot="19800000">
            <a:off x="11057720" y="436967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rot="19800000">
            <a:off x="-2982448" y="6482065"/>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19800000">
            <a:off x="-3454570" y="6819508"/>
            <a:ext cx="5898515" cy="360000"/>
          </a:xfrm>
          <a:prstGeom prst="roundRect">
            <a:avLst>
              <a:gd name="adj" fmla="val 50000"/>
            </a:avLst>
          </a:prstGeom>
          <a:solidFill>
            <a:srgbClr val="EF9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rot="19800000">
            <a:off x="11139317" y="-189880"/>
            <a:ext cx="4681220" cy="360000"/>
          </a:xfrm>
          <a:prstGeom prst="roundRect">
            <a:avLst>
              <a:gd name="adj" fmla="val 50000"/>
            </a:avLst>
          </a:prstGeom>
          <a:solidFill>
            <a:srgbClr val="205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rot="19800000">
            <a:off x="13986340" y="2404988"/>
            <a:ext cx="5898515" cy="3600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19800000">
            <a:off x="-4030820" y="352058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rot="19800000">
            <a:off x="10530365" y="2076590"/>
            <a:ext cx="5898515" cy="1080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048000" y="1005205"/>
            <a:ext cx="6096000" cy="922020"/>
          </a:xfrm>
          <a:prstGeom prst="rect">
            <a:avLst/>
          </a:prstGeom>
          <a:noFill/>
        </p:spPr>
        <p:txBody>
          <a:bodyPr wrap="square" rtlCol="0" anchor="t">
            <a:spAutoFit/>
          </a:bodyPr>
          <a:lstStyle/>
          <a:p>
            <a:r>
              <a:rPr lang="zh-CN" altLang="en-US" sz="5400" b="1" spc="400" dirty="0">
                <a:solidFill>
                  <a:schemeClr val="bg1"/>
                </a:solidFill>
                <a:latin typeface="微软雅黑" panose="020B0503020204020204" pitchFamily="34" charset="-122"/>
                <a:ea typeface="微软雅黑" panose="020B0503020204020204" pitchFamily="34" charset="-122"/>
                <a:sym typeface="+mn-ea"/>
              </a:rPr>
              <a:t>谢 谢</a:t>
            </a:r>
          </a:p>
        </p:txBody>
      </p:sp>
      <p:sp>
        <p:nvSpPr>
          <p:cNvPr id="8" name="文本框 7"/>
          <p:cNvSpPr txBox="1"/>
          <p:nvPr/>
        </p:nvSpPr>
        <p:spPr>
          <a:xfrm>
            <a:off x="3021965" y="1845945"/>
            <a:ext cx="5960745" cy="1715135"/>
          </a:xfrm>
          <a:prstGeom prst="rect">
            <a:avLst/>
          </a:prstGeom>
          <a:noFill/>
        </p:spPr>
        <p:txBody>
          <a:bodyPr wrap="square" rtlCol="0" anchor="t">
            <a:noAutofit/>
          </a:bodyPr>
          <a:lstStyle/>
          <a:p>
            <a:pPr algn="ctr"/>
            <a:r>
              <a:rPr lang="zh-CN" altLang="en-US" sz="6000" b="1">
                <a:solidFill>
                  <a:schemeClr val="tx1">
                    <a:lumMod val="75000"/>
                    <a:lumOff val="25000"/>
                  </a:schemeClr>
                </a:solidFill>
                <a:latin typeface="+mj-ea"/>
                <a:ea typeface="+mj-ea"/>
                <a:cs typeface="汉仪雅酷黑 95W" panose="020B0A04020202020204" charset="-122"/>
                <a:sym typeface="+mn-ea"/>
              </a:rPr>
              <a:t>谢</a:t>
            </a:r>
            <a:r>
              <a:rPr lang="en-US" altLang="zh-CN" sz="6000" b="1">
                <a:solidFill>
                  <a:schemeClr val="tx1">
                    <a:lumMod val="75000"/>
                    <a:lumOff val="25000"/>
                  </a:schemeClr>
                </a:solidFill>
                <a:latin typeface="+mj-ea"/>
                <a:ea typeface="+mj-ea"/>
                <a:cs typeface="汉仪雅酷黑 95W" panose="020B0A04020202020204" charset="-122"/>
                <a:sym typeface="+mn-ea"/>
              </a:rPr>
              <a:t>    </a:t>
            </a:r>
            <a:r>
              <a:rPr lang="zh-CN" altLang="en-US" sz="6000" b="1">
                <a:solidFill>
                  <a:schemeClr val="tx1">
                    <a:lumMod val="75000"/>
                    <a:lumOff val="25000"/>
                  </a:schemeClr>
                </a:solidFill>
                <a:latin typeface="+mj-ea"/>
                <a:ea typeface="+mj-ea"/>
                <a:cs typeface="汉仪雅酷黑 95W" panose="020B0A04020202020204" charset="-122"/>
                <a:sym typeface="+mn-ea"/>
              </a:rPr>
              <a:t>谢</a:t>
            </a:r>
          </a:p>
          <a:p>
            <a:pPr algn="ctr"/>
            <a:r>
              <a:rPr lang="zh-CN" altLang="en-US" sz="6000" b="1">
                <a:solidFill>
                  <a:schemeClr val="tx1">
                    <a:lumMod val="75000"/>
                    <a:lumOff val="25000"/>
                  </a:schemeClr>
                </a:solidFill>
                <a:latin typeface="+mj-ea"/>
                <a:ea typeface="+mj-ea"/>
                <a:cs typeface="汉仪雅酷黑 95W" panose="020B0A04020202020204" charset="-122"/>
                <a:sym typeface="+mn-ea"/>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d7a8523c-357e-4e37-b1e7-5450d9cd35e8"/>
  <p:tag name="COMMONDATA" val="eyJjb3VudCI6MiwiaGRpZCI6ImU4ZjYwMzFiZWYxZDJkMDg1MDEyZGMxNjgxYmJhZmE3IiwidXNlckNvdW50Ijoy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205081_3"/>
  <p:tag name="KSO_WM_TEMPLATE_SUBCATEGORY" val="19"/>
  <p:tag name="KSO_WM_TEMPLATE_MASTER_TYPE" val="0"/>
  <p:tag name="KSO_WM_TEMPLATE_COLOR_TYPE" val="1"/>
  <p:tag name="KSO_WM_SLIDE_TYPE" val="contents"/>
  <p:tag name="KSO_WM_SLIDE_SUBTYPE" val="diag"/>
  <p:tag name="KSO_WM_SLIDE_ITEM_CNT" val="3"/>
  <p:tag name="KSO_WM_SLIDE_INDEX" val="3"/>
  <p:tag name="KSO_WM_DIAGRAM_GROUP_CODE" val="l1-1"/>
  <p:tag name="KSO_WM_SLIDE_DIAGTYPE" val="l"/>
  <p:tag name="KSO_WM_TAG_VERSION" val="1.0"/>
  <p:tag name="KSO_WM_BEAUTIFY_FLAG" val="#wm#"/>
  <p:tag name="KSO_WM_TEMPLATE_CATEGORY" val="custom"/>
  <p:tag name="KSO_WM_TEMPLATE_INDEX" val="20205081"/>
  <p:tag name="KSO_WM_SLIDE_LAYOUT" val="a_b_l"/>
  <p:tag name="KSO_WM_SLIDE_LAYOUT_CNT" val="1_1_1"/>
  <p:tag name="KSO_WM_UNIT_SHOW_EDIT_AREA_INDICATION" val="1"/>
</p:tagLst>
</file>

<file path=ppt/tags/tag67.xml><?xml version="1.0" encoding="utf-8"?>
<p:tagLst xmlns:a="http://schemas.openxmlformats.org/drawingml/2006/main" xmlns:r="http://schemas.openxmlformats.org/officeDocument/2006/relationships"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081_3*a*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081_3*b*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081_3*i*1"/>
  <p:tag name="KSO_WM_TEMPLATE_CATEGORY" val="custom"/>
  <p:tag name="KSO_WM_TEMPLATE_INDEX" val="20205081"/>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081_3*l_h_i*1_1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3*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081_3*l_h_i*1_2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081_3*l_h_f*1_2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081_3*l_h_i*1_3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081_3*l_h_f*1_3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081_3*i*2"/>
  <p:tag name="KSO_WM_TEMPLATE_CATEGORY" val="custom"/>
  <p:tag name="KSO_WM_TEMPLATE_INDEX" val="20205081"/>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03,&quot;width&quot;:6149}"/>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205081_3"/>
  <p:tag name="KSO_WM_TEMPLATE_SUBCATEGORY" val="19"/>
  <p:tag name="KSO_WM_TEMPLATE_MASTER_TYPE" val="0"/>
  <p:tag name="KSO_WM_TEMPLATE_COLOR_TYPE" val="1"/>
  <p:tag name="KSO_WM_SLIDE_TYPE" val="contents"/>
  <p:tag name="KSO_WM_SLIDE_SUBTYPE" val="diag"/>
  <p:tag name="KSO_WM_SLIDE_ITEM_CNT" val="3"/>
  <p:tag name="KSO_WM_SLIDE_INDEX" val="3"/>
  <p:tag name="KSO_WM_DIAGRAM_GROUP_CODE" val="l1-1"/>
  <p:tag name="KSO_WM_SLIDE_DIAGTYPE" val="l"/>
  <p:tag name="KSO_WM_TAG_VERSION" val="1.0"/>
  <p:tag name="KSO_WM_BEAUTIFY_FLAG" val="#wm#"/>
  <p:tag name="KSO_WM_TEMPLATE_CATEGORY" val="custom"/>
  <p:tag name="KSO_WM_TEMPLATE_INDEX" val="20205081"/>
  <p:tag name="KSO_WM_SLIDE_LAYOUT" val="a_b_l"/>
  <p:tag name="KSO_WM_SLIDE_LAYOUT_CNT" val="1_1_1"/>
  <p:tag name="KSO_WM_UNIT_SHOW_EDIT_AREA_INDICATION" val="1"/>
</p:tagLst>
</file>

<file path=ppt/tags/tag83.xml><?xml version="1.0" encoding="utf-8"?>
<p:tagLst xmlns:a="http://schemas.openxmlformats.org/drawingml/2006/main" xmlns:r="http://schemas.openxmlformats.org/officeDocument/2006/relationships"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081_3*a*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081_3*b*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081_3*i*1"/>
  <p:tag name="KSO_WM_TEMPLATE_CATEGORY" val="custom"/>
  <p:tag name="KSO_WM_TEMPLATE_INDEX" val="20205081"/>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081_3*l_h_i*1_1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3*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081_3*l_h_i*1_2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081_3*l_h_f*1_2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081_3*l_h_i*1_3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081_3*l_h_f*1_3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081_3*i*2"/>
  <p:tag name="KSO_WM_TEMPLATE_CATEGORY" val="custom"/>
  <p:tag name="KSO_WM_TEMPLATE_INDEX" val="20205081"/>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SLIDE_ID" val="custom20205081_3"/>
  <p:tag name="KSO_WM_TEMPLATE_SUBCATEGORY" val="19"/>
  <p:tag name="KSO_WM_TEMPLATE_MASTER_TYPE" val="0"/>
  <p:tag name="KSO_WM_TEMPLATE_COLOR_TYPE" val="1"/>
  <p:tag name="KSO_WM_SLIDE_TYPE" val="contents"/>
  <p:tag name="KSO_WM_SLIDE_SUBTYPE" val="diag"/>
  <p:tag name="KSO_WM_SLIDE_ITEM_CNT" val="3"/>
  <p:tag name="KSO_WM_SLIDE_INDEX" val="3"/>
  <p:tag name="KSO_WM_DIAGRAM_GROUP_CODE" val="l1-1"/>
  <p:tag name="KSO_WM_SLIDE_DIAGTYPE" val="l"/>
  <p:tag name="KSO_WM_TAG_VERSION" val="1.0"/>
  <p:tag name="KSO_WM_BEAUTIFY_FLAG" val="#wm#"/>
  <p:tag name="KSO_WM_TEMPLATE_CATEGORY" val="custom"/>
  <p:tag name="KSO_WM_TEMPLATE_INDEX" val="20205081"/>
  <p:tag name="KSO_WM_SLIDE_LAYOUT" val="a_b_l"/>
  <p:tag name="KSO_WM_SLIDE_LAYOUT_CNT" val="1_1_1"/>
  <p:tag name="KSO_WM_UNIT_SHOW_EDIT_AREA_INDICATION" val="1"/>
</p:tagLst>
</file>

<file path=ppt/tags/tag96.xml><?xml version="1.0" encoding="utf-8"?>
<p:tagLst xmlns:a="http://schemas.openxmlformats.org/drawingml/2006/main" xmlns:r="http://schemas.openxmlformats.org/officeDocument/2006/relationships"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081_3*a*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081_3*b*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081_3*i*1"/>
  <p:tag name="KSO_WM_TEMPLATE_CATEGORY" val="custom"/>
  <p:tag name="KSO_WM_TEMPLATE_INDEX" val="20205081"/>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081_3*l_h_i*1_1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3*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081_3*l_h_i*1_2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081_3*l_h_f*1_2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081_3*l_h_i*1_3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081_3*l_h_f*1_3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081_3*i*2"/>
  <p:tag name="KSO_WM_TEMPLATE_CATEGORY" val="custom"/>
  <p:tag name="KSO_WM_TEMPLATE_INDEX" val="20205081"/>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1.xml><?xml version="1.0" encoding="utf-8"?>
<p:tagLst xmlns:a="http://schemas.openxmlformats.org/drawingml/2006/main" xmlns:r="http://schemas.openxmlformats.org/officeDocument/2006/relationships" xmlns:p="http://schemas.openxmlformats.org/presentationml/2006/main">
  <p:tag name="KSO_WM_UNIT_TABLE_BEAUTIFY" val="smartTable{1ecd78d5-54e2-4f66-940d-9a4a0857ae42}"/>
  <p:tag name="TABLE_ENDDRAG_ORIGIN_RECT" val="504*193"/>
  <p:tag name="TABLE_ENDDRAG_RECT" val="263*226*504*193"/>
</p:tagLst>
</file>

<file path=ppt/tags/tag11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1420</Words>
  <Application>Microsoft Office PowerPoint</Application>
  <PresentationFormat>宽屏</PresentationFormat>
  <Paragraphs>118</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仿宋_GB2312</vt:lpstr>
      <vt:lpstr>宋体</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启智设计</dc:creator>
  <cp:lastModifiedBy>祥 包</cp:lastModifiedBy>
  <cp:revision>170</cp:revision>
  <dcterms:created xsi:type="dcterms:W3CDTF">2019-06-19T02:08:00Z</dcterms:created>
  <dcterms:modified xsi:type="dcterms:W3CDTF">2025-04-08T14:15:06Z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KSOTemplateUUID">
    <vt:lpwstr>v1.0_mb_i6E0kVYxaw1FLZy5Umr34w==</vt:lpwstr>
  </property>
  <property fmtid="{D5CDD505-2E9C-101B-9397-08002B2CF9AE}" pid="4" name="ICV">
    <vt:lpwstr>5C248E9584D94CEFAA05002B383D9CA8_13</vt:lpwstr>
  </property>
</Properties>
</file>
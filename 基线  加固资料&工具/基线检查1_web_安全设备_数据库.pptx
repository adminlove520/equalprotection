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4" r:id="rId2"/>
  </p:sldMasterIdLst>
  <p:notesMasterIdLst>
    <p:notesMasterId r:id="rId58"/>
  </p:notesMasterIdLst>
  <p:handoutMasterIdLst>
    <p:handoutMasterId r:id="rId59"/>
  </p:handoutMasterIdLst>
  <p:sldIdLst>
    <p:sldId id="293" r:id="rId3"/>
    <p:sldId id="314" r:id="rId4"/>
    <p:sldId id="426" r:id="rId5"/>
    <p:sldId id="364" r:id="rId6"/>
    <p:sldId id="371" r:id="rId7"/>
    <p:sldId id="401" r:id="rId8"/>
    <p:sldId id="402" r:id="rId9"/>
    <p:sldId id="403" r:id="rId10"/>
    <p:sldId id="404" r:id="rId11"/>
    <p:sldId id="372" r:id="rId12"/>
    <p:sldId id="373" r:id="rId13"/>
    <p:sldId id="374" r:id="rId14"/>
    <p:sldId id="375" r:id="rId15"/>
    <p:sldId id="376" r:id="rId16"/>
    <p:sldId id="377" r:id="rId17"/>
    <p:sldId id="378" r:id="rId18"/>
    <p:sldId id="379" r:id="rId19"/>
    <p:sldId id="380" r:id="rId20"/>
    <p:sldId id="381" r:id="rId21"/>
    <p:sldId id="382" r:id="rId22"/>
    <p:sldId id="383" r:id="rId23"/>
    <p:sldId id="384" r:id="rId24"/>
    <p:sldId id="385" r:id="rId25"/>
    <p:sldId id="386" r:id="rId26"/>
    <p:sldId id="405" r:id="rId27"/>
    <p:sldId id="387" r:id="rId28"/>
    <p:sldId id="388" r:id="rId29"/>
    <p:sldId id="389" r:id="rId30"/>
    <p:sldId id="390" r:id="rId31"/>
    <p:sldId id="391" r:id="rId32"/>
    <p:sldId id="392" r:id="rId33"/>
    <p:sldId id="393" r:id="rId34"/>
    <p:sldId id="394" r:id="rId35"/>
    <p:sldId id="395" r:id="rId36"/>
    <p:sldId id="396" r:id="rId37"/>
    <p:sldId id="397" r:id="rId38"/>
    <p:sldId id="398" r:id="rId39"/>
    <p:sldId id="406" r:id="rId40"/>
    <p:sldId id="407" r:id="rId41"/>
    <p:sldId id="408" r:id="rId42"/>
    <p:sldId id="409" r:id="rId43"/>
    <p:sldId id="410" r:id="rId44"/>
    <p:sldId id="411" r:id="rId45"/>
    <p:sldId id="412" r:id="rId46"/>
    <p:sldId id="414" r:id="rId47"/>
    <p:sldId id="415" r:id="rId48"/>
    <p:sldId id="416" r:id="rId49"/>
    <p:sldId id="417" r:id="rId50"/>
    <p:sldId id="418" r:id="rId51"/>
    <p:sldId id="419" r:id="rId52"/>
    <p:sldId id="420" r:id="rId53"/>
    <p:sldId id="421" r:id="rId54"/>
    <p:sldId id="422" r:id="rId55"/>
    <p:sldId id="423" r:id="rId56"/>
    <p:sldId id="303" r:id="rId57"/>
  </p:sldIdLst>
  <p:sldSz cx="18291175" cy="10290175"/>
  <p:notesSz cx="6858000" cy="9144000"/>
  <p:defaultTextStyle>
    <a:defPPr>
      <a:defRPr lang="zh-CN"/>
    </a:defPPr>
    <a:lvl1pPr algn="l" rtl="0" fontAlgn="base">
      <a:spcBef>
        <a:spcPct val="0"/>
      </a:spcBef>
      <a:spcAft>
        <a:spcPct val="0"/>
      </a:spcAft>
      <a:defRPr kern="1200">
        <a:solidFill>
          <a:schemeClr val="tx1"/>
        </a:solidFill>
        <a:latin typeface="Arial" panose="02080604020202020204" charset="0"/>
        <a:ea typeface="宋体" charset="-122"/>
        <a:cs typeface="+mn-cs"/>
      </a:defRPr>
    </a:lvl1pPr>
    <a:lvl2pPr marL="914400" indent="-457200" algn="l" rtl="0" fontAlgn="base">
      <a:spcBef>
        <a:spcPct val="0"/>
      </a:spcBef>
      <a:spcAft>
        <a:spcPct val="0"/>
      </a:spcAft>
      <a:defRPr kern="1200">
        <a:solidFill>
          <a:schemeClr val="tx1"/>
        </a:solidFill>
        <a:latin typeface="Arial" panose="02080604020202020204" charset="0"/>
        <a:ea typeface="宋体" charset="-122"/>
        <a:cs typeface="+mn-cs"/>
      </a:defRPr>
    </a:lvl2pPr>
    <a:lvl3pPr marL="1828800" indent="-914400" algn="l" rtl="0" fontAlgn="base">
      <a:spcBef>
        <a:spcPct val="0"/>
      </a:spcBef>
      <a:spcAft>
        <a:spcPct val="0"/>
      </a:spcAft>
      <a:defRPr kern="1200">
        <a:solidFill>
          <a:schemeClr val="tx1"/>
        </a:solidFill>
        <a:latin typeface="Arial" panose="02080604020202020204" charset="0"/>
        <a:ea typeface="宋体" charset="-122"/>
        <a:cs typeface="+mn-cs"/>
      </a:defRPr>
    </a:lvl3pPr>
    <a:lvl4pPr marL="2743200" indent="-1371600" algn="l" rtl="0" fontAlgn="base">
      <a:spcBef>
        <a:spcPct val="0"/>
      </a:spcBef>
      <a:spcAft>
        <a:spcPct val="0"/>
      </a:spcAft>
      <a:defRPr kern="1200">
        <a:solidFill>
          <a:schemeClr val="tx1"/>
        </a:solidFill>
        <a:latin typeface="Arial" panose="02080604020202020204" charset="0"/>
        <a:ea typeface="宋体" charset="-122"/>
        <a:cs typeface="+mn-cs"/>
      </a:defRPr>
    </a:lvl4pPr>
    <a:lvl5pPr marL="3657600" indent="-1828800" algn="l" rtl="0" fontAlgn="base">
      <a:spcBef>
        <a:spcPct val="0"/>
      </a:spcBef>
      <a:spcAft>
        <a:spcPct val="0"/>
      </a:spcAft>
      <a:defRPr kern="1200">
        <a:solidFill>
          <a:schemeClr val="tx1"/>
        </a:solidFill>
        <a:latin typeface="Arial" panose="02080604020202020204" charset="0"/>
        <a:ea typeface="宋体" charset="-122"/>
        <a:cs typeface="+mn-cs"/>
      </a:defRPr>
    </a:lvl5pPr>
    <a:lvl6pPr marL="2286000" algn="l" defTabSz="914400" rtl="0" eaLnBrk="1" latinLnBrk="0" hangingPunct="1">
      <a:defRPr kern="1200">
        <a:solidFill>
          <a:schemeClr val="tx1"/>
        </a:solidFill>
        <a:latin typeface="Arial" panose="02080604020202020204" charset="0"/>
        <a:ea typeface="宋体" charset="-122"/>
        <a:cs typeface="+mn-cs"/>
      </a:defRPr>
    </a:lvl6pPr>
    <a:lvl7pPr marL="2743200" algn="l" defTabSz="914400" rtl="0" eaLnBrk="1" latinLnBrk="0" hangingPunct="1">
      <a:defRPr kern="1200">
        <a:solidFill>
          <a:schemeClr val="tx1"/>
        </a:solidFill>
        <a:latin typeface="Arial" panose="02080604020202020204" charset="0"/>
        <a:ea typeface="宋体" charset="-122"/>
        <a:cs typeface="+mn-cs"/>
      </a:defRPr>
    </a:lvl7pPr>
    <a:lvl8pPr marL="3200400" algn="l" defTabSz="914400" rtl="0" eaLnBrk="1" latinLnBrk="0" hangingPunct="1">
      <a:defRPr kern="1200">
        <a:solidFill>
          <a:schemeClr val="tx1"/>
        </a:solidFill>
        <a:latin typeface="Arial" panose="02080604020202020204" charset="0"/>
        <a:ea typeface="宋体" charset="-122"/>
        <a:cs typeface="+mn-cs"/>
      </a:defRPr>
    </a:lvl8pPr>
    <a:lvl9pPr marL="3657600" algn="l" defTabSz="914400" rtl="0" eaLnBrk="1" latinLnBrk="0" hangingPunct="1">
      <a:defRPr kern="1200">
        <a:solidFill>
          <a:schemeClr val="tx1"/>
        </a:solidFill>
        <a:latin typeface="Arial" panose="02080604020202020204" charset="0"/>
        <a:ea typeface="宋体" charset="-122"/>
        <a:cs typeface="+mn-cs"/>
      </a:defRPr>
    </a:lvl9pPr>
  </p:defaultTextStyle>
  <p:extLst>
    <p:ext uri="{EFAFB233-063F-42B5-8137-9DF3F51BA10A}">
      <p15:sldGuideLst xmlns="" xmlns:p15="http://schemas.microsoft.com/office/powerpoint/2012/main">
        <p15:guide id="1" orient="horz" pos="3240">
          <p15:clr>
            <a:srgbClr val="A4A3A4"/>
          </p15:clr>
        </p15:guide>
        <p15:guide id="2" pos="5754">
          <p15:clr>
            <a:srgbClr val="A4A3A4"/>
          </p15:clr>
        </p15:guide>
      </p15:sldGuideLst>
    </p:ext>
    <p:ext uri="{2D200454-40CA-4A62-9FC3-DE9A4176ACB9}">
      <p15:notesGuideLst xmlns="" xmlns:p15="http://schemas.microsoft.com/office/powerpoint/2012/main">
        <p15:guide id="1" orient="horz" pos="2880">
          <p15:clr>
            <a:srgbClr val="A4A3A4"/>
          </p15:clr>
        </p15:guide>
        <p15:guide id="2" pos="215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85E5"/>
    <a:srgbClr val="585858"/>
    <a:srgbClr val="E2E2E2"/>
    <a:srgbClr val="514039"/>
    <a:srgbClr val="A29495"/>
    <a:srgbClr val="82302E"/>
    <a:srgbClr val="007DDA"/>
    <a:srgbClr val="158E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85656" autoAdjust="0"/>
  </p:normalViewPr>
  <p:slideViewPr>
    <p:cSldViewPr>
      <p:cViewPr varScale="1">
        <p:scale>
          <a:sx n="57" d="100"/>
          <a:sy n="57" d="100"/>
        </p:scale>
        <p:origin x="-566" y="-82"/>
      </p:cViewPr>
      <p:guideLst>
        <p:guide orient="horz" pos="3240"/>
        <p:guide pos="5754"/>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90" d="100"/>
          <a:sy n="90" d="100"/>
        </p:scale>
        <p:origin x="-3828" y="-120"/>
      </p:cViewPr>
      <p:guideLst>
        <p:guide orient="horz" pos="2880"/>
        <p:guide pos="215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66"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80604020202020204" charset="0"/>
                <a:ea typeface="宋体"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panose="02080604020202020204" charset="0"/>
                <a:ea typeface="宋体" charset="-122"/>
              </a:defRPr>
            </a:lvl1pPr>
          </a:lstStyle>
          <a:p>
            <a:pPr>
              <a:defRPr/>
            </a:pPr>
            <a:fld id="{2D00145A-D481-4CA0-899E-2D3A9E493B96}" type="datetimeFigureOut">
              <a:rPr lang="zh-CN" altLang="en-US"/>
              <a:t>2017/9/6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panose="02080604020202020204" charset="0"/>
                <a:ea typeface="宋体" charset="-122"/>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panose="02080604020202020204" charset="0"/>
                <a:ea typeface="宋体" charset="-122"/>
              </a:defRPr>
            </a:lvl1pPr>
          </a:lstStyle>
          <a:p>
            <a:pPr>
              <a:defRPr/>
            </a:pPr>
            <a:fld id="{5D005D11-8983-4357-988B-AF54D25B6D2B}" type="slidenum">
              <a:rPr lang="zh-CN" altLang="en-US"/>
              <a:t>‹#›</a:t>
            </a:fld>
            <a:endParaRPr lang="zh-CN" altLang="en-US"/>
          </a:p>
        </p:txBody>
      </p:sp>
    </p:spTree>
    <p:extLst>
      <p:ext uri="{BB962C8B-B14F-4D97-AF65-F5344CB8AC3E}">
        <p14:creationId xmlns:p14="http://schemas.microsoft.com/office/powerpoint/2010/main" val="19773902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80604020202020204" charset="0"/>
                <a:ea typeface="宋体" charset="-122"/>
              </a:defRPr>
            </a:lvl1pPr>
          </a:lstStyle>
          <a:p>
            <a:pPr>
              <a:defRPr/>
            </a:pPr>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80604020202020204" charset="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80604020202020204" charset="0"/>
                <a:ea typeface="宋体" charset="-122"/>
              </a:defRPr>
            </a:lvl1pPr>
          </a:lstStyle>
          <a:p>
            <a:pPr>
              <a:defRPr/>
            </a:pPr>
            <a:fld id="{B4ACADD8-74C2-4C9C-8231-32084DCD8380}" type="slidenum">
              <a:rPr lang="zh-CN" altLang="en-US"/>
              <a:t>‹#›</a:t>
            </a:fld>
            <a:endParaRPr lang="zh-CN" altLang="en-US"/>
          </a:p>
        </p:txBody>
      </p:sp>
    </p:spTree>
    <p:extLst>
      <p:ext uri="{BB962C8B-B14F-4D97-AF65-F5344CB8AC3E}">
        <p14:creationId xmlns:p14="http://schemas.microsoft.com/office/powerpoint/2010/main" val="1715862171"/>
      </p:ext>
    </p:extLst>
  </p:cSld>
  <p:clrMap bg1="lt1" tx1="dk1" bg2="lt2" tx2="dk2" accent1="accent1" accent2="accent2" accent3="accent3" accent4="accent4" accent5="accent5" accent6="accent6" hlink="hlink" folHlink="folHlink"/>
  <p:notesStyle>
    <a:lvl1pPr algn="l" defTabSz="1828800" rtl="0" eaLnBrk="0" fontAlgn="base" hangingPunct="0">
      <a:spcBef>
        <a:spcPct val="30000"/>
      </a:spcBef>
      <a:spcAft>
        <a:spcPct val="0"/>
      </a:spcAft>
      <a:defRPr sz="2400" kern="1200">
        <a:solidFill>
          <a:srgbClr val="FF0000"/>
        </a:solidFill>
        <a:latin typeface="+mn-lt"/>
        <a:ea typeface="+mn-ea"/>
        <a:cs typeface="+mn-cs"/>
      </a:defRPr>
    </a:lvl1pPr>
    <a:lvl2pPr marL="914400" algn="l" defTabSz="1828800" rtl="0" eaLnBrk="0" fontAlgn="base" hangingPunct="0">
      <a:spcBef>
        <a:spcPct val="30000"/>
      </a:spcBef>
      <a:spcAft>
        <a:spcPct val="0"/>
      </a:spcAft>
      <a:defRPr sz="2400" kern="1200">
        <a:solidFill>
          <a:srgbClr val="FF0000"/>
        </a:solidFill>
        <a:latin typeface="+mn-lt"/>
        <a:ea typeface="+mn-ea"/>
        <a:cs typeface="+mn-cs"/>
      </a:defRPr>
    </a:lvl2pPr>
    <a:lvl3pPr marL="1828800" algn="l" defTabSz="1828800" rtl="0" eaLnBrk="0" fontAlgn="base" hangingPunct="0">
      <a:spcBef>
        <a:spcPct val="30000"/>
      </a:spcBef>
      <a:spcAft>
        <a:spcPct val="0"/>
      </a:spcAft>
      <a:defRPr sz="2400" kern="1200">
        <a:solidFill>
          <a:srgbClr val="FF0000"/>
        </a:solidFill>
        <a:latin typeface="+mn-lt"/>
        <a:ea typeface="+mn-ea"/>
        <a:cs typeface="+mn-cs"/>
      </a:defRPr>
    </a:lvl3pPr>
    <a:lvl4pPr marL="2743200" algn="l" defTabSz="1828800" rtl="0" eaLnBrk="0" fontAlgn="base" hangingPunct="0">
      <a:spcBef>
        <a:spcPct val="30000"/>
      </a:spcBef>
      <a:spcAft>
        <a:spcPct val="0"/>
      </a:spcAft>
      <a:defRPr sz="2400" kern="1200">
        <a:solidFill>
          <a:srgbClr val="FF0000"/>
        </a:solidFill>
        <a:latin typeface="+mn-lt"/>
        <a:ea typeface="+mn-ea"/>
        <a:cs typeface="+mn-cs"/>
      </a:defRPr>
    </a:lvl4pPr>
    <a:lvl5pPr marL="3657600" algn="l" defTabSz="1828800" rtl="0" eaLnBrk="0" fontAlgn="base" hangingPunct="0">
      <a:spcBef>
        <a:spcPct val="30000"/>
      </a:spcBef>
      <a:spcAft>
        <a:spcPct val="0"/>
      </a:spcAft>
      <a:defRPr sz="2400" kern="1200">
        <a:solidFill>
          <a:srgbClr val="FF0000"/>
        </a:solidFill>
        <a:latin typeface="+mn-lt"/>
        <a:ea typeface="+mn-ea"/>
        <a:cs typeface="+mn-cs"/>
      </a:defRPr>
    </a:lvl5pPr>
    <a:lvl6pPr marL="4572635" algn="l" defTabSz="1828800" rtl="0" eaLnBrk="1" latinLnBrk="0" hangingPunct="1">
      <a:defRPr sz="2400" kern="1200">
        <a:solidFill>
          <a:schemeClr val="tx1"/>
        </a:solidFill>
        <a:latin typeface="+mn-lt"/>
        <a:ea typeface="+mn-ea"/>
        <a:cs typeface="+mn-cs"/>
      </a:defRPr>
    </a:lvl6pPr>
    <a:lvl7pPr marL="5487670" algn="l" defTabSz="1828800" rtl="0" eaLnBrk="1" latinLnBrk="0" hangingPunct="1">
      <a:defRPr sz="2400" kern="1200">
        <a:solidFill>
          <a:schemeClr val="tx1"/>
        </a:solidFill>
        <a:latin typeface="+mn-lt"/>
        <a:ea typeface="+mn-ea"/>
        <a:cs typeface="+mn-cs"/>
      </a:defRPr>
    </a:lvl7pPr>
    <a:lvl8pPr marL="6402070" algn="l" defTabSz="1828800" rtl="0" eaLnBrk="1" latinLnBrk="0" hangingPunct="1">
      <a:defRPr sz="2400" kern="1200">
        <a:solidFill>
          <a:schemeClr val="tx1"/>
        </a:solidFill>
        <a:latin typeface="+mn-lt"/>
        <a:ea typeface="+mn-ea"/>
        <a:cs typeface="+mn-cs"/>
      </a:defRPr>
    </a:lvl8pPr>
    <a:lvl9pPr marL="731647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p:cNvSpPr>
          <p:nvPr>
            <p:ph type="sldImg"/>
          </p:nvPr>
        </p:nvSpPr>
        <p:spPr bwMode="auto">
          <a:noFill/>
          <a:ln>
            <a:solidFill>
              <a:srgbClr val="000000"/>
            </a:solidFill>
            <a:miter lim="800000"/>
          </a:ln>
        </p:spPr>
      </p:sp>
      <p:sp>
        <p:nvSpPr>
          <p:cNvPr id="37890"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37891" name="灯片编号占位符 3"/>
          <p:cNvSpPr>
            <a:spLocks noGrp="1"/>
          </p:cNvSpPr>
          <p:nvPr>
            <p:ph type="sldNum" sz="quarter" idx="5"/>
          </p:nvPr>
        </p:nvSpPr>
        <p:spPr bwMode="auto">
          <a:noFill/>
          <a:ln>
            <a:miter lim="800000"/>
          </a:ln>
        </p:spPr>
        <p:txBody>
          <a:bodyPr wrap="square" numCol="1" anchorCtr="0" compatLnSpc="1"/>
          <a:lstStyle/>
          <a:p>
            <a:fld id="{9E51E711-2EF1-403A-BE34-5539849A3A2C}" type="slidenum">
              <a:rPr lang="zh-CN" altLang="en-US" smtClean="0">
                <a:latin typeface="Arial" panose="02080604020202020204" charset="0"/>
                <a:ea typeface="宋体" charset="-122"/>
              </a:rPr>
              <a:t>1</a:t>
            </a:fld>
            <a:endParaRPr lang="en-US" altLang="zh-CN">
              <a:latin typeface="Arial" panose="02080604020202020204" charset="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4</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5</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en-US" altLang="zh-CN" sz="2400" kern="1200" dirty="0" smtClean="0">
                <a:solidFill>
                  <a:srgbClr val="FF0000"/>
                </a:solidFill>
                <a:effectLst/>
                <a:latin typeface="+mn-lt"/>
                <a:ea typeface="+mn-ea"/>
                <a:cs typeface="+mn-cs"/>
              </a:rPr>
              <a:t>1. </a:t>
            </a:r>
            <a:r>
              <a:rPr lang="zh-CN" altLang="zh-CN" sz="2400" kern="1200" dirty="0" smtClean="0">
                <a:solidFill>
                  <a:srgbClr val="FF0000"/>
                </a:solidFill>
                <a:effectLst/>
                <a:latin typeface="+mn-lt"/>
                <a:ea typeface="+mn-ea"/>
                <a:cs typeface="+mn-cs"/>
              </a:rPr>
              <a:t>要求相关技术人员提供密码复杂度配置文件或者相应口令管理页面，查看口令复杂度配置；</a:t>
            </a:r>
          </a:p>
          <a:p>
            <a:r>
              <a:rPr lang="zh-CN" altLang="zh-CN" sz="2400" kern="1200" dirty="0" smtClean="0">
                <a:solidFill>
                  <a:srgbClr val="FF0000"/>
                </a:solidFill>
                <a:effectLst/>
                <a:latin typeface="+mn-lt"/>
                <a:ea typeface="+mn-ea"/>
                <a:cs typeface="+mn-cs"/>
              </a:rPr>
              <a:t>2. 开启创建账号功能；</a:t>
            </a:r>
          </a:p>
          <a:p>
            <a:r>
              <a:rPr lang="zh-CN" altLang="zh-CN" sz="2400" kern="1200" dirty="0" smtClean="0">
                <a:solidFill>
                  <a:srgbClr val="FF0000"/>
                </a:solidFill>
                <a:effectLst/>
                <a:latin typeface="+mn-lt"/>
                <a:ea typeface="+mn-ea"/>
                <a:cs typeface="+mn-cs"/>
              </a:rPr>
              <a:t>3. 采用简单的口令，进行账号注册，检查系统是否拒绝此类注册请求；</a:t>
            </a:r>
          </a:p>
          <a:p>
            <a:r>
              <a:rPr lang="en-US" altLang="zh-CN" sz="2400" kern="1200" dirty="0" smtClean="0">
                <a:solidFill>
                  <a:srgbClr val="FF0000"/>
                </a:solidFill>
                <a:effectLst/>
                <a:latin typeface="+mn-lt"/>
                <a:ea typeface="+mn-ea"/>
                <a:cs typeface="+mn-cs"/>
              </a:rPr>
              <a:t>4. </a:t>
            </a:r>
            <a:r>
              <a:rPr lang="zh-CN" altLang="zh-CN" sz="2400" kern="1200" dirty="0" smtClean="0">
                <a:solidFill>
                  <a:srgbClr val="FF0000"/>
                </a:solidFill>
                <a:effectLst/>
                <a:latin typeface="+mn-lt"/>
                <a:ea typeface="+mn-ea"/>
                <a:cs typeface="+mn-cs"/>
              </a:rPr>
              <a:t>使用符合系统规定的复杂的口令，进行账号注册，观察系统是否通过此类注册请求；</a:t>
            </a:r>
          </a:p>
          <a:p>
            <a:r>
              <a:rPr lang="en-US" altLang="zh-CN" sz="2400" kern="1200" dirty="0" smtClean="0">
                <a:solidFill>
                  <a:srgbClr val="FF0000"/>
                </a:solidFill>
                <a:effectLst/>
                <a:latin typeface="+mn-lt"/>
                <a:ea typeface="+mn-ea"/>
                <a:cs typeface="+mn-cs"/>
              </a:rPr>
              <a:t>5. </a:t>
            </a:r>
            <a:r>
              <a:rPr lang="zh-CN" altLang="zh-CN" sz="2400" kern="1200" dirty="0" smtClean="0">
                <a:solidFill>
                  <a:srgbClr val="FF0000"/>
                </a:solidFill>
                <a:effectLst/>
                <a:latin typeface="+mn-lt"/>
                <a:ea typeface="+mn-ea"/>
                <a:cs typeface="+mn-cs"/>
              </a:rPr>
              <a:t>使用成功注册的测试账号登录系统，进行口令修改操作，新的鉴别信息采用口令，验证系统是否拒绝此类口令修改操作；</a:t>
            </a:r>
          </a:p>
          <a:p>
            <a:r>
              <a:rPr lang="en-US" altLang="zh-CN" sz="2400" kern="1200" dirty="0" smtClean="0">
                <a:solidFill>
                  <a:srgbClr val="FF0000"/>
                </a:solidFill>
                <a:effectLst/>
                <a:latin typeface="+mn-lt"/>
                <a:ea typeface="+mn-ea"/>
                <a:cs typeface="+mn-cs"/>
              </a:rPr>
              <a:t>6. </a:t>
            </a:r>
            <a:r>
              <a:rPr lang="zh-CN" altLang="zh-CN" sz="2400" kern="1200" dirty="0" smtClean="0">
                <a:solidFill>
                  <a:srgbClr val="FF0000"/>
                </a:solidFill>
                <a:effectLst/>
                <a:latin typeface="+mn-lt"/>
                <a:ea typeface="+mn-ea"/>
                <a:cs typeface="+mn-cs"/>
              </a:rPr>
              <a:t>使用成功注册的测试账号登录系统，进行身份鉴别信息修改操作，新的口令采用符合系统规定，验证系统是否通过此类口令修改操作。</a:t>
            </a:r>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6</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7</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en-US" altLang="zh-CN" sz="2400" kern="1200" dirty="0" smtClean="0">
                <a:solidFill>
                  <a:srgbClr val="FF0000"/>
                </a:solidFill>
                <a:effectLst/>
                <a:latin typeface="+mn-lt"/>
                <a:ea typeface="+mn-ea"/>
                <a:cs typeface="+mn-cs"/>
              </a:rPr>
              <a:t>1. </a:t>
            </a:r>
            <a:r>
              <a:rPr lang="zh-CN" altLang="zh-CN" sz="2400" kern="1200" dirty="0" smtClean="0">
                <a:solidFill>
                  <a:srgbClr val="FF0000"/>
                </a:solidFill>
                <a:effectLst/>
                <a:latin typeface="+mn-lt"/>
                <a:ea typeface="+mn-ea"/>
                <a:cs typeface="+mn-cs"/>
              </a:rPr>
              <a:t>创建两个测试账号</a:t>
            </a:r>
            <a:r>
              <a:rPr lang="en-US" altLang="zh-CN" sz="2400" kern="1200" dirty="0" smtClean="0">
                <a:solidFill>
                  <a:srgbClr val="FF0000"/>
                </a:solidFill>
                <a:effectLst/>
                <a:latin typeface="+mn-lt"/>
                <a:ea typeface="+mn-ea"/>
                <a:cs typeface="+mn-cs"/>
              </a:rPr>
              <a:t>A</a:t>
            </a:r>
            <a:r>
              <a:rPr lang="zh-CN" altLang="zh-CN" sz="2400" kern="1200" dirty="0" smtClean="0">
                <a:solidFill>
                  <a:srgbClr val="FF0000"/>
                </a:solidFill>
                <a:effectLst/>
                <a:latin typeface="+mn-lt"/>
                <a:ea typeface="+mn-ea"/>
                <a:cs typeface="+mn-cs"/>
              </a:rPr>
              <a:t>和</a:t>
            </a:r>
            <a:r>
              <a:rPr lang="en-US" altLang="zh-CN" sz="2400" kern="1200" dirty="0" smtClean="0">
                <a:solidFill>
                  <a:srgbClr val="FF0000"/>
                </a:solidFill>
                <a:effectLst/>
                <a:latin typeface="+mn-lt"/>
                <a:ea typeface="+mn-ea"/>
                <a:cs typeface="+mn-cs"/>
              </a:rPr>
              <a:t>B</a:t>
            </a:r>
            <a:r>
              <a:rPr lang="zh-CN" altLang="zh-CN" sz="2400" kern="1200" dirty="0" smtClean="0">
                <a:solidFill>
                  <a:srgbClr val="FF0000"/>
                </a:solidFill>
                <a:effectLst/>
                <a:latin typeface="+mn-lt"/>
                <a:ea typeface="+mn-ea"/>
                <a:cs typeface="+mn-cs"/>
              </a:rPr>
              <a:t>，并保证账号功能正常；</a:t>
            </a:r>
          </a:p>
          <a:p>
            <a:r>
              <a:rPr lang="en-US" altLang="zh-CN" sz="2400" kern="1200" dirty="0" smtClean="0">
                <a:solidFill>
                  <a:srgbClr val="FF0000"/>
                </a:solidFill>
                <a:effectLst/>
                <a:latin typeface="+mn-lt"/>
                <a:ea typeface="+mn-ea"/>
                <a:cs typeface="+mn-cs"/>
              </a:rPr>
              <a:t>2. </a:t>
            </a:r>
            <a:r>
              <a:rPr lang="zh-CN" altLang="zh-CN" sz="2400" kern="1200" dirty="0" smtClean="0">
                <a:solidFill>
                  <a:srgbClr val="FF0000"/>
                </a:solidFill>
                <a:effectLst/>
                <a:latin typeface="+mn-lt"/>
                <a:ea typeface="+mn-ea"/>
                <a:cs typeface="+mn-cs"/>
              </a:rPr>
              <a:t>使用测试账号</a:t>
            </a:r>
            <a:r>
              <a:rPr lang="en-US" altLang="zh-CN" sz="2400" kern="1200" dirty="0" smtClean="0">
                <a:solidFill>
                  <a:srgbClr val="FF0000"/>
                </a:solidFill>
                <a:effectLst/>
                <a:latin typeface="+mn-lt"/>
                <a:ea typeface="+mn-ea"/>
                <a:cs typeface="+mn-cs"/>
              </a:rPr>
              <a:t>A</a:t>
            </a:r>
            <a:r>
              <a:rPr lang="zh-CN" altLang="zh-CN" sz="2400" kern="1200" dirty="0" smtClean="0">
                <a:solidFill>
                  <a:srgbClr val="FF0000"/>
                </a:solidFill>
                <a:effectLst/>
                <a:latin typeface="+mn-lt"/>
                <a:ea typeface="+mn-ea"/>
                <a:cs typeface="+mn-cs"/>
              </a:rPr>
              <a:t>登录系统，</a:t>
            </a:r>
            <a:r>
              <a:rPr lang="en-US" altLang="zh-CN" sz="2400" kern="1200" dirty="0" smtClean="0">
                <a:solidFill>
                  <a:srgbClr val="FF0000"/>
                </a:solidFill>
                <a:effectLst/>
                <a:latin typeface="+mn-lt"/>
                <a:ea typeface="+mn-ea"/>
                <a:cs typeface="+mn-cs"/>
              </a:rPr>
              <a:t>A</a:t>
            </a:r>
            <a:r>
              <a:rPr lang="zh-CN" altLang="zh-CN" sz="2400" kern="1200" dirty="0" smtClean="0">
                <a:solidFill>
                  <a:srgbClr val="FF0000"/>
                </a:solidFill>
                <a:effectLst/>
                <a:latin typeface="+mn-lt"/>
                <a:ea typeface="+mn-ea"/>
                <a:cs typeface="+mn-cs"/>
              </a:rPr>
              <a:t>通过认证后，进行测试操作；</a:t>
            </a:r>
          </a:p>
          <a:p>
            <a:r>
              <a:rPr lang="en-US" altLang="zh-CN" sz="2400" kern="1200" dirty="0" smtClean="0">
                <a:solidFill>
                  <a:srgbClr val="FF0000"/>
                </a:solidFill>
                <a:effectLst/>
                <a:latin typeface="+mn-lt"/>
                <a:ea typeface="+mn-ea"/>
                <a:cs typeface="+mn-cs"/>
              </a:rPr>
              <a:t>3. </a:t>
            </a:r>
            <a:r>
              <a:rPr lang="zh-CN" altLang="zh-CN" sz="2400" kern="1200" dirty="0" smtClean="0">
                <a:solidFill>
                  <a:srgbClr val="FF0000"/>
                </a:solidFill>
                <a:effectLst/>
                <a:latin typeface="+mn-lt"/>
                <a:ea typeface="+mn-ea"/>
                <a:cs typeface="+mn-cs"/>
              </a:rPr>
              <a:t>使用测试账号</a:t>
            </a:r>
            <a:r>
              <a:rPr lang="en-US" altLang="zh-CN" sz="2400" kern="1200" dirty="0" smtClean="0">
                <a:solidFill>
                  <a:srgbClr val="FF0000"/>
                </a:solidFill>
                <a:effectLst/>
                <a:latin typeface="+mn-lt"/>
                <a:ea typeface="+mn-ea"/>
                <a:cs typeface="+mn-cs"/>
              </a:rPr>
              <a:t>B</a:t>
            </a:r>
            <a:r>
              <a:rPr lang="zh-CN" altLang="zh-CN" sz="2400" kern="1200" dirty="0" smtClean="0">
                <a:solidFill>
                  <a:srgbClr val="FF0000"/>
                </a:solidFill>
                <a:effectLst/>
                <a:latin typeface="+mn-lt"/>
                <a:ea typeface="+mn-ea"/>
                <a:cs typeface="+mn-cs"/>
              </a:rPr>
              <a:t>进行认证操作，进行抓包，获取</a:t>
            </a:r>
            <a:r>
              <a:rPr lang="en-US" altLang="zh-CN" sz="2400" kern="1200" dirty="0" smtClean="0">
                <a:solidFill>
                  <a:srgbClr val="FF0000"/>
                </a:solidFill>
                <a:effectLst/>
                <a:latin typeface="+mn-lt"/>
                <a:ea typeface="+mn-ea"/>
                <a:cs typeface="+mn-cs"/>
              </a:rPr>
              <a:t>B</a:t>
            </a:r>
            <a:r>
              <a:rPr lang="zh-CN" altLang="zh-CN" sz="2400" kern="1200" dirty="0" smtClean="0">
                <a:solidFill>
                  <a:srgbClr val="FF0000"/>
                </a:solidFill>
                <a:effectLst/>
                <a:latin typeface="+mn-lt"/>
                <a:ea typeface="+mn-ea"/>
                <a:cs typeface="+mn-cs"/>
              </a:rPr>
              <a:t>的会话信息，将</a:t>
            </a:r>
            <a:r>
              <a:rPr lang="en-US" altLang="zh-CN" sz="2400" kern="1200" dirty="0" smtClean="0">
                <a:solidFill>
                  <a:srgbClr val="FF0000"/>
                </a:solidFill>
                <a:effectLst/>
                <a:latin typeface="+mn-lt"/>
                <a:ea typeface="+mn-ea"/>
                <a:cs typeface="+mn-cs"/>
              </a:rPr>
              <a:t>B</a:t>
            </a:r>
            <a:r>
              <a:rPr lang="zh-CN" altLang="zh-CN" sz="2400" kern="1200" dirty="0" smtClean="0">
                <a:solidFill>
                  <a:srgbClr val="FF0000"/>
                </a:solidFill>
                <a:effectLst/>
                <a:latin typeface="+mn-lt"/>
                <a:ea typeface="+mn-ea"/>
                <a:cs typeface="+mn-cs"/>
              </a:rPr>
              <a:t>的用户标识改为</a:t>
            </a:r>
            <a:r>
              <a:rPr lang="en-US" altLang="zh-CN" sz="2400" kern="1200" dirty="0" smtClean="0">
                <a:solidFill>
                  <a:srgbClr val="FF0000"/>
                </a:solidFill>
                <a:effectLst/>
                <a:latin typeface="+mn-lt"/>
                <a:ea typeface="+mn-ea"/>
                <a:cs typeface="+mn-cs"/>
              </a:rPr>
              <a:t>A</a:t>
            </a:r>
            <a:r>
              <a:rPr lang="zh-CN" altLang="zh-CN" sz="2400" kern="1200" dirty="0" smtClean="0">
                <a:solidFill>
                  <a:srgbClr val="FF0000"/>
                </a:solidFill>
                <a:effectLst/>
                <a:latin typeface="+mn-lt"/>
                <a:ea typeface="+mn-ea"/>
                <a:cs typeface="+mn-cs"/>
              </a:rPr>
              <a:t>的用户标识，提交访问，查看用户</a:t>
            </a:r>
            <a:r>
              <a:rPr lang="en-US" altLang="zh-CN" sz="2400" kern="1200" dirty="0" smtClean="0">
                <a:solidFill>
                  <a:srgbClr val="FF0000"/>
                </a:solidFill>
                <a:effectLst/>
                <a:latin typeface="+mn-lt"/>
                <a:ea typeface="+mn-ea"/>
                <a:cs typeface="+mn-cs"/>
              </a:rPr>
              <a:t>B</a:t>
            </a:r>
            <a:r>
              <a:rPr lang="zh-CN" altLang="zh-CN" sz="2400" kern="1200" dirty="0" smtClean="0">
                <a:solidFill>
                  <a:srgbClr val="FF0000"/>
                </a:solidFill>
                <a:effectLst/>
                <a:latin typeface="+mn-lt"/>
                <a:ea typeface="+mn-ea"/>
                <a:cs typeface="+mn-cs"/>
              </a:rPr>
              <a:t>是否可以未被授权地进入应用程序，冒充原先身份验证的用户</a:t>
            </a:r>
            <a:r>
              <a:rPr lang="en-US" altLang="zh-CN" sz="2400" kern="1200" dirty="0" smtClean="0">
                <a:solidFill>
                  <a:srgbClr val="FF0000"/>
                </a:solidFill>
                <a:effectLst/>
                <a:latin typeface="+mn-lt"/>
                <a:ea typeface="+mn-ea"/>
                <a:cs typeface="+mn-cs"/>
              </a:rPr>
              <a:t>A</a:t>
            </a:r>
            <a:r>
              <a:rPr lang="zh-CN" altLang="zh-CN" sz="2400" kern="1200" dirty="0" smtClean="0">
                <a:solidFill>
                  <a:srgbClr val="FF0000"/>
                </a:solidFill>
                <a:effectLst/>
                <a:latin typeface="+mn-lt"/>
                <a:ea typeface="+mn-ea"/>
                <a:cs typeface="+mn-cs"/>
              </a:rPr>
              <a:t>。</a:t>
            </a:r>
            <a:endParaRPr lang="en-US" altLang="zh-CN" sz="2400" kern="1200" dirty="0" smtClean="0">
              <a:solidFill>
                <a:srgbClr val="FF0000"/>
              </a:solidFill>
              <a:effectLst/>
              <a:latin typeface="+mn-lt"/>
              <a:ea typeface="+mn-ea"/>
              <a:cs typeface="+mn-cs"/>
            </a:endParaRPr>
          </a:p>
          <a:p>
            <a:r>
              <a:rPr lang="zh-CN" altLang="zh-CN" sz="2400" kern="1200" dirty="0" smtClean="0">
                <a:solidFill>
                  <a:srgbClr val="FF0000"/>
                </a:solidFill>
                <a:effectLst/>
                <a:latin typeface="+mn-lt"/>
                <a:ea typeface="+mn-ea"/>
                <a:cs typeface="+mn-cs"/>
              </a:rPr>
              <a:t>判定条件：</a:t>
            </a:r>
          </a:p>
          <a:p>
            <a:r>
              <a:rPr lang="en-US" altLang="zh-CN" sz="2400" kern="1200" dirty="0" smtClean="0">
                <a:solidFill>
                  <a:srgbClr val="FF0000"/>
                </a:solidFill>
                <a:effectLst/>
                <a:latin typeface="+mn-lt"/>
                <a:ea typeface="+mn-ea"/>
                <a:cs typeface="+mn-cs"/>
              </a:rPr>
              <a:t>1. </a:t>
            </a:r>
            <a:r>
              <a:rPr lang="zh-CN" altLang="zh-CN" sz="2400" kern="1200" dirty="0" smtClean="0">
                <a:solidFill>
                  <a:srgbClr val="FF0000"/>
                </a:solidFill>
                <a:effectLst/>
                <a:latin typeface="+mn-lt"/>
                <a:ea typeface="+mn-ea"/>
                <a:cs typeface="+mn-cs"/>
              </a:rPr>
              <a:t>服务器返回错误代码，用户</a:t>
            </a:r>
            <a:r>
              <a:rPr lang="en-US" altLang="zh-CN" sz="2400" kern="1200" dirty="0" smtClean="0">
                <a:solidFill>
                  <a:srgbClr val="FF0000"/>
                </a:solidFill>
                <a:effectLst/>
                <a:latin typeface="+mn-lt"/>
                <a:ea typeface="+mn-ea"/>
                <a:cs typeface="+mn-cs"/>
              </a:rPr>
              <a:t>B</a:t>
            </a:r>
            <a:r>
              <a:rPr lang="zh-CN" altLang="zh-CN" sz="2400" kern="1200" dirty="0" smtClean="0">
                <a:solidFill>
                  <a:srgbClr val="FF0000"/>
                </a:solidFill>
                <a:effectLst/>
                <a:latin typeface="+mn-lt"/>
                <a:ea typeface="+mn-ea"/>
                <a:cs typeface="+mn-cs"/>
              </a:rPr>
              <a:t>不可以进入应用程序；</a:t>
            </a:r>
          </a:p>
          <a:p>
            <a:r>
              <a:rPr lang="en-US" altLang="zh-CN" sz="2400" kern="1200" dirty="0" smtClean="0">
                <a:solidFill>
                  <a:srgbClr val="FF0000"/>
                </a:solidFill>
                <a:effectLst/>
                <a:latin typeface="+mn-lt"/>
                <a:ea typeface="+mn-ea"/>
                <a:cs typeface="+mn-cs"/>
              </a:rPr>
              <a:t>2. </a:t>
            </a:r>
            <a:r>
              <a:rPr lang="zh-CN" altLang="zh-CN" sz="2400" kern="1200" dirty="0" smtClean="0">
                <a:solidFill>
                  <a:srgbClr val="FF0000"/>
                </a:solidFill>
                <a:effectLst/>
                <a:latin typeface="+mn-lt"/>
                <a:ea typeface="+mn-ea"/>
                <a:cs typeface="+mn-cs"/>
              </a:rPr>
              <a:t>系统确保会话数据不能被非法访问、篡改。</a:t>
            </a:r>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8</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en-US" altLang="zh-CN" sz="2400" kern="1200" dirty="0" smtClean="0">
                <a:solidFill>
                  <a:srgbClr val="FF0000"/>
                </a:solidFill>
                <a:effectLst/>
                <a:latin typeface="+mn-lt"/>
                <a:ea typeface="+mn-ea"/>
                <a:cs typeface="+mn-cs"/>
              </a:rPr>
              <a:t>1. </a:t>
            </a:r>
            <a:r>
              <a:rPr lang="zh-CN" altLang="zh-CN" sz="2400" kern="1200" dirty="0" smtClean="0">
                <a:solidFill>
                  <a:srgbClr val="FF0000"/>
                </a:solidFill>
                <a:effectLst/>
                <a:latin typeface="+mn-lt"/>
                <a:ea typeface="+mn-ea"/>
                <a:cs typeface="+mn-cs"/>
              </a:rPr>
              <a:t>创建测试账号，并保证账号功能正常；</a:t>
            </a:r>
          </a:p>
          <a:p>
            <a:r>
              <a:rPr lang="en-US" altLang="zh-CN" sz="2400" kern="1200" dirty="0" smtClean="0">
                <a:solidFill>
                  <a:srgbClr val="FF0000"/>
                </a:solidFill>
                <a:effectLst/>
                <a:latin typeface="+mn-lt"/>
                <a:ea typeface="+mn-ea"/>
                <a:cs typeface="+mn-cs"/>
              </a:rPr>
              <a:t>2. </a:t>
            </a:r>
            <a:r>
              <a:rPr lang="zh-CN" altLang="zh-CN" sz="2400" kern="1200" dirty="0" smtClean="0">
                <a:solidFill>
                  <a:srgbClr val="FF0000"/>
                </a:solidFill>
                <a:effectLst/>
                <a:latin typeface="+mn-lt"/>
                <a:ea typeface="+mn-ea"/>
                <a:cs typeface="+mn-cs"/>
              </a:rPr>
              <a:t>使用测试账号登录，并进行测试操作；</a:t>
            </a:r>
          </a:p>
          <a:p>
            <a:r>
              <a:rPr lang="en-US" altLang="zh-CN" sz="2400" kern="1200" dirty="0" smtClean="0">
                <a:solidFill>
                  <a:srgbClr val="FF0000"/>
                </a:solidFill>
                <a:effectLst/>
                <a:latin typeface="+mn-lt"/>
                <a:ea typeface="+mn-ea"/>
                <a:cs typeface="+mn-cs"/>
              </a:rPr>
              <a:t>3. </a:t>
            </a:r>
            <a:r>
              <a:rPr lang="zh-CN" altLang="zh-CN" sz="2400" kern="1200" dirty="0" smtClean="0">
                <a:solidFill>
                  <a:srgbClr val="FF0000"/>
                </a:solidFill>
                <a:effectLst/>
                <a:latin typeface="+mn-lt"/>
                <a:ea typeface="+mn-ea"/>
                <a:cs typeface="+mn-cs"/>
              </a:rPr>
              <a:t>用户在客户端填写信息，提交给服务器，提交过程中通过抓包等方式，篡改信息内容（如用户个人信息中的手机号），查看服务器是否对用户输入的信息进行严格的验证。</a:t>
            </a:r>
            <a:endParaRPr lang="en-US" altLang="zh-CN" sz="2400" kern="1200" dirty="0" smtClean="0">
              <a:solidFill>
                <a:srgbClr val="FF0000"/>
              </a:solidFill>
              <a:effectLst/>
              <a:latin typeface="+mn-lt"/>
              <a:ea typeface="+mn-ea"/>
              <a:cs typeface="+mn-cs"/>
            </a:endParaRPr>
          </a:p>
          <a:p>
            <a:r>
              <a:rPr lang="zh-CN" altLang="zh-CN" sz="2400" kern="1200" dirty="0" smtClean="0">
                <a:solidFill>
                  <a:srgbClr val="FF0000"/>
                </a:solidFill>
                <a:effectLst/>
                <a:latin typeface="+mn-lt"/>
                <a:ea typeface="+mn-ea"/>
                <a:cs typeface="+mn-cs"/>
              </a:rPr>
              <a:t>判定条件：</a:t>
            </a:r>
          </a:p>
          <a:p>
            <a:r>
              <a:rPr lang="zh-CN" altLang="zh-CN" sz="2400" kern="1200" dirty="0" smtClean="0">
                <a:solidFill>
                  <a:srgbClr val="FF0000"/>
                </a:solidFill>
                <a:effectLst/>
                <a:latin typeface="+mn-lt"/>
                <a:ea typeface="+mn-ea"/>
                <a:cs typeface="+mn-cs"/>
              </a:rPr>
              <a:t>1. 当更新会话数据时，系统对数据进行了严格的输入验证，赋值不成功服务器端返回信息提交不成功信息。</a:t>
            </a:r>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9</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zh-CN" altLang="zh-CN" sz="2400" kern="1200" dirty="0" smtClean="0">
                <a:solidFill>
                  <a:srgbClr val="FF0000"/>
                </a:solidFill>
                <a:effectLst/>
                <a:latin typeface="+mn-lt"/>
                <a:ea typeface="+mn-ea"/>
                <a:cs typeface="+mn-cs"/>
              </a:rPr>
              <a:t>1. 创建测试账号，并保证账号功能正常；</a:t>
            </a:r>
          </a:p>
          <a:p>
            <a:r>
              <a:rPr lang="en-US" altLang="zh-CN" sz="2400" kern="1200" dirty="0" smtClean="0">
                <a:solidFill>
                  <a:srgbClr val="FF0000"/>
                </a:solidFill>
                <a:effectLst/>
                <a:latin typeface="+mn-lt"/>
                <a:ea typeface="+mn-ea"/>
                <a:cs typeface="+mn-cs"/>
              </a:rPr>
              <a:t>2. </a:t>
            </a:r>
            <a:r>
              <a:rPr lang="zh-CN" altLang="zh-CN" sz="2400" kern="1200" dirty="0" smtClean="0">
                <a:solidFill>
                  <a:srgbClr val="FF0000"/>
                </a:solidFill>
                <a:effectLst/>
                <a:latin typeface="+mn-lt"/>
                <a:ea typeface="+mn-ea"/>
                <a:cs typeface="+mn-cs"/>
              </a:rPr>
              <a:t>使用测试账号进行重复认证；</a:t>
            </a:r>
          </a:p>
          <a:p>
            <a:r>
              <a:rPr lang="en-US" altLang="zh-CN" sz="2400" kern="1200" dirty="0" smtClean="0">
                <a:solidFill>
                  <a:srgbClr val="FF0000"/>
                </a:solidFill>
                <a:effectLst/>
                <a:latin typeface="+mn-lt"/>
                <a:ea typeface="+mn-ea"/>
                <a:cs typeface="+mn-cs"/>
              </a:rPr>
              <a:t>3. </a:t>
            </a:r>
            <a:r>
              <a:rPr lang="zh-CN" altLang="zh-CN" sz="2400" kern="1200" dirty="0" smtClean="0">
                <a:solidFill>
                  <a:srgbClr val="FF0000"/>
                </a:solidFill>
                <a:effectLst/>
                <a:latin typeface="+mn-lt"/>
                <a:ea typeface="+mn-ea"/>
                <a:cs typeface="+mn-cs"/>
              </a:rPr>
              <a:t>验证测试账号认证成功后，系统是否为用户分配新的会话标识。</a:t>
            </a:r>
            <a:endParaRPr lang="en-US" altLang="zh-CN" sz="2400" kern="1200" dirty="0" smtClean="0">
              <a:solidFill>
                <a:srgbClr val="FF0000"/>
              </a:solidFill>
              <a:effectLst/>
              <a:latin typeface="+mn-lt"/>
              <a:ea typeface="+mn-ea"/>
              <a:cs typeface="+mn-cs"/>
            </a:endParaRPr>
          </a:p>
          <a:p>
            <a:r>
              <a:rPr lang="zh-CN" altLang="zh-CN" sz="2400" kern="1200" dirty="0" smtClean="0">
                <a:solidFill>
                  <a:srgbClr val="FF0000"/>
                </a:solidFill>
                <a:effectLst/>
                <a:latin typeface="+mn-lt"/>
                <a:ea typeface="+mn-ea"/>
                <a:cs typeface="+mn-cs"/>
              </a:rPr>
              <a:t>判定条件：</a:t>
            </a:r>
          </a:p>
          <a:p>
            <a:r>
              <a:rPr lang="zh-CN" altLang="zh-CN" sz="2400" kern="1200" dirty="0" smtClean="0">
                <a:solidFill>
                  <a:srgbClr val="FF0000"/>
                </a:solidFill>
                <a:effectLst/>
                <a:latin typeface="+mn-lt"/>
                <a:ea typeface="+mn-ea"/>
                <a:cs typeface="+mn-cs"/>
              </a:rPr>
              <a:t>1. 用户每次认证成功后，系统为用户创建新的会话标识，与用户之前登录所使用的会话标识不同。</a:t>
            </a:r>
            <a:r>
              <a:rPr lang="zh-CN" altLang="en-US" sz="2400" kern="1200" dirty="0" smtClean="0">
                <a:solidFill>
                  <a:srgbClr val="FF0000"/>
                </a:solidFill>
                <a:effectLst/>
                <a:latin typeface="+mn-lt"/>
                <a:ea typeface="+mn-ea"/>
                <a:cs typeface="+mn-cs"/>
              </a:rPr>
              <a:t>则测试通过。</a:t>
            </a:r>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10</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en-US" dirty="0" smtClean="0"/>
              <a:t>检测方法：</a:t>
            </a:r>
          </a:p>
          <a:p>
            <a:r>
              <a:rPr lang="en-US" altLang="zh-CN" dirty="0" smtClean="0"/>
              <a:t>1. </a:t>
            </a:r>
            <a:r>
              <a:rPr lang="zh-CN" altLang="en-US" dirty="0" smtClean="0"/>
              <a:t>创建测试账号，并保证账号功能正常；</a:t>
            </a:r>
          </a:p>
          <a:p>
            <a:r>
              <a:rPr lang="en-US" altLang="zh-CN" dirty="0" smtClean="0"/>
              <a:t>2. </a:t>
            </a:r>
            <a:r>
              <a:rPr lang="zh-CN" altLang="en-US" dirty="0" smtClean="0"/>
              <a:t>使用测试账号登录系统；</a:t>
            </a:r>
          </a:p>
          <a:p>
            <a:r>
              <a:rPr lang="en-US" altLang="zh-CN" dirty="0" smtClean="0"/>
              <a:t>3. </a:t>
            </a:r>
            <a:r>
              <a:rPr lang="zh-CN" altLang="en-US" dirty="0" smtClean="0"/>
              <a:t>观察</a:t>
            </a:r>
            <a:r>
              <a:rPr lang="en-US" altLang="zh-CN" dirty="0" smtClean="0"/>
              <a:t>WEB</a:t>
            </a:r>
            <a:r>
              <a:rPr lang="zh-CN" altLang="en-US" dirty="0" smtClean="0"/>
              <a:t>应用系统的各个页面是否提供用户登出功能；</a:t>
            </a:r>
          </a:p>
          <a:p>
            <a:r>
              <a:rPr lang="en-US" altLang="zh-CN" dirty="0" smtClean="0"/>
              <a:t>4. </a:t>
            </a:r>
            <a:r>
              <a:rPr lang="zh-CN" altLang="en-US" dirty="0" smtClean="0"/>
              <a:t>使用测试账号登出时，验证系统是否立即删除服务器端的会话数据；</a:t>
            </a:r>
          </a:p>
          <a:p>
            <a:r>
              <a:rPr lang="en-US" altLang="zh-CN" dirty="0" smtClean="0"/>
              <a:t>5. </a:t>
            </a:r>
            <a:r>
              <a:rPr lang="zh-CN" altLang="en-US" dirty="0" smtClean="0"/>
              <a:t>使用测试账号重新登录后，直接关闭浏览器；</a:t>
            </a:r>
          </a:p>
          <a:p>
            <a:r>
              <a:rPr lang="en-US" altLang="zh-CN" dirty="0" smtClean="0"/>
              <a:t>6. </a:t>
            </a:r>
            <a:r>
              <a:rPr lang="zh-CN" altLang="en-US" dirty="0" smtClean="0"/>
              <a:t>验证系统是否提示用户执行安全登出或者自动为用户完成登出操作。退出后重新登录</a:t>
            </a:r>
            <a:r>
              <a:rPr lang="en-US" altLang="zh-CN" dirty="0" smtClean="0"/>
              <a:t>,</a:t>
            </a:r>
            <a:r>
              <a:rPr lang="zh-CN" altLang="en-US" dirty="0" smtClean="0"/>
              <a:t>查看是否有上次登录的会话信息。具体参考“</a:t>
            </a:r>
            <a:r>
              <a:rPr lang="en-US" altLang="zh-CN" dirty="0" smtClean="0"/>
              <a:t>4 </a:t>
            </a:r>
            <a:r>
              <a:rPr lang="zh-CN" altLang="en-US" dirty="0" smtClean="0"/>
              <a:t>检查方法”一节。</a:t>
            </a:r>
            <a:endParaRPr lang="en-US" altLang="zh-CN" dirty="0" smtClean="0"/>
          </a:p>
          <a:p>
            <a:endParaRPr lang="en-US" altLang="zh-CN" dirty="0" smtClean="0"/>
          </a:p>
          <a:p>
            <a:endParaRPr lang="en-US" altLang="zh-CN" dirty="0" smtClean="0"/>
          </a:p>
          <a:p>
            <a:r>
              <a:rPr lang="zh-CN" altLang="zh-CN" sz="2400" kern="1200" dirty="0" smtClean="0">
                <a:solidFill>
                  <a:srgbClr val="FF0000"/>
                </a:solidFill>
                <a:effectLst/>
                <a:latin typeface="+mn-lt"/>
                <a:ea typeface="+mn-ea"/>
                <a:cs typeface="+mn-cs"/>
              </a:rPr>
              <a:t>判定条件：</a:t>
            </a:r>
          </a:p>
          <a:p>
            <a:r>
              <a:rPr lang="en-US" altLang="zh-CN" sz="2400" kern="1200" dirty="0" smtClean="0">
                <a:solidFill>
                  <a:srgbClr val="FF0000"/>
                </a:solidFill>
                <a:effectLst/>
                <a:latin typeface="+mn-lt"/>
                <a:ea typeface="+mn-ea"/>
                <a:cs typeface="+mn-cs"/>
              </a:rPr>
              <a:t>1. </a:t>
            </a:r>
            <a:r>
              <a:rPr lang="zh-CN" altLang="zh-CN" sz="2400" kern="1200" dirty="0" smtClean="0">
                <a:solidFill>
                  <a:srgbClr val="FF0000"/>
                </a:solidFill>
                <a:effectLst/>
                <a:latin typeface="+mn-lt"/>
                <a:ea typeface="+mn-ea"/>
                <a:cs typeface="+mn-cs"/>
              </a:rPr>
              <a:t>当用户登录成功并成功创建会话后，在</a:t>
            </a:r>
            <a:r>
              <a:rPr lang="en-US" altLang="zh-CN" sz="2400" kern="1200" dirty="0" smtClean="0">
                <a:solidFill>
                  <a:srgbClr val="FF0000"/>
                </a:solidFill>
                <a:effectLst/>
                <a:latin typeface="+mn-lt"/>
                <a:ea typeface="+mn-ea"/>
                <a:cs typeface="+mn-cs"/>
              </a:rPr>
              <a:t>WEB</a:t>
            </a:r>
            <a:r>
              <a:rPr lang="zh-CN" altLang="zh-CN" sz="2400" kern="1200" dirty="0" smtClean="0">
                <a:solidFill>
                  <a:srgbClr val="FF0000"/>
                </a:solidFill>
                <a:effectLst/>
                <a:latin typeface="+mn-lt"/>
                <a:ea typeface="+mn-ea"/>
                <a:cs typeface="+mn-cs"/>
              </a:rPr>
              <a:t>应用系统的各个页面提供用户登出功能；</a:t>
            </a:r>
          </a:p>
          <a:p>
            <a:r>
              <a:rPr lang="en-US" altLang="zh-CN" sz="2400" kern="1200" dirty="0" smtClean="0">
                <a:solidFill>
                  <a:srgbClr val="FF0000"/>
                </a:solidFill>
                <a:effectLst/>
                <a:latin typeface="+mn-lt"/>
                <a:ea typeface="+mn-ea"/>
                <a:cs typeface="+mn-cs"/>
              </a:rPr>
              <a:t>2. </a:t>
            </a:r>
            <a:r>
              <a:rPr lang="zh-CN" altLang="zh-CN" sz="2400" kern="1200" dirty="0" smtClean="0">
                <a:solidFill>
                  <a:srgbClr val="FF0000"/>
                </a:solidFill>
                <a:effectLst/>
                <a:latin typeface="+mn-lt"/>
                <a:ea typeface="+mn-ea"/>
                <a:cs typeface="+mn-cs"/>
              </a:rPr>
              <a:t>登出时会立即删除服务器端的会话数据；</a:t>
            </a:r>
          </a:p>
          <a:p>
            <a:r>
              <a:rPr lang="en-US" altLang="zh-CN" sz="2400" kern="1200" dirty="0" smtClean="0">
                <a:solidFill>
                  <a:srgbClr val="FF0000"/>
                </a:solidFill>
                <a:effectLst/>
                <a:latin typeface="+mn-lt"/>
                <a:ea typeface="+mn-ea"/>
                <a:cs typeface="+mn-cs"/>
              </a:rPr>
              <a:t>3. </a:t>
            </a:r>
            <a:r>
              <a:rPr lang="zh-CN" altLang="zh-CN" sz="2400" kern="1200" dirty="0" smtClean="0">
                <a:solidFill>
                  <a:srgbClr val="FF0000"/>
                </a:solidFill>
                <a:effectLst/>
                <a:latin typeface="+mn-lt"/>
                <a:ea typeface="+mn-ea"/>
                <a:cs typeface="+mn-cs"/>
              </a:rPr>
              <a:t>当处于登录状态的用户直接关闭浏览器时，提示用户执行安全登出或者自动为用户完成登出操作。</a:t>
            </a:r>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11</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en-US" altLang="zh-CN" sz="2400" kern="1200" dirty="0" smtClean="0">
                <a:solidFill>
                  <a:srgbClr val="FF0000"/>
                </a:solidFill>
                <a:effectLst/>
                <a:latin typeface="+mn-lt"/>
                <a:ea typeface="+mn-ea"/>
                <a:cs typeface="+mn-cs"/>
              </a:rPr>
              <a:t>1. </a:t>
            </a:r>
            <a:r>
              <a:rPr lang="zh-CN" altLang="zh-CN" sz="2400" kern="1200" dirty="0" smtClean="0">
                <a:solidFill>
                  <a:srgbClr val="FF0000"/>
                </a:solidFill>
                <a:effectLst/>
                <a:latin typeface="+mn-lt"/>
                <a:ea typeface="+mn-ea"/>
                <a:cs typeface="+mn-cs"/>
              </a:rPr>
              <a:t>询问系统是否设置了合理的会话超时阈值；</a:t>
            </a:r>
          </a:p>
          <a:p>
            <a:r>
              <a:rPr lang="en-US" altLang="zh-CN" sz="2400" kern="1200" dirty="0" smtClean="0">
                <a:solidFill>
                  <a:srgbClr val="FF0000"/>
                </a:solidFill>
                <a:effectLst/>
                <a:latin typeface="+mn-lt"/>
                <a:ea typeface="+mn-ea"/>
                <a:cs typeface="+mn-cs"/>
              </a:rPr>
              <a:t>2. </a:t>
            </a:r>
            <a:r>
              <a:rPr lang="zh-CN" altLang="zh-CN" sz="2400" kern="1200" dirty="0" smtClean="0">
                <a:solidFill>
                  <a:srgbClr val="FF0000"/>
                </a:solidFill>
                <a:effectLst/>
                <a:latin typeface="+mn-lt"/>
                <a:ea typeface="+mn-ea"/>
                <a:cs typeface="+mn-cs"/>
              </a:rPr>
              <a:t>创建测试账号，并保证账号功能正常；</a:t>
            </a:r>
          </a:p>
          <a:p>
            <a:r>
              <a:rPr lang="en-US" altLang="zh-CN" sz="2400" kern="1200" dirty="0" smtClean="0">
                <a:solidFill>
                  <a:srgbClr val="FF0000"/>
                </a:solidFill>
                <a:effectLst/>
                <a:latin typeface="+mn-lt"/>
                <a:ea typeface="+mn-ea"/>
                <a:cs typeface="+mn-cs"/>
              </a:rPr>
              <a:t>3. </a:t>
            </a:r>
            <a:r>
              <a:rPr lang="zh-CN" altLang="zh-CN" sz="2400" kern="1200" dirty="0" smtClean="0">
                <a:solidFill>
                  <a:srgbClr val="FF0000"/>
                </a:solidFill>
                <a:effectLst/>
                <a:latin typeface="+mn-lt"/>
                <a:ea typeface="+mn-ea"/>
                <a:cs typeface="+mn-cs"/>
              </a:rPr>
              <a:t>使用测试账号创建会话；</a:t>
            </a:r>
          </a:p>
          <a:p>
            <a:r>
              <a:rPr lang="en-US" altLang="zh-CN" sz="2400" kern="1200" dirty="0" smtClean="0">
                <a:solidFill>
                  <a:srgbClr val="FF0000"/>
                </a:solidFill>
                <a:effectLst/>
                <a:latin typeface="+mn-lt"/>
                <a:ea typeface="+mn-ea"/>
                <a:cs typeface="+mn-cs"/>
              </a:rPr>
              <a:t>4. </a:t>
            </a:r>
            <a:r>
              <a:rPr lang="zh-CN" altLang="zh-CN" sz="2400" kern="1200" dirty="0" smtClean="0">
                <a:solidFill>
                  <a:srgbClr val="FF0000"/>
                </a:solidFill>
                <a:effectLst/>
                <a:latin typeface="+mn-lt"/>
                <a:ea typeface="+mn-ea"/>
                <a:cs typeface="+mn-cs"/>
              </a:rPr>
              <a:t>长时间不进行操作，达到系统设置的会话超时阈值后，验证系统是否立刻清除会话。</a:t>
            </a:r>
            <a:endParaRPr lang="en-US" altLang="zh-CN" sz="2400" kern="1200" dirty="0" smtClean="0">
              <a:solidFill>
                <a:srgbClr val="FF0000"/>
              </a:solidFill>
              <a:effectLst/>
              <a:latin typeface="+mn-lt"/>
              <a:ea typeface="+mn-ea"/>
              <a:cs typeface="+mn-cs"/>
            </a:endParaRPr>
          </a:p>
          <a:p>
            <a:r>
              <a:rPr lang="zh-CN" altLang="zh-CN" sz="2400" kern="1200" dirty="0" smtClean="0">
                <a:solidFill>
                  <a:srgbClr val="FF0000"/>
                </a:solidFill>
                <a:effectLst/>
                <a:latin typeface="+mn-lt"/>
                <a:ea typeface="+mn-ea"/>
                <a:cs typeface="+mn-cs"/>
              </a:rPr>
              <a:t>判定条件：</a:t>
            </a:r>
          </a:p>
          <a:p>
            <a:r>
              <a:rPr lang="zh-CN" altLang="zh-CN" sz="2400" kern="1200" dirty="0" smtClean="0">
                <a:solidFill>
                  <a:srgbClr val="FF0000"/>
                </a:solidFill>
                <a:effectLst/>
                <a:latin typeface="+mn-lt"/>
                <a:ea typeface="+mn-ea"/>
                <a:cs typeface="+mn-cs"/>
              </a:rPr>
              <a:t>1. 系统设置了合理的会话超时阈值；</a:t>
            </a:r>
          </a:p>
          <a:p>
            <a:r>
              <a:rPr lang="zh-CN" altLang="zh-CN" sz="2400" kern="1200" dirty="0" smtClean="0">
                <a:solidFill>
                  <a:srgbClr val="FF0000"/>
                </a:solidFill>
                <a:effectLst/>
                <a:latin typeface="+mn-lt"/>
                <a:ea typeface="+mn-ea"/>
                <a:cs typeface="+mn-cs"/>
              </a:rPr>
              <a:t>2. 达到系统设置的会话超时阈值后，系统自动退出，且再次登录后,上次会话信息已清除。</a:t>
            </a:r>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12</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en-US" dirty="0" smtClean="0"/>
              <a:t>检测方法：</a:t>
            </a:r>
          </a:p>
          <a:p>
            <a:r>
              <a:rPr lang="en-US" altLang="zh-CN" dirty="0" smtClean="0"/>
              <a:t>1. </a:t>
            </a:r>
            <a:r>
              <a:rPr lang="zh-CN" altLang="en-US" dirty="0" smtClean="0"/>
              <a:t>检查系统安全策略配置选项，是否含有严格限制各用户的访问权限的各项内容；</a:t>
            </a:r>
          </a:p>
          <a:p>
            <a:r>
              <a:rPr lang="en-US" altLang="zh-CN" dirty="0" smtClean="0"/>
              <a:t>2. </a:t>
            </a:r>
            <a:r>
              <a:rPr lang="zh-CN" altLang="en-US" dirty="0" smtClean="0"/>
              <a:t>创建测试账号，并保证账号功能正常；</a:t>
            </a:r>
          </a:p>
          <a:p>
            <a:r>
              <a:rPr lang="en-US" altLang="zh-CN" dirty="0" smtClean="0"/>
              <a:t>3. </a:t>
            </a:r>
            <a:r>
              <a:rPr lang="zh-CN" altLang="en-US" dirty="0" smtClean="0"/>
              <a:t>验证是否可以配置有效测试账号对系统管理、审计、业务维护、业务操作等的访问权限；</a:t>
            </a:r>
          </a:p>
          <a:p>
            <a:r>
              <a:rPr lang="en-US" altLang="zh-CN" dirty="0" smtClean="0"/>
              <a:t>4. </a:t>
            </a:r>
            <a:r>
              <a:rPr lang="zh-CN" altLang="en-US" dirty="0" smtClean="0"/>
              <a:t>使用测试账号对系统资源进行访问；</a:t>
            </a:r>
          </a:p>
          <a:p>
            <a:r>
              <a:rPr lang="en-US" altLang="zh-CN" dirty="0" smtClean="0"/>
              <a:t>5. </a:t>
            </a:r>
            <a:r>
              <a:rPr lang="zh-CN" altLang="en-US" dirty="0" smtClean="0"/>
              <a:t>验证测试账号是否能够访问权限以内的资源；</a:t>
            </a:r>
            <a:endParaRPr lang="en-US" altLang="zh-CN" dirty="0" smtClean="0"/>
          </a:p>
          <a:p>
            <a:r>
              <a:rPr lang="en-US" altLang="zh-CN" sz="2400" kern="1200" dirty="0" smtClean="0">
                <a:solidFill>
                  <a:srgbClr val="FF0000"/>
                </a:solidFill>
                <a:effectLst/>
                <a:latin typeface="+mn-lt"/>
                <a:ea typeface="+mn-ea"/>
                <a:cs typeface="+mn-cs"/>
              </a:rPr>
              <a:t>6. </a:t>
            </a:r>
            <a:r>
              <a:rPr lang="zh-CN" altLang="zh-CN" sz="2400" kern="1200" dirty="0" smtClean="0">
                <a:solidFill>
                  <a:srgbClr val="FF0000"/>
                </a:solidFill>
                <a:effectLst/>
                <a:latin typeface="+mn-lt"/>
                <a:ea typeface="+mn-ea"/>
                <a:cs typeface="+mn-cs"/>
              </a:rPr>
              <a:t>验证测试账号是否能够访问权限以外的资源。</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13</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en-US" dirty="0" smtClean="0"/>
              <a:t>检测方法：</a:t>
            </a:r>
          </a:p>
          <a:p>
            <a:r>
              <a:rPr lang="en-US" altLang="zh-CN" dirty="0" smtClean="0"/>
              <a:t>1. </a:t>
            </a:r>
            <a:r>
              <a:rPr lang="zh-CN" altLang="en-US" dirty="0" smtClean="0"/>
              <a:t>访谈系统管理人员，询问是否设置授权和角色数据存放位置和鉴权处理位置</a:t>
            </a:r>
            <a:r>
              <a:rPr lang="en-US" altLang="zh-CN" dirty="0" smtClean="0"/>
              <a:t>1. </a:t>
            </a:r>
            <a:r>
              <a:rPr lang="zh-CN" altLang="en-US" dirty="0" smtClean="0"/>
              <a:t>查看授权和角色数据存放路径。具体参考“</a:t>
            </a:r>
            <a:r>
              <a:rPr lang="en-US" altLang="zh-CN" dirty="0" smtClean="0"/>
              <a:t>4 </a:t>
            </a:r>
            <a:r>
              <a:rPr lang="zh-CN" altLang="en-US" dirty="0" smtClean="0"/>
              <a:t>检查方法”一节。</a:t>
            </a:r>
          </a:p>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14</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en-US" altLang="zh-CN" sz="2400" kern="1200" dirty="0" smtClean="0">
                <a:solidFill>
                  <a:srgbClr val="FF0000"/>
                </a:solidFill>
                <a:effectLst/>
                <a:latin typeface="+mn-lt"/>
                <a:ea typeface="+mn-ea"/>
                <a:cs typeface="+mn-cs"/>
              </a:rPr>
              <a:t>1. </a:t>
            </a:r>
            <a:r>
              <a:rPr lang="zh-CN" altLang="zh-CN" sz="2400" kern="1200" dirty="0" smtClean="0">
                <a:solidFill>
                  <a:srgbClr val="FF0000"/>
                </a:solidFill>
                <a:effectLst/>
                <a:latin typeface="+mn-lt"/>
                <a:ea typeface="+mn-ea"/>
                <a:cs typeface="+mn-cs"/>
              </a:rPr>
              <a:t>要求相关技术人员提供密钥、口令配置文件或者数据库存储位置，确认系统是否对密钥或口令等敏感数据采用了加密方式存储；</a:t>
            </a:r>
          </a:p>
          <a:p>
            <a:r>
              <a:rPr lang="en-US" altLang="zh-CN" sz="2400" kern="1200" dirty="0" smtClean="0">
                <a:solidFill>
                  <a:srgbClr val="FF0000"/>
                </a:solidFill>
                <a:effectLst/>
                <a:latin typeface="+mn-lt"/>
                <a:ea typeface="+mn-ea"/>
                <a:cs typeface="+mn-cs"/>
              </a:rPr>
              <a:t>2. </a:t>
            </a:r>
            <a:r>
              <a:rPr lang="zh-CN" altLang="zh-CN" sz="2400" kern="1200" dirty="0" smtClean="0">
                <a:solidFill>
                  <a:srgbClr val="FF0000"/>
                </a:solidFill>
                <a:effectLst/>
                <a:latin typeface="+mn-lt"/>
                <a:ea typeface="+mn-ea"/>
                <a:cs typeface="+mn-cs"/>
              </a:rPr>
              <a:t>查看系统中的密钥或口令等敏感数据；</a:t>
            </a:r>
          </a:p>
          <a:p>
            <a:r>
              <a:rPr lang="en-US" altLang="zh-CN" sz="2400" kern="1200" dirty="0" smtClean="0">
                <a:solidFill>
                  <a:srgbClr val="FF0000"/>
                </a:solidFill>
                <a:effectLst/>
                <a:latin typeface="+mn-lt"/>
                <a:ea typeface="+mn-ea"/>
                <a:cs typeface="+mn-cs"/>
              </a:rPr>
              <a:t>3. </a:t>
            </a:r>
            <a:r>
              <a:rPr lang="zh-CN" altLang="zh-CN" sz="2400" kern="1200" dirty="0" smtClean="0">
                <a:solidFill>
                  <a:srgbClr val="FF0000"/>
                </a:solidFill>
                <a:effectLst/>
                <a:latin typeface="+mn-lt"/>
                <a:ea typeface="+mn-ea"/>
                <a:cs typeface="+mn-cs"/>
              </a:rPr>
              <a:t>验证敏感数据是否存在明文形式。</a:t>
            </a:r>
          </a:p>
          <a:p>
            <a:r>
              <a:rPr lang="zh-CN" altLang="zh-CN" sz="2400" kern="1200" dirty="0" smtClean="0">
                <a:solidFill>
                  <a:srgbClr val="FF0000"/>
                </a:solidFill>
                <a:effectLst/>
                <a:latin typeface="+mn-lt"/>
                <a:ea typeface="+mn-ea"/>
                <a:cs typeface="+mn-cs"/>
              </a:rPr>
              <a:t>判定条件：</a:t>
            </a:r>
          </a:p>
          <a:p>
            <a:r>
              <a:rPr lang="en-US" altLang="zh-CN" sz="2400" kern="1200" dirty="0" smtClean="0">
                <a:solidFill>
                  <a:srgbClr val="FF0000"/>
                </a:solidFill>
                <a:effectLst/>
                <a:latin typeface="+mn-lt"/>
                <a:ea typeface="+mn-ea"/>
                <a:cs typeface="+mn-cs"/>
              </a:rPr>
              <a:t>1. </a:t>
            </a:r>
            <a:r>
              <a:rPr lang="zh-CN" altLang="zh-CN" sz="2400" kern="1200" dirty="0" smtClean="0">
                <a:solidFill>
                  <a:srgbClr val="FF0000"/>
                </a:solidFill>
                <a:effectLst/>
                <a:latin typeface="+mn-lt"/>
                <a:ea typeface="+mn-ea"/>
                <a:cs typeface="+mn-cs"/>
              </a:rPr>
              <a:t>系统配置文件中或数据库中，对密钥或口令等敏感数据采用了加密方式存储；</a:t>
            </a:r>
          </a:p>
          <a:p>
            <a:r>
              <a:rPr lang="en-US" altLang="zh-CN" sz="2400" kern="1200" dirty="0" smtClean="0">
                <a:solidFill>
                  <a:srgbClr val="FF0000"/>
                </a:solidFill>
                <a:effectLst/>
                <a:latin typeface="+mn-lt"/>
                <a:ea typeface="+mn-ea"/>
                <a:cs typeface="+mn-cs"/>
              </a:rPr>
              <a:t>2. </a:t>
            </a:r>
            <a:r>
              <a:rPr lang="zh-CN" altLang="zh-CN" sz="2400" kern="1200" dirty="0" smtClean="0">
                <a:solidFill>
                  <a:srgbClr val="FF0000"/>
                </a:solidFill>
                <a:effectLst/>
                <a:latin typeface="+mn-lt"/>
                <a:ea typeface="+mn-ea"/>
                <a:cs typeface="+mn-cs"/>
              </a:rPr>
              <a:t>密钥或口令等敏感数据以密文形式存储。</a:t>
            </a:r>
            <a:endParaRPr lang="zh-CN" altLang="zh-CN" sz="2400" kern="1200" dirty="0">
              <a:solidFill>
                <a:srgbClr val="FF0000"/>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15</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zh-CN" altLang="zh-CN" sz="2400" kern="1200" dirty="0" smtClean="0">
                <a:solidFill>
                  <a:srgbClr val="FF0000"/>
                </a:solidFill>
                <a:effectLst/>
                <a:latin typeface="+mn-lt"/>
                <a:ea typeface="+mn-ea"/>
                <a:cs typeface="+mn-cs"/>
              </a:rPr>
              <a:t>1. 检查设计/验收文档，确认系统是否禁止在隐藏域中存放明文形式的敏感数据；</a:t>
            </a:r>
          </a:p>
          <a:p>
            <a:r>
              <a:rPr lang="zh-CN" altLang="zh-CN" sz="2400" kern="1200" dirty="0" smtClean="0">
                <a:solidFill>
                  <a:srgbClr val="FF0000"/>
                </a:solidFill>
                <a:effectLst/>
                <a:latin typeface="+mn-lt"/>
                <a:ea typeface="+mn-ea"/>
                <a:cs typeface="+mn-cs"/>
              </a:rPr>
              <a:t>2. 查看隐藏域，验证是否存在明文形式的敏感数据。</a:t>
            </a:r>
          </a:p>
          <a:p>
            <a:r>
              <a:rPr lang="zh-CN" altLang="zh-CN" sz="2400" kern="1200" dirty="0" smtClean="0">
                <a:solidFill>
                  <a:srgbClr val="FF0000"/>
                </a:solidFill>
                <a:effectLst/>
                <a:latin typeface="+mn-lt"/>
                <a:ea typeface="+mn-ea"/>
                <a:cs typeface="+mn-cs"/>
              </a:rPr>
              <a:t>判定条件：</a:t>
            </a:r>
          </a:p>
          <a:p>
            <a:r>
              <a:rPr lang="en-US" altLang="zh-CN" sz="2400" kern="1200" dirty="0" smtClean="0">
                <a:solidFill>
                  <a:srgbClr val="FF0000"/>
                </a:solidFill>
                <a:effectLst/>
                <a:latin typeface="+mn-lt"/>
                <a:ea typeface="+mn-ea"/>
                <a:cs typeface="+mn-cs"/>
              </a:rPr>
              <a:t>1</a:t>
            </a:r>
            <a:r>
              <a:rPr lang="zh-CN" altLang="zh-CN" sz="2400" kern="1200" dirty="0" smtClean="0">
                <a:solidFill>
                  <a:srgbClr val="FF0000"/>
                </a:solidFill>
                <a:effectLst/>
                <a:latin typeface="+mn-lt"/>
                <a:ea typeface="+mn-ea"/>
                <a:cs typeface="+mn-cs"/>
              </a:rPr>
              <a:t>. 系统设计时，配置了禁止在隐藏域中存放明文形式的敏感数据；</a:t>
            </a:r>
          </a:p>
          <a:p>
            <a:r>
              <a:rPr lang="zh-CN" altLang="zh-CN" sz="2400" kern="1200" dirty="0" smtClean="0">
                <a:solidFill>
                  <a:srgbClr val="FF0000"/>
                </a:solidFill>
                <a:effectLst/>
                <a:latin typeface="+mn-lt"/>
                <a:ea typeface="+mn-ea"/>
                <a:cs typeface="+mn-cs"/>
              </a:rPr>
              <a:t>2. 隐藏域中不存在明文形式的敏感数据。</a:t>
            </a:r>
            <a:endParaRPr lang="zh-CN" altLang="zh-CN" sz="2400" kern="1200" dirty="0">
              <a:solidFill>
                <a:srgbClr val="FF0000"/>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16</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zh-CN" altLang="zh-CN" sz="2400" kern="1200" dirty="0" smtClean="0">
                <a:solidFill>
                  <a:srgbClr val="FF0000"/>
                </a:solidFill>
                <a:effectLst/>
                <a:latin typeface="+mn-lt"/>
                <a:ea typeface="+mn-ea"/>
                <a:cs typeface="+mn-cs"/>
              </a:rPr>
              <a:t>1. 创建测试账号，并保证账号功能正常；</a:t>
            </a:r>
          </a:p>
          <a:p>
            <a:r>
              <a:rPr lang="zh-CN" altLang="zh-CN" sz="2400" kern="1200" dirty="0" smtClean="0">
                <a:solidFill>
                  <a:srgbClr val="FF0000"/>
                </a:solidFill>
                <a:effectLst/>
                <a:latin typeface="+mn-lt"/>
                <a:ea typeface="+mn-ea"/>
                <a:cs typeface="+mn-cs"/>
              </a:rPr>
              <a:t>2. 使用测试账号登录，并进行测试操作；</a:t>
            </a:r>
          </a:p>
          <a:p>
            <a:r>
              <a:rPr lang="zh-CN" altLang="zh-CN" sz="2400" kern="1200" dirty="0" smtClean="0">
                <a:solidFill>
                  <a:srgbClr val="FF0000"/>
                </a:solidFill>
                <a:effectLst/>
                <a:latin typeface="+mn-lt"/>
                <a:ea typeface="+mn-ea"/>
                <a:cs typeface="+mn-cs"/>
              </a:rPr>
              <a:t>3. 验证用户登录时输入的账号密码等敏感数据是否在服务器端校验。</a:t>
            </a:r>
          </a:p>
          <a:p>
            <a:r>
              <a:rPr lang="zh-CN" altLang="zh-CN" sz="2400" kern="1200" dirty="0" smtClean="0">
                <a:solidFill>
                  <a:srgbClr val="FF0000"/>
                </a:solidFill>
                <a:effectLst/>
                <a:latin typeface="+mn-lt"/>
                <a:ea typeface="+mn-ea"/>
                <a:cs typeface="+mn-cs"/>
              </a:rPr>
              <a:t>判定条件：</a:t>
            </a:r>
          </a:p>
          <a:p>
            <a:r>
              <a:rPr lang="zh-CN" altLang="zh-CN" sz="2400" kern="1200" dirty="0" smtClean="0">
                <a:solidFill>
                  <a:srgbClr val="FF0000"/>
                </a:solidFill>
                <a:effectLst/>
                <a:latin typeface="+mn-lt"/>
                <a:ea typeface="+mn-ea"/>
                <a:cs typeface="+mn-cs"/>
              </a:rPr>
              <a:t>1. 用户登录时输入的账号密码等敏感数据存储在服务器端。</a:t>
            </a:r>
            <a:endParaRPr lang="zh-CN" altLang="zh-CN" sz="2400" kern="1200" dirty="0">
              <a:solidFill>
                <a:srgbClr val="FF0000"/>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17</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zh-CN" altLang="zh-CN" sz="2400" kern="1200" dirty="0" smtClean="0">
                <a:solidFill>
                  <a:srgbClr val="FF0000"/>
                </a:solidFill>
                <a:effectLst/>
                <a:latin typeface="+mn-lt"/>
                <a:ea typeface="+mn-ea"/>
                <a:cs typeface="+mn-cs"/>
              </a:rPr>
              <a:t>1. 查看设计文档后台日志记录部分，查看记录范围是否覆盖到每个用户的关键操作、重要行为、业务资源使用情况等重要事件（如业务运行异常、非法访问、非法篡改等异常行为）。</a:t>
            </a:r>
          </a:p>
          <a:p>
            <a:r>
              <a:rPr lang="zh-CN" altLang="zh-CN" sz="2400" kern="1200" dirty="0" smtClean="0">
                <a:solidFill>
                  <a:srgbClr val="FF0000"/>
                </a:solidFill>
                <a:effectLst/>
                <a:latin typeface="+mn-lt"/>
                <a:ea typeface="+mn-ea"/>
                <a:cs typeface="+mn-cs"/>
              </a:rPr>
              <a:t>2. 打开实际运行系统的后台日志记录；</a:t>
            </a:r>
          </a:p>
          <a:p>
            <a:r>
              <a:rPr lang="zh-CN" altLang="zh-CN" sz="2400" kern="1200" dirty="0" smtClean="0">
                <a:solidFill>
                  <a:srgbClr val="FF0000"/>
                </a:solidFill>
                <a:effectLst/>
                <a:latin typeface="+mn-lt"/>
                <a:ea typeface="+mn-ea"/>
                <a:cs typeface="+mn-cs"/>
              </a:rPr>
              <a:t>3. 查看记录范围是否覆盖到事件的源IP、事件的类型、事件发生的动作、事件时间等。</a:t>
            </a:r>
          </a:p>
          <a:p>
            <a:r>
              <a:rPr lang="zh-CN" altLang="zh-CN" sz="2400" kern="1200" dirty="0" smtClean="0">
                <a:solidFill>
                  <a:srgbClr val="FF0000"/>
                </a:solidFill>
                <a:effectLst/>
                <a:latin typeface="+mn-lt"/>
                <a:ea typeface="+mn-ea"/>
                <a:cs typeface="+mn-cs"/>
              </a:rPr>
              <a:t>判定条件：</a:t>
            </a:r>
          </a:p>
          <a:p>
            <a:r>
              <a:rPr lang="zh-CN" altLang="zh-CN" sz="2400" kern="1200" dirty="0" smtClean="0">
                <a:solidFill>
                  <a:srgbClr val="FF0000"/>
                </a:solidFill>
                <a:effectLst/>
                <a:latin typeface="+mn-lt"/>
                <a:ea typeface="+mn-ea"/>
                <a:cs typeface="+mn-cs"/>
              </a:rPr>
              <a:t>1. 设计文档显示，后台日志记录范围覆盖到了每个用户的关键操作、重要行为、业务资源使用情况等重要事件（如业务运行异常、非法访问、非法篡改等异常行为）；</a:t>
            </a:r>
          </a:p>
          <a:p>
            <a:r>
              <a:rPr lang="zh-CN" altLang="zh-CN" sz="2400" kern="1200" dirty="0" smtClean="0">
                <a:solidFill>
                  <a:srgbClr val="FF0000"/>
                </a:solidFill>
                <a:effectLst/>
                <a:latin typeface="+mn-lt"/>
                <a:ea typeface="+mn-ea"/>
                <a:cs typeface="+mn-cs"/>
              </a:rPr>
              <a:t>2. 实际环境中，系统后台日志记录范围覆盖到了事件的源IP、事件的类型、事件发生的动作、事件时间等。</a:t>
            </a:r>
            <a:endParaRPr lang="zh-CN" altLang="zh-CN" sz="2400" kern="1200" dirty="0">
              <a:solidFill>
                <a:srgbClr val="FF0000"/>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18</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zh-CN" altLang="zh-CN" sz="2400" kern="1200" dirty="0" smtClean="0">
                <a:solidFill>
                  <a:srgbClr val="FF0000"/>
                </a:solidFill>
                <a:effectLst/>
                <a:latin typeface="+mn-lt"/>
                <a:ea typeface="+mn-ea"/>
                <a:cs typeface="+mn-cs"/>
              </a:rPr>
              <a:t>1. 询问是否已经针对SQL注入进行防护；</a:t>
            </a:r>
          </a:p>
          <a:p>
            <a:r>
              <a:rPr lang="zh-CN" altLang="zh-CN" sz="2400" kern="1200" dirty="0" smtClean="0">
                <a:solidFill>
                  <a:srgbClr val="FF0000"/>
                </a:solidFill>
                <a:effectLst/>
                <a:latin typeface="+mn-lt"/>
                <a:ea typeface="+mn-ea"/>
                <a:cs typeface="+mn-cs"/>
              </a:rPr>
              <a:t>2. 通过漏洞扫描等手段验证系统是否存在SQL注入；</a:t>
            </a:r>
          </a:p>
          <a:p>
            <a:r>
              <a:rPr lang="zh-CN" altLang="zh-CN" sz="2400" kern="1200" dirty="0" smtClean="0">
                <a:solidFill>
                  <a:srgbClr val="FF0000"/>
                </a:solidFill>
                <a:effectLst/>
                <a:latin typeface="+mn-lt"/>
                <a:ea typeface="+mn-ea"/>
                <a:cs typeface="+mn-cs"/>
              </a:rPr>
              <a:t>3. 通过渗透测试等手段验证系统是否存在SQL注入。</a:t>
            </a:r>
          </a:p>
          <a:p>
            <a:r>
              <a:rPr lang="zh-CN" altLang="zh-CN" sz="2400" kern="1200" dirty="0" smtClean="0">
                <a:solidFill>
                  <a:srgbClr val="FF0000"/>
                </a:solidFill>
                <a:effectLst/>
                <a:latin typeface="+mn-lt"/>
                <a:ea typeface="+mn-ea"/>
                <a:cs typeface="+mn-cs"/>
              </a:rPr>
              <a:t>判定条件：</a:t>
            </a:r>
          </a:p>
          <a:p>
            <a:r>
              <a:rPr lang="zh-CN" altLang="zh-CN" sz="2400" kern="1200" dirty="0" smtClean="0">
                <a:solidFill>
                  <a:srgbClr val="FF0000"/>
                </a:solidFill>
                <a:effectLst/>
                <a:latin typeface="+mn-lt"/>
                <a:ea typeface="+mn-ea"/>
                <a:cs typeface="+mn-cs"/>
              </a:rPr>
              <a:t>1. 系统已经针对SQL注入进行防护；</a:t>
            </a:r>
          </a:p>
          <a:p>
            <a:r>
              <a:rPr lang="zh-CN" altLang="zh-CN" sz="2400" kern="1200" dirty="0" smtClean="0">
                <a:solidFill>
                  <a:srgbClr val="FF0000"/>
                </a:solidFill>
                <a:effectLst/>
                <a:latin typeface="+mn-lt"/>
                <a:ea typeface="+mn-ea"/>
                <a:cs typeface="+mn-cs"/>
              </a:rPr>
              <a:t>2. 系统中未发现SQL注入。</a:t>
            </a:r>
            <a:endParaRPr lang="zh-CN" altLang="zh-CN" sz="2400" kern="1200" dirty="0">
              <a:solidFill>
                <a:srgbClr val="FF0000"/>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19</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zh-CN" altLang="zh-CN" sz="2400" kern="1200" dirty="0" smtClean="0">
                <a:solidFill>
                  <a:srgbClr val="FF0000"/>
                </a:solidFill>
                <a:effectLst/>
                <a:latin typeface="+mn-lt"/>
                <a:ea typeface="+mn-ea"/>
                <a:cs typeface="+mn-cs"/>
              </a:rPr>
              <a:t>1. 访谈相关技术人员，检查对应的配置文件，确认是否对文件类型、大小进行限制；</a:t>
            </a:r>
          </a:p>
          <a:p>
            <a:r>
              <a:rPr lang="zh-CN" altLang="zh-CN" sz="2400" kern="1200" dirty="0" smtClean="0">
                <a:solidFill>
                  <a:srgbClr val="FF0000"/>
                </a:solidFill>
                <a:effectLst/>
                <a:latin typeface="+mn-lt"/>
                <a:ea typeface="+mn-ea"/>
                <a:cs typeface="+mn-cs"/>
              </a:rPr>
              <a:t>2. 上传合法文件；</a:t>
            </a:r>
          </a:p>
          <a:p>
            <a:r>
              <a:rPr lang="zh-CN" altLang="zh-CN" sz="2400" kern="1200" dirty="0" smtClean="0">
                <a:solidFill>
                  <a:srgbClr val="FF0000"/>
                </a:solidFill>
                <a:effectLst/>
                <a:latin typeface="+mn-lt"/>
                <a:ea typeface="+mn-ea"/>
                <a:cs typeface="+mn-cs"/>
              </a:rPr>
              <a:t>3. 验证系统是否能够正确处理合法文件；</a:t>
            </a:r>
          </a:p>
          <a:p>
            <a:r>
              <a:rPr lang="zh-CN" altLang="zh-CN" sz="2400" kern="1200" dirty="0" smtClean="0">
                <a:solidFill>
                  <a:srgbClr val="FF0000"/>
                </a:solidFill>
                <a:effectLst/>
                <a:latin typeface="+mn-lt"/>
                <a:ea typeface="+mn-ea"/>
                <a:cs typeface="+mn-cs"/>
              </a:rPr>
              <a:t>4. 在系统中上传超大文件或者不支持类型文件；</a:t>
            </a:r>
          </a:p>
          <a:p>
            <a:r>
              <a:rPr lang="zh-CN" altLang="zh-CN" sz="2400" kern="1200" dirty="0" smtClean="0">
                <a:solidFill>
                  <a:srgbClr val="FF0000"/>
                </a:solidFill>
                <a:effectLst/>
                <a:latin typeface="+mn-lt"/>
                <a:ea typeface="+mn-ea"/>
                <a:cs typeface="+mn-cs"/>
              </a:rPr>
              <a:t>5. 验证系统是否能够有效检查超出规定大小的文件和不支持的文件类型，并进行提示。</a:t>
            </a:r>
          </a:p>
          <a:p>
            <a:r>
              <a:rPr lang="zh-CN" altLang="zh-CN" sz="2400" kern="1200" dirty="0" smtClean="0">
                <a:solidFill>
                  <a:srgbClr val="FF0000"/>
                </a:solidFill>
                <a:effectLst/>
                <a:latin typeface="+mn-lt"/>
                <a:ea typeface="+mn-ea"/>
                <a:cs typeface="+mn-cs"/>
              </a:rPr>
              <a:t>判定条件：</a:t>
            </a:r>
          </a:p>
          <a:p>
            <a:r>
              <a:rPr lang="zh-CN" altLang="zh-CN" sz="2400" kern="1200" dirty="0" smtClean="0">
                <a:solidFill>
                  <a:srgbClr val="FF0000"/>
                </a:solidFill>
                <a:effectLst/>
                <a:latin typeface="+mn-lt"/>
                <a:ea typeface="+mn-ea"/>
                <a:cs typeface="+mn-cs"/>
              </a:rPr>
              <a:t>1. 系统中存在对应的配置文件对文件类型、大小进行限制；</a:t>
            </a:r>
          </a:p>
          <a:p>
            <a:r>
              <a:rPr lang="zh-CN" altLang="zh-CN" sz="2400" kern="1200" dirty="0" smtClean="0">
                <a:solidFill>
                  <a:srgbClr val="FF0000"/>
                </a:solidFill>
                <a:effectLst/>
                <a:latin typeface="+mn-lt"/>
                <a:ea typeface="+mn-ea"/>
                <a:cs typeface="+mn-cs"/>
              </a:rPr>
              <a:t>2. 系统对上传的合法文件，能够正确处理；</a:t>
            </a:r>
          </a:p>
          <a:p>
            <a:r>
              <a:rPr lang="zh-CN" altLang="zh-CN" sz="2400" kern="1200" dirty="0" smtClean="0">
                <a:solidFill>
                  <a:srgbClr val="FF0000"/>
                </a:solidFill>
                <a:effectLst/>
                <a:latin typeface="+mn-lt"/>
                <a:ea typeface="+mn-ea"/>
                <a:cs typeface="+mn-cs"/>
              </a:rPr>
              <a:t>3. 系统提示文件超大或者文件类型错误能够检查出超大文件或者不支持类型文件。</a:t>
            </a:r>
            <a:endParaRPr lang="zh-CN" altLang="zh-CN" sz="2400" kern="1200" dirty="0">
              <a:solidFill>
                <a:srgbClr val="FF0000"/>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20</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zh-CN" altLang="zh-CN" sz="2400" kern="1200" dirty="0" smtClean="0">
                <a:solidFill>
                  <a:srgbClr val="FF0000"/>
                </a:solidFill>
                <a:effectLst/>
                <a:latin typeface="+mn-lt"/>
                <a:ea typeface="+mn-ea"/>
                <a:cs typeface="+mn-cs"/>
              </a:rPr>
              <a:t>1. 向系统输入合法数据；</a:t>
            </a:r>
          </a:p>
          <a:p>
            <a:r>
              <a:rPr lang="zh-CN" altLang="zh-CN" sz="2400" kern="1200" dirty="0" smtClean="0">
                <a:solidFill>
                  <a:srgbClr val="FF0000"/>
                </a:solidFill>
                <a:effectLst/>
                <a:latin typeface="+mn-lt"/>
                <a:ea typeface="+mn-ea"/>
                <a:cs typeface="+mn-cs"/>
              </a:rPr>
              <a:t>2. 验证系统是否能够正确处理合法数据；</a:t>
            </a:r>
          </a:p>
          <a:p>
            <a:r>
              <a:rPr lang="zh-CN" altLang="zh-CN" sz="2400" kern="1200" dirty="0" smtClean="0">
                <a:solidFill>
                  <a:srgbClr val="FF0000"/>
                </a:solidFill>
                <a:effectLst/>
                <a:latin typeface="+mn-lt"/>
                <a:ea typeface="+mn-ea"/>
                <a:cs typeface="+mn-cs"/>
              </a:rPr>
              <a:t>3. 向系统输入非法数据（如，恶意链接等）；</a:t>
            </a:r>
          </a:p>
          <a:p>
            <a:r>
              <a:rPr lang="zh-CN" altLang="zh-CN" sz="2400" kern="1200" dirty="0" smtClean="0">
                <a:solidFill>
                  <a:srgbClr val="FF0000"/>
                </a:solidFill>
                <a:effectLst/>
                <a:latin typeface="+mn-lt"/>
                <a:ea typeface="+mn-ea"/>
                <a:cs typeface="+mn-cs"/>
              </a:rPr>
              <a:t>4. 验证系统是否能够检查出数据非法并拒绝接受。</a:t>
            </a:r>
          </a:p>
          <a:p>
            <a:r>
              <a:rPr lang="zh-CN" altLang="zh-CN" sz="2400" kern="1200" dirty="0" smtClean="0">
                <a:solidFill>
                  <a:srgbClr val="FF0000"/>
                </a:solidFill>
                <a:effectLst/>
                <a:latin typeface="+mn-lt"/>
                <a:ea typeface="+mn-ea"/>
                <a:cs typeface="+mn-cs"/>
              </a:rPr>
              <a:t>判定条件：</a:t>
            </a:r>
          </a:p>
          <a:p>
            <a:r>
              <a:rPr lang="zh-CN" altLang="zh-CN" sz="2400" kern="1200" dirty="0" smtClean="0">
                <a:solidFill>
                  <a:srgbClr val="FF0000"/>
                </a:solidFill>
                <a:effectLst/>
                <a:latin typeface="+mn-lt"/>
                <a:ea typeface="+mn-ea"/>
                <a:cs typeface="+mn-cs"/>
              </a:rPr>
              <a:t>1. 系统对输入的合法数据，能够正确处理；</a:t>
            </a:r>
          </a:p>
          <a:p>
            <a:r>
              <a:rPr lang="zh-CN" altLang="zh-CN" sz="2400" kern="1200" dirty="0" smtClean="0">
                <a:solidFill>
                  <a:srgbClr val="FF0000"/>
                </a:solidFill>
                <a:effectLst/>
                <a:latin typeface="+mn-lt"/>
                <a:ea typeface="+mn-ea"/>
                <a:cs typeface="+mn-cs"/>
              </a:rPr>
              <a:t>2. 对输入的非法数据，系统能够检查出数据非法并拒绝接受。</a:t>
            </a:r>
            <a:endParaRPr lang="zh-CN" altLang="zh-CN" sz="2400" kern="1200" dirty="0">
              <a:solidFill>
                <a:srgbClr val="FF0000"/>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21</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zh-CN" altLang="zh-CN" sz="2400" kern="1200" dirty="0" smtClean="0">
                <a:solidFill>
                  <a:srgbClr val="FF0000"/>
                </a:solidFill>
                <a:effectLst/>
                <a:latin typeface="+mn-lt"/>
                <a:ea typeface="+mn-ea"/>
                <a:cs typeface="+mn-cs"/>
              </a:rPr>
              <a:t>1. 访谈系统管理员确定Web服务器类型和网页文件类型；</a:t>
            </a:r>
          </a:p>
          <a:p>
            <a:r>
              <a:rPr lang="zh-CN" altLang="zh-CN" sz="2400" kern="1200" dirty="0" smtClean="0">
                <a:solidFill>
                  <a:srgbClr val="FF0000"/>
                </a:solidFill>
                <a:effectLst/>
                <a:latin typeface="+mn-lt"/>
                <a:ea typeface="+mn-ea"/>
                <a:cs typeface="+mn-cs"/>
              </a:rPr>
              <a:t>2. 通过“../”和 “./”等目录跳转符遍历Web服务器上的敏感文件，查看是否存在任意一个URL访问成功；</a:t>
            </a:r>
          </a:p>
          <a:p>
            <a:r>
              <a:rPr lang="zh-CN" altLang="zh-CN" sz="2400" kern="1200" dirty="0" smtClean="0">
                <a:solidFill>
                  <a:srgbClr val="FF0000"/>
                </a:solidFill>
                <a:effectLst/>
                <a:latin typeface="+mn-lt"/>
                <a:ea typeface="+mn-ea"/>
                <a:cs typeface="+mn-cs"/>
              </a:rPr>
              <a:t>3. 对“../”和 “./”符号进行编码处理（如URL编码），通过上述方法再次遍历敏感文件；</a:t>
            </a:r>
          </a:p>
          <a:p>
            <a:r>
              <a:rPr lang="zh-CN" altLang="zh-CN" sz="2400" kern="1200" dirty="0" smtClean="0">
                <a:solidFill>
                  <a:srgbClr val="FF0000"/>
                </a:solidFill>
                <a:effectLst/>
                <a:latin typeface="+mn-lt"/>
                <a:ea typeface="+mn-ea"/>
                <a:cs typeface="+mn-cs"/>
              </a:rPr>
              <a:t>4. 通过上传功能上传恶意文件。</a:t>
            </a:r>
          </a:p>
          <a:p>
            <a:r>
              <a:rPr lang="zh-CN" altLang="zh-CN" sz="2400" kern="1200" dirty="0" smtClean="0">
                <a:solidFill>
                  <a:srgbClr val="FF0000"/>
                </a:solidFill>
                <a:effectLst/>
                <a:latin typeface="+mn-lt"/>
                <a:ea typeface="+mn-ea"/>
                <a:cs typeface="+mn-cs"/>
              </a:rPr>
              <a:t>判定条件：</a:t>
            </a:r>
          </a:p>
          <a:p>
            <a:r>
              <a:rPr lang="zh-CN" altLang="zh-CN" sz="2400" kern="1200" dirty="0" smtClean="0">
                <a:solidFill>
                  <a:srgbClr val="FF0000"/>
                </a:solidFill>
                <a:effectLst/>
                <a:latin typeface="+mn-lt"/>
                <a:ea typeface="+mn-ea"/>
                <a:cs typeface="+mn-cs"/>
              </a:rPr>
              <a:t>1. 不存在任何敏感资源目录的可列出和下载。</a:t>
            </a:r>
          </a:p>
          <a:p>
            <a:r>
              <a:rPr lang="zh-CN" altLang="zh-CN" sz="2400" kern="1200" dirty="0" smtClean="0">
                <a:solidFill>
                  <a:srgbClr val="FF0000"/>
                </a:solidFill>
                <a:effectLst/>
                <a:latin typeface="+mn-lt"/>
                <a:ea typeface="+mn-ea"/>
                <a:cs typeface="+mn-cs"/>
              </a:rPr>
              <a:t>2. 系统拒绝恶意文件的上传。</a:t>
            </a:r>
            <a:endParaRPr lang="zh-CN" altLang="zh-CN" sz="2400" kern="1200" dirty="0">
              <a:solidFill>
                <a:srgbClr val="FF0000"/>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22</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zh-CN" altLang="zh-CN" sz="2400" kern="1200" dirty="0" smtClean="0">
                <a:solidFill>
                  <a:srgbClr val="FF0000"/>
                </a:solidFill>
                <a:effectLst/>
                <a:latin typeface="+mn-lt"/>
                <a:ea typeface="+mn-ea"/>
                <a:cs typeface="+mn-cs"/>
              </a:rPr>
              <a:t>1. 查看web页面源码，检查注释信息是否含源代码信息、数据库连接信息和SQL语句信息。</a:t>
            </a:r>
          </a:p>
          <a:p>
            <a:r>
              <a:rPr lang="zh-CN" altLang="zh-CN" sz="2400" kern="1200" dirty="0" smtClean="0">
                <a:solidFill>
                  <a:srgbClr val="FF0000"/>
                </a:solidFill>
                <a:effectLst/>
                <a:latin typeface="+mn-lt"/>
                <a:ea typeface="+mn-ea"/>
                <a:cs typeface="+mn-cs"/>
              </a:rPr>
              <a:t>判定条件：</a:t>
            </a:r>
          </a:p>
          <a:p>
            <a:r>
              <a:rPr lang="zh-CN" altLang="zh-CN" sz="2400" kern="1200" dirty="0" smtClean="0">
                <a:solidFill>
                  <a:srgbClr val="FF0000"/>
                </a:solidFill>
                <a:effectLst/>
                <a:latin typeface="+mn-lt"/>
                <a:ea typeface="+mn-ea"/>
                <a:cs typeface="+mn-cs"/>
              </a:rPr>
              <a:t>1. 注释信息中不包含源代码信息、数据库连接信息和SQL语句等敏感信息。</a:t>
            </a:r>
          </a:p>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23</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检测方法：</a:t>
            </a:r>
          </a:p>
          <a:p>
            <a:r>
              <a:rPr lang="zh-CN" altLang="zh-CN" sz="2400" kern="1200" dirty="0" smtClean="0">
                <a:solidFill>
                  <a:srgbClr val="FF0000"/>
                </a:solidFill>
                <a:effectLst/>
                <a:latin typeface="+mn-lt"/>
                <a:ea typeface="+mn-ea"/>
                <a:cs typeface="+mn-cs"/>
              </a:rPr>
              <a:t>1. 访谈相关技术人员，询问表单数据是否使用HTTP-POST 方法提交；</a:t>
            </a:r>
          </a:p>
          <a:p>
            <a:r>
              <a:rPr lang="zh-CN" altLang="zh-CN" sz="2400" kern="1200" dirty="0" smtClean="0">
                <a:solidFill>
                  <a:srgbClr val="FF0000"/>
                </a:solidFill>
                <a:effectLst/>
                <a:latin typeface="+mn-lt"/>
                <a:ea typeface="+mn-ea"/>
                <a:cs typeface="+mn-cs"/>
              </a:rPr>
              <a:t>2. 通过查看表单提交时URL的情况，URL中不应显式携带表单参数。</a:t>
            </a:r>
          </a:p>
          <a:p>
            <a:r>
              <a:rPr lang="zh-CN" altLang="zh-CN" sz="2400" kern="1200" dirty="0" smtClean="0">
                <a:solidFill>
                  <a:srgbClr val="FF0000"/>
                </a:solidFill>
                <a:effectLst/>
                <a:latin typeface="+mn-lt"/>
                <a:ea typeface="+mn-ea"/>
                <a:cs typeface="+mn-cs"/>
              </a:rPr>
              <a:t>判定条件：</a:t>
            </a:r>
          </a:p>
          <a:p>
            <a:r>
              <a:rPr lang="zh-CN" altLang="zh-CN" sz="2400" kern="1200" dirty="0" smtClean="0">
                <a:solidFill>
                  <a:srgbClr val="FF0000"/>
                </a:solidFill>
                <a:effectLst/>
                <a:latin typeface="+mn-lt"/>
                <a:ea typeface="+mn-ea"/>
                <a:cs typeface="+mn-cs"/>
              </a:rPr>
              <a:t>1. 所有的表单数据应当使用 HTTP-POST 方法提交。</a:t>
            </a:r>
            <a:endParaRPr lang="zh-CN" altLang="zh-CN" sz="2400" kern="1200" dirty="0">
              <a:solidFill>
                <a:srgbClr val="FF0000"/>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24</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25</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26</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27</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en-US" smtClean="0"/>
              <a:t>主要指：防火墙和入侵检测</a:t>
            </a:r>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28</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29</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30</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31</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32</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33</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34</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35</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en-US" altLang="zh-CN"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36</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37</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38</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39</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40</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41</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42</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43</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44</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45</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46</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47</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48</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不同名称的用户可以连接数据库</a:t>
            </a:r>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49</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把角色赋给不同的用户或修改用户属性中的角色和权限。</a:t>
            </a:r>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50</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51</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2400" kern="1200" dirty="0" smtClean="0">
                <a:solidFill>
                  <a:srgbClr val="FF0000"/>
                </a:solidFill>
                <a:effectLst/>
                <a:latin typeface="+mn-lt"/>
                <a:ea typeface="+mn-ea"/>
                <a:cs typeface="+mn-cs"/>
              </a:rPr>
              <a:t>判定条件：</a:t>
            </a:r>
          </a:p>
          <a:p>
            <a:pPr fontAlgn="ctr"/>
            <a:r>
              <a:rPr lang="zh-CN" altLang="zh-CN" sz="2400" kern="1200" dirty="0" smtClean="0">
                <a:solidFill>
                  <a:srgbClr val="FF0000"/>
                </a:solidFill>
                <a:effectLst/>
                <a:latin typeface="+mn-lt"/>
                <a:ea typeface="+mn-ea"/>
                <a:cs typeface="+mn-cs"/>
              </a:rPr>
              <a:t>登录成功和失败测试，检查相关信息是否被记录。</a:t>
            </a:r>
          </a:p>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52</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en-US" smtClean="0"/>
              <a:t>安装最新安全补丁，确保数据库补丁是最新版本，无明显漏洞。所有必要的漏洞补丁都已安装。</a:t>
            </a:r>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53</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en-US" dirty="0" smtClean="0"/>
              <a:t>操作指南： </a:t>
            </a:r>
          </a:p>
          <a:p>
            <a:r>
              <a:rPr lang="zh-CN" altLang="en-US" dirty="0" smtClean="0"/>
              <a:t>在防火墙中做限制，只允许与指定的</a:t>
            </a:r>
            <a:r>
              <a:rPr lang="en-US" altLang="zh-CN" dirty="0" smtClean="0"/>
              <a:t>IP</a:t>
            </a:r>
            <a:r>
              <a:rPr lang="zh-CN" altLang="en-US" dirty="0" smtClean="0"/>
              <a:t>地址建立</a:t>
            </a:r>
            <a:r>
              <a:rPr lang="en-US" altLang="zh-CN" dirty="0" smtClean="0"/>
              <a:t>1433</a:t>
            </a:r>
            <a:r>
              <a:rPr lang="zh-CN" altLang="en-US" dirty="0" smtClean="0"/>
              <a:t>的通讯。当然，从更为安全的角度来考虑，应该把</a:t>
            </a:r>
            <a:r>
              <a:rPr lang="en-US" altLang="zh-CN" dirty="0" smtClean="0"/>
              <a:t>1433</a:t>
            </a:r>
            <a:r>
              <a:rPr lang="zh-CN" altLang="en-US" dirty="0" smtClean="0"/>
              <a:t>端口改成其他的端口。</a:t>
            </a:r>
          </a:p>
          <a:p>
            <a:r>
              <a:rPr lang="en-US" altLang="zh-CN" dirty="0" smtClean="0"/>
              <a:t>1) </a:t>
            </a:r>
            <a:r>
              <a:rPr lang="zh-CN" altLang="en-US" dirty="0" smtClean="0"/>
              <a:t>在“</a:t>
            </a:r>
            <a:r>
              <a:rPr lang="en-US" altLang="zh-CN" dirty="0" smtClean="0"/>
              <a:t>Windows </a:t>
            </a:r>
            <a:r>
              <a:rPr lang="zh-CN" altLang="en-US" dirty="0" smtClean="0"/>
              <a:t>防火墙”对话框中，单击“例外”选项卡；</a:t>
            </a:r>
          </a:p>
          <a:p>
            <a:r>
              <a:rPr lang="en-US" altLang="zh-CN" dirty="0" smtClean="0"/>
              <a:t>2) </a:t>
            </a:r>
            <a:r>
              <a:rPr lang="zh-CN" altLang="en-US" dirty="0" smtClean="0"/>
              <a:t>单击“添加端口”；</a:t>
            </a:r>
          </a:p>
          <a:p>
            <a:r>
              <a:rPr lang="en-US" altLang="zh-CN" dirty="0" smtClean="0"/>
              <a:t>3) </a:t>
            </a:r>
            <a:r>
              <a:rPr lang="zh-CN" altLang="en-US" dirty="0" smtClean="0"/>
              <a:t>键入您要允许的端口名称，键入端口号，然后单击“</a:t>
            </a:r>
            <a:r>
              <a:rPr lang="en-US" altLang="zh-CN" dirty="0" smtClean="0"/>
              <a:t>TCP”</a:t>
            </a:r>
            <a:r>
              <a:rPr lang="zh-CN" altLang="en-US" dirty="0" smtClean="0"/>
              <a:t>或“</a:t>
            </a:r>
            <a:r>
              <a:rPr lang="en-US" altLang="zh-CN" dirty="0" smtClean="0"/>
              <a:t>UDP”</a:t>
            </a:r>
            <a:r>
              <a:rPr lang="zh-CN" altLang="en-US" dirty="0" smtClean="0"/>
              <a:t>以提示这是 </a:t>
            </a:r>
            <a:r>
              <a:rPr lang="en-US" altLang="zh-CN" dirty="0" smtClean="0"/>
              <a:t>TCP </a:t>
            </a:r>
            <a:r>
              <a:rPr lang="zh-CN" altLang="en-US" dirty="0" smtClean="0"/>
              <a:t>还是 </a:t>
            </a:r>
            <a:r>
              <a:rPr lang="en-US" altLang="zh-CN" dirty="0" smtClean="0"/>
              <a:t>UDP </a:t>
            </a:r>
            <a:r>
              <a:rPr lang="zh-CN" altLang="en-US" dirty="0" smtClean="0"/>
              <a:t>端口；</a:t>
            </a:r>
          </a:p>
          <a:p>
            <a:r>
              <a:rPr lang="en-US" altLang="zh-CN" dirty="0" smtClean="0"/>
              <a:t>4) </a:t>
            </a:r>
            <a:r>
              <a:rPr lang="zh-CN" altLang="en-US" dirty="0" smtClean="0"/>
              <a:t>单击“更改范围”；</a:t>
            </a:r>
          </a:p>
          <a:p>
            <a:r>
              <a:rPr lang="en-US" altLang="zh-CN" dirty="0" smtClean="0"/>
              <a:t>5) </a:t>
            </a:r>
            <a:r>
              <a:rPr lang="zh-CN" altLang="en-US" dirty="0" smtClean="0"/>
              <a:t>指定要为其阻止此端口的一系列计算机，然后单击“确定”。</a:t>
            </a:r>
          </a:p>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54</a:t>
            </a:fld>
            <a:endParaRPr lang="zh-CN" altLang="en-US"/>
          </a:p>
        </p:txBody>
      </p:sp>
    </p:spTree>
    <p:extLst>
      <p:ext uri="{BB962C8B-B14F-4D97-AF65-F5344CB8AC3E}">
        <p14:creationId xmlns:p14="http://schemas.microsoft.com/office/powerpoint/2010/main" val="494291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CADD8-74C2-4C9C-8231-32084DCD8380}" type="slidenum">
              <a:rPr lang="zh-CN" altLang="en-US" smtClean="0"/>
              <a:t>55</a:t>
            </a:fld>
            <a:endParaRPr lang="zh-CN" altLang="en-US"/>
          </a:p>
        </p:txBody>
      </p:sp>
    </p:spTree>
    <p:extLst>
      <p:ext uri="{BB962C8B-B14F-4D97-AF65-F5344CB8AC3E}">
        <p14:creationId xmlns:p14="http://schemas.microsoft.com/office/powerpoint/2010/main" val="37419866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026" name="Picture 2" descr="E:\06-PPT课件\1.4-模版\图片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63" y="2883"/>
            <a:ext cx="18288000" cy="102870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2" name="TextBox 15"/>
          <p:cNvSpPr txBox="1"/>
          <p:nvPr userDrawn="1"/>
        </p:nvSpPr>
        <p:spPr>
          <a:xfrm>
            <a:off x="935850" y="3241773"/>
            <a:ext cx="4753353" cy="677145"/>
          </a:xfrm>
          <a:prstGeom prst="rect">
            <a:avLst/>
          </a:prstGeom>
          <a:noFill/>
        </p:spPr>
        <p:txBody>
          <a:bodyPr wrap="square" lIns="182917" tIns="91458" rIns="182917" bIns="91458" rtlCol="0">
            <a:spAutoFit/>
          </a:bodyPr>
          <a:lstStyle/>
          <a:p>
            <a:pPr algn="ctr"/>
            <a:r>
              <a:rPr lang="en-US" altLang="zh-CN" sz="3200" dirty="0">
                <a:solidFill>
                  <a:schemeClr val="bg1">
                    <a:lumMod val="65000"/>
                  </a:schemeClr>
                </a:solidFill>
                <a:latin typeface="Times New Roman" panose="02020603050405020304" pitchFamily="18" charset="0"/>
                <a:ea typeface="微软雅黑" panose="020B0503020204020204" pitchFamily="34" charset="-122"/>
                <a:cs typeface="Times New Roman" panose="02020603050405020304" pitchFamily="18" charset="0"/>
              </a:rPr>
              <a:t> INTRODUCTION</a:t>
            </a:r>
          </a:p>
        </p:txBody>
      </p:sp>
      <p:sp>
        <p:nvSpPr>
          <p:cNvPr id="3" name="文本框 52"/>
          <p:cNvSpPr txBox="1"/>
          <p:nvPr userDrawn="1"/>
        </p:nvSpPr>
        <p:spPr>
          <a:xfrm>
            <a:off x="722180" y="2192759"/>
            <a:ext cx="5446395" cy="1292698"/>
          </a:xfrm>
          <a:prstGeom prst="rect">
            <a:avLst/>
          </a:prstGeom>
          <a:noFill/>
        </p:spPr>
        <p:txBody>
          <a:bodyPr wrap="square" lIns="182917" tIns="91458" rIns="182917" bIns="91458" rtlCol="0">
            <a:spAutoFit/>
          </a:bodyPr>
          <a:lstStyle/>
          <a:p>
            <a:pPr algn="ctr"/>
            <a:r>
              <a:rPr lang="zh-CN" altLang="en-US" sz="7200" b="1" dirty="0">
                <a:solidFill>
                  <a:schemeClr val="tx1">
                    <a:lumMod val="65000"/>
                    <a:lumOff val="35000"/>
                  </a:schemeClr>
                </a:solidFill>
                <a:latin typeface="微软雅黑" panose="020B0503020204020204" pitchFamily="34" charset="-122"/>
                <a:ea typeface="微软雅黑" panose="020B0503020204020204" pitchFamily="34" charset="-122"/>
              </a:rPr>
              <a:t>内容简介</a:t>
            </a:r>
          </a:p>
        </p:txBody>
      </p:sp>
      <p:pic>
        <p:nvPicPr>
          <p:cNvPr id="4" name="Picture 2"/>
          <p:cNvPicPr>
            <a:picLocks noChangeAspect="1" noChangeArrowheads="1"/>
          </p:cNvPicPr>
          <p:nvPr userDrawn="1"/>
        </p:nvPicPr>
        <p:blipFill>
          <a:blip r:embed="rId2"/>
          <a:srcRect r="6355" b="20523"/>
          <a:stretch>
            <a:fillRect/>
          </a:stretch>
        </p:blipFill>
        <p:spPr bwMode="auto">
          <a:xfrm>
            <a:off x="0" y="0"/>
            <a:ext cx="18291175" cy="1257300"/>
          </a:xfrm>
          <a:prstGeom prst="rect">
            <a:avLst/>
          </a:prstGeom>
          <a:noFill/>
          <a:ln w="9525">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a:srcRect r="6355" b="20523"/>
          <a:stretch>
            <a:fillRect/>
          </a:stretch>
        </p:blipFill>
        <p:spPr bwMode="auto">
          <a:xfrm>
            <a:off x="0" y="0"/>
            <a:ext cx="18291175" cy="1257300"/>
          </a:xfrm>
          <a:prstGeom prst="rect">
            <a:avLst/>
          </a:prstGeom>
          <a:noFill/>
          <a:ln w="9525">
            <a:noFill/>
            <a:miter lim="800000"/>
            <a:headEnd/>
            <a:tailEnd/>
          </a:ln>
        </p:spPr>
      </p:pic>
      <p:sp>
        <p:nvSpPr>
          <p:cNvPr id="3" name="文本占位符 7"/>
          <p:cNvSpPr>
            <a:spLocks noGrp="1"/>
          </p:cNvSpPr>
          <p:nvPr>
            <p:ph type="body" sz="quarter" idx="10"/>
          </p:nvPr>
        </p:nvSpPr>
        <p:spPr>
          <a:xfrm>
            <a:off x="458146" y="320551"/>
            <a:ext cx="17353928" cy="648072"/>
          </a:xfrm>
          <a:prstGeom prst="rect">
            <a:avLst/>
          </a:prstGeom>
        </p:spPr>
        <p:txBody>
          <a:bodyPr/>
          <a:lstStyle>
            <a:lvl1pPr>
              <a:buNone/>
              <a:defRPr sz="44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3" name="矩形 2"/>
          <p:cNvSpPr/>
          <p:nvPr userDrawn="1"/>
        </p:nvSpPr>
        <p:spPr>
          <a:xfrm>
            <a:off x="-7144" y="4129425"/>
            <a:ext cx="18305463" cy="2031325"/>
          </a:xfrm>
          <a:prstGeom prst="rect">
            <a:avLst/>
          </a:prstGeom>
        </p:spPr>
        <p:txBody>
          <a:bodyPr wrap="square" anchor="ctr">
            <a:spAutoFit/>
          </a:bodyPr>
          <a:lstStyle>
            <a:defPPr>
              <a:defRPr lang="zh-CN"/>
            </a:defPPr>
            <a:lvl1pPr algn="l" rtl="0" fontAlgn="base">
              <a:spcBef>
                <a:spcPct val="0"/>
              </a:spcBef>
              <a:spcAft>
                <a:spcPct val="0"/>
              </a:spcAft>
              <a:defRPr kern="1200">
                <a:solidFill>
                  <a:schemeClr val="tx1"/>
                </a:solidFill>
                <a:latin typeface="Arial" panose="02080604020202020204" charset="0"/>
                <a:ea typeface="宋体" charset="-122"/>
                <a:cs typeface="+mn-cs"/>
              </a:defRPr>
            </a:lvl1pPr>
            <a:lvl2pPr marL="914400" indent="-457200" algn="l" rtl="0" fontAlgn="base">
              <a:spcBef>
                <a:spcPct val="0"/>
              </a:spcBef>
              <a:spcAft>
                <a:spcPct val="0"/>
              </a:spcAft>
              <a:defRPr kern="1200">
                <a:solidFill>
                  <a:schemeClr val="tx1"/>
                </a:solidFill>
                <a:latin typeface="Arial" panose="02080604020202020204" charset="0"/>
                <a:ea typeface="宋体" charset="-122"/>
                <a:cs typeface="+mn-cs"/>
              </a:defRPr>
            </a:lvl2pPr>
            <a:lvl3pPr marL="1828800" indent="-914400" algn="l" rtl="0" fontAlgn="base">
              <a:spcBef>
                <a:spcPct val="0"/>
              </a:spcBef>
              <a:spcAft>
                <a:spcPct val="0"/>
              </a:spcAft>
              <a:defRPr kern="1200">
                <a:solidFill>
                  <a:schemeClr val="tx1"/>
                </a:solidFill>
                <a:latin typeface="Arial" panose="02080604020202020204" charset="0"/>
                <a:ea typeface="宋体" charset="-122"/>
                <a:cs typeface="+mn-cs"/>
              </a:defRPr>
            </a:lvl3pPr>
            <a:lvl4pPr marL="2743200" indent="-1371600" algn="l" rtl="0" fontAlgn="base">
              <a:spcBef>
                <a:spcPct val="0"/>
              </a:spcBef>
              <a:spcAft>
                <a:spcPct val="0"/>
              </a:spcAft>
              <a:defRPr kern="1200">
                <a:solidFill>
                  <a:schemeClr val="tx1"/>
                </a:solidFill>
                <a:latin typeface="Arial" panose="02080604020202020204" charset="0"/>
                <a:ea typeface="宋体" charset="-122"/>
                <a:cs typeface="+mn-cs"/>
              </a:defRPr>
            </a:lvl4pPr>
            <a:lvl5pPr marL="3657600" indent="-1828800" algn="l" rtl="0" fontAlgn="base">
              <a:spcBef>
                <a:spcPct val="0"/>
              </a:spcBef>
              <a:spcAft>
                <a:spcPct val="0"/>
              </a:spcAft>
              <a:defRPr kern="1200">
                <a:solidFill>
                  <a:schemeClr val="tx1"/>
                </a:solidFill>
                <a:latin typeface="Arial" panose="02080604020202020204" charset="0"/>
                <a:ea typeface="宋体" charset="-122"/>
                <a:cs typeface="+mn-cs"/>
              </a:defRPr>
            </a:lvl5pPr>
            <a:lvl6pPr marL="2286000" algn="l" defTabSz="914400" rtl="0" eaLnBrk="1" latinLnBrk="0" hangingPunct="1">
              <a:defRPr kern="1200">
                <a:solidFill>
                  <a:schemeClr val="tx1"/>
                </a:solidFill>
                <a:latin typeface="Arial" panose="02080604020202020204" charset="0"/>
                <a:ea typeface="宋体" charset="-122"/>
                <a:cs typeface="+mn-cs"/>
              </a:defRPr>
            </a:lvl6pPr>
            <a:lvl7pPr marL="2743200" algn="l" defTabSz="914400" rtl="0" eaLnBrk="1" latinLnBrk="0" hangingPunct="1">
              <a:defRPr kern="1200">
                <a:solidFill>
                  <a:schemeClr val="tx1"/>
                </a:solidFill>
                <a:latin typeface="Arial" panose="02080604020202020204" charset="0"/>
                <a:ea typeface="宋体" charset="-122"/>
                <a:cs typeface="+mn-cs"/>
              </a:defRPr>
            </a:lvl7pPr>
            <a:lvl8pPr marL="3200400" algn="l" defTabSz="914400" rtl="0" eaLnBrk="1" latinLnBrk="0" hangingPunct="1">
              <a:defRPr kern="1200">
                <a:solidFill>
                  <a:schemeClr val="tx1"/>
                </a:solidFill>
                <a:latin typeface="Arial" panose="02080604020202020204" charset="0"/>
                <a:ea typeface="宋体" charset="-122"/>
                <a:cs typeface="+mn-cs"/>
              </a:defRPr>
            </a:lvl8pPr>
            <a:lvl9pPr marL="3657600" algn="l" defTabSz="914400" rtl="0" eaLnBrk="1" latinLnBrk="0" hangingPunct="1">
              <a:defRPr kern="1200">
                <a:solidFill>
                  <a:schemeClr val="tx1"/>
                </a:solidFill>
                <a:latin typeface="Arial" panose="02080604020202020204" charset="0"/>
                <a:ea typeface="宋体" charset="-122"/>
                <a:cs typeface="+mn-cs"/>
              </a:defRPr>
            </a:lvl9pPr>
          </a:lstStyle>
          <a:p>
            <a:pPr algn="ctr"/>
            <a:r>
              <a:rPr lang="en-US" altLang="zh-CN" sz="12600" dirty="0">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The End</a:t>
            </a:r>
          </a:p>
        </p:txBody>
      </p:sp>
      <p:pic>
        <p:nvPicPr>
          <p:cNvPr id="2050" name="Picture 2" descr="E:\06-PPT课件\1.4-模版\图片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7" y="5665"/>
            <a:ext cx="18288000" cy="1028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3" name="矩形 2"/>
          <p:cNvSpPr/>
          <p:nvPr userDrawn="1"/>
        </p:nvSpPr>
        <p:spPr>
          <a:xfrm>
            <a:off x="-7144" y="4129425"/>
            <a:ext cx="18305463" cy="2031325"/>
          </a:xfrm>
          <a:prstGeom prst="rect">
            <a:avLst/>
          </a:prstGeom>
        </p:spPr>
        <p:txBody>
          <a:bodyPr wrap="square" anchor="ctr">
            <a:spAutoFit/>
          </a:bodyPr>
          <a:lstStyle>
            <a:defPPr>
              <a:defRPr lang="zh-CN"/>
            </a:defPPr>
            <a:lvl1pPr algn="l" rtl="0" fontAlgn="base">
              <a:spcBef>
                <a:spcPct val="0"/>
              </a:spcBef>
              <a:spcAft>
                <a:spcPct val="0"/>
              </a:spcAft>
              <a:defRPr kern="1200">
                <a:solidFill>
                  <a:schemeClr val="tx1"/>
                </a:solidFill>
                <a:latin typeface="Arial" panose="02080604020202020204" charset="0"/>
                <a:ea typeface="宋体" charset="-122"/>
                <a:cs typeface="+mn-cs"/>
              </a:defRPr>
            </a:lvl1pPr>
            <a:lvl2pPr marL="914400" indent="-457200" algn="l" rtl="0" fontAlgn="base">
              <a:spcBef>
                <a:spcPct val="0"/>
              </a:spcBef>
              <a:spcAft>
                <a:spcPct val="0"/>
              </a:spcAft>
              <a:defRPr kern="1200">
                <a:solidFill>
                  <a:schemeClr val="tx1"/>
                </a:solidFill>
                <a:latin typeface="Arial" panose="02080604020202020204" charset="0"/>
                <a:ea typeface="宋体" charset="-122"/>
                <a:cs typeface="+mn-cs"/>
              </a:defRPr>
            </a:lvl2pPr>
            <a:lvl3pPr marL="1828800" indent="-914400" algn="l" rtl="0" fontAlgn="base">
              <a:spcBef>
                <a:spcPct val="0"/>
              </a:spcBef>
              <a:spcAft>
                <a:spcPct val="0"/>
              </a:spcAft>
              <a:defRPr kern="1200">
                <a:solidFill>
                  <a:schemeClr val="tx1"/>
                </a:solidFill>
                <a:latin typeface="Arial" panose="02080604020202020204" charset="0"/>
                <a:ea typeface="宋体" charset="-122"/>
                <a:cs typeface="+mn-cs"/>
              </a:defRPr>
            </a:lvl3pPr>
            <a:lvl4pPr marL="2743200" indent="-1371600" algn="l" rtl="0" fontAlgn="base">
              <a:spcBef>
                <a:spcPct val="0"/>
              </a:spcBef>
              <a:spcAft>
                <a:spcPct val="0"/>
              </a:spcAft>
              <a:defRPr kern="1200">
                <a:solidFill>
                  <a:schemeClr val="tx1"/>
                </a:solidFill>
                <a:latin typeface="Arial" panose="02080604020202020204" charset="0"/>
                <a:ea typeface="宋体" charset="-122"/>
                <a:cs typeface="+mn-cs"/>
              </a:defRPr>
            </a:lvl4pPr>
            <a:lvl5pPr marL="3657600" indent="-1828800" algn="l" rtl="0" fontAlgn="base">
              <a:spcBef>
                <a:spcPct val="0"/>
              </a:spcBef>
              <a:spcAft>
                <a:spcPct val="0"/>
              </a:spcAft>
              <a:defRPr kern="1200">
                <a:solidFill>
                  <a:schemeClr val="tx1"/>
                </a:solidFill>
                <a:latin typeface="Arial" panose="02080604020202020204" charset="0"/>
                <a:ea typeface="宋体" charset="-122"/>
                <a:cs typeface="+mn-cs"/>
              </a:defRPr>
            </a:lvl5pPr>
            <a:lvl6pPr marL="2286000" algn="l" defTabSz="914400" rtl="0" eaLnBrk="1" latinLnBrk="0" hangingPunct="1">
              <a:defRPr kern="1200">
                <a:solidFill>
                  <a:schemeClr val="tx1"/>
                </a:solidFill>
                <a:latin typeface="Arial" panose="02080604020202020204" charset="0"/>
                <a:ea typeface="宋体" charset="-122"/>
                <a:cs typeface="+mn-cs"/>
              </a:defRPr>
            </a:lvl6pPr>
            <a:lvl7pPr marL="2743200" algn="l" defTabSz="914400" rtl="0" eaLnBrk="1" latinLnBrk="0" hangingPunct="1">
              <a:defRPr kern="1200">
                <a:solidFill>
                  <a:schemeClr val="tx1"/>
                </a:solidFill>
                <a:latin typeface="Arial" panose="02080604020202020204" charset="0"/>
                <a:ea typeface="宋体" charset="-122"/>
                <a:cs typeface="+mn-cs"/>
              </a:defRPr>
            </a:lvl7pPr>
            <a:lvl8pPr marL="3200400" algn="l" defTabSz="914400" rtl="0" eaLnBrk="1" latinLnBrk="0" hangingPunct="1">
              <a:defRPr kern="1200">
                <a:solidFill>
                  <a:schemeClr val="tx1"/>
                </a:solidFill>
                <a:latin typeface="Arial" panose="02080604020202020204" charset="0"/>
                <a:ea typeface="宋体" charset="-122"/>
                <a:cs typeface="+mn-cs"/>
              </a:defRPr>
            </a:lvl8pPr>
            <a:lvl9pPr marL="3657600" algn="l" defTabSz="914400" rtl="0" eaLnBrk="1" latinLnBrk="0" hangingPunct="1">
              <a:defRPr kern="1200">
                <a:solidFill>
                  <a:schemeClr val="tx1"/>
                </a:solidFill>
                <a:latin typeface="Arial" panose="02080604020202020204" charset="0"/>
                <a:ea typeface="宋体" charset="-122"/>
                <a:cs typeface="+mn-cs"/>
              </a:defRPr>
            </a:lvl9pPr>
          </a:lstStyle>
          <a:p>
            <a:pPr algn="ctr"/>
            <a:r>
              <a:rPr lang="en-US" altLang="zh-CN" sz="12600" dirty="0">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To be continued</a:t>
            </a:r>
          </a:p>
        </p:txBody>
      </p:sp>
      <p:pic>
        <p:nvPicPr>
          <p:cNvPr id="4" name="Picture 2" descr="E:\06-PPT课件\1.4-模版\图片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7" y="5665"/>
            <a:ext cx="18288000" cy="1028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026" name="Picture 2" descr="E:\06-PPT课件\1.4-模版\图片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63" y="2883"/>
            <a:ext cx="18288000" cy="102870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2" name="TextBox 15"/>
          <p:cNvSpPr txBox="1"/>
          <p:nvPr userDrawn="1"/>
        </p:nvSpPr>
        <p:spPr>
          <a:xfrm>
            <a:off x="935850" y="3241773"/>
            <a:ext cx="4753353" cy="677145"/>
          </a:xfrm>
          <a:prstGeom prst="rect">
            <a:avLst/>
          </a:prstGeom>
          <a:noFill/>
        </p:spPr>
        <p:txBody>
          <a:bodyPr wrap="square" lIns="182917" tIns="91458" rIns="182917" bIns="91458" rtlCol="0">
            <a:spAutoFit/>
          </a:bodyPr>
          <a:lstStyle/>
          <a:p>
            <a:pPr algn="ctr"/>
            <a:r>
              <a:rPr lang="en-US" altLang="zh-CN" sz="3200" dirty="0">
                <a:solidFill>
                  <a:schemeClr val="bg1">
                    <a:lumMod val="65000"/>
                  </a:schemeClr>
                </a:solidFill>
                <a:latin typeface="Times New Roman" panose="02020603050405020304" pitchFamily="18" charset="0"/>
                <a:ea typeface="微软雅黑" panose="020B0503020204020204" pitchFamily="34" charset="-122"/>
                <a:cs typeface="Times New Roman" panose="02020603050405020304" pitchFamily="18" charset="0"/>
              </a:rPr>
              <a:t> INTRODUCTION</a:t>
            </a:r>
          </a:p>
        </p:txBody>
      </p:sp>
      <p:sp>
        <p:nvSpPr>
          <p:cNvPr id="3" name="文本框 52"/>
          <p:cNvSpPr txBox="1"/>
          <p:nvPr userDrawn="1"/>
        </p:nvSpPr>
        <p:spPr>
          <a:xfrm>
            <a:off x="722180" y="2192759"/>
            <a:ext cx="5446395" cy="1292698"/>
          </a:xfrm>
          <a:prstGeom prst="rect">
            <a:avLst/>
          </a:prstGeom>
          <a:noFill/>
        </p:spPr>
        <p:txBody>
          <a:bodyPr wrap="square" lIns="182917" tIns="91458" rIns="182917" bIns="91458" rtlCol="0">
            <a:spAutoFit/>
          </a:bodyPr>
          <a:lstStyle/>
          <a:p>
            <a:pPr algn="ctr"/>
            <a:r>
              <a:rPr lang="zh-CN" altLang="en-US" sz="7200" b="1" dirty="0">
                <a:solidFill>
                  <a:schemeClr val="tx1">
                    <a:lumMod val="65000"/>
                    <a:lumOff val="35000"/>
                  </a:schemeClr>
                </a:solidFill>
                <a:latin typeface="微软雅黑" panose="020B0503020204020204" pitchFamily="34" charset="-122"/>
                <a:ea typeface="微软雅黑" panose="020B0503020204020204" pitchFamily="34" charset="-122"/>
              </a:rPr>
              <a:t>内容简介</a:t>
            </a:r>
          </a:p>
        </p:txBody>
      </p:sp>
      <p:pic>
        <p:nvPicPr>
          <p:cNvPr id="4" name="Picture 2"/>
          <p:cNvPicPr>
            <a:picLocks noChangeAspect="1" noChangeArrowheads="1"/>
          </p:cNvPicPr>
          <p:nvPr userDrawn="1"/>
        </p:nvPicPr>
        <p:blipFill>
          <a:blip r:embed="rId2"/>
          <a:srcRect r="6355" b="20523"/>
          <a:stretch>
            <a:fillRect/>
          </a:stretch>
        </p:blipFill>
        <p:spPr bwMode="auto">
          <a:xfrm>
            <a:off x="0" y="0"/>
            <a:ext cx="18291175" cy="1257300"/>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a:srcRect r="6355" b="20523"/>
          <a:stretch>
            <a:fillRect/>
          </a:stretch>
        </p:blipFill>
        <p:spPr bwMode="auto">
          <a:xfrm>
            <a:off x="0" y="0"/>
            <a:ext cx="18291175" cy="1257300"/>
          </a:xfrm>
          <a:prstGeom prst="rect">
            <a:avLst/>
          </a:prstGeom>
          <a:noFill/>
          <a:ln w="9525">
            <a:noFill/>
            <a:miter lim="800000"/>
            <a:headEnd/>
            <a:tailEnd/>
          </a:ln>
        </p:spPr>
      </p:pic>
      <p:sp>
        <p:nvSpPr>
          <p:cNvPr id="3" name="文本占位符 7"/>
          <p:cNvSpPr>
            <a:spLocks noGrp="1"/>
          </p:cNvSpPr>
          <p:nvPr>
            <p:ph type="body" sz="quarter" idx="10"/>
          </p:nvPr>
        </p:nvSpPr>
        <p:spPr>
          <a:xfrm>
            <a:off x="458146" y="320551"/>
            <a:ext cx="17353928" cy="648072"/>
          </a:xfrm>
          <a:prstGeom prst="rect">
            <a:avLst/>
          </a:prstGeom>
        </p:spPr>
        <p:txBody>
          <a:bodyPr/>
          <a:lstStyle>
            <a:lvl1pPr>
              <a:buNone/>
              <a:defRPr sz="44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3" name="矩形 2"/>
          <p:cNvSpPr/>
          <p:nvPr userDrawn="1"/>
        </p:nvSpPr>
        <p:spPr>
          <a:xfrm>
            <a:off x="-7144" y="4129425"/>
            <a:ext cx="18305463" cy="2031325"/>
          </a:xfrm>
          <a:prstGeom prst="rect">
            <a:avLst/>
          </a:prstGeom>
        </p:spPr>
        <p:txBody>
          <a:bodyPr wrap="square" anchor="ctr">
            <a:spAutoFit/>
          </a:bodyPr>
          <a:lstStyle>
            <a:defPPr>
              <a:defRPr lang="zh-CN"/>
            </a:defPPr>
            <a:lvl1pPr algn="l" rtl="0" fontAlgn="base">
              <a:spcBef>
                <a:spcPct val="0"/>
              </a:spcBef>
              <a:spcAft>
                <a:spcPct val="0"/>
              </a:spcAft>
              <a:defRPr kern="1200">
                <a:solidFill>
                  <a:schemeClr val="tx1"/>
                </a:solidFill>
                <a:latin typeface="Arial" panose="02080604020202020204" charset="0"/>
                <a:ea typeface="宋体" charset="-122"/>
                <a:cs typeface="+mn-cs"/>
              </a:defRPr>
            </a:lvl1pPr>
            <a:lvl2pPr marL="914400" indent="-457200" algn="l" rtl="0" fontAlgn="base">
              <a:spcBef>
                <a:spcPct val="0"/>
              </a:spcBef>
              <a:spcAft>
                <a:spcPct val="0"/>
              </a:spcAft>
              <a:defRPr kern="1200">
                <a:solidFill>
                  <a:schemeClr val="tx1"/>
                </a:solidFill>
                <a:latin typeface="Arial" panose="02080604020202020204" charset="0"/>
                <a:ea typeface="宋体" charset="-122"/>
                <a:cs typeface="+mn-cs"/>
              </a:defRPr>
            </a:lvl2pPr>
            <a:lvl3pPr marL="1828800" indent="-914400" algn="l" rtl="0" fontAlgn="base">
              <a:spcBef>
                <a:spcPct val="0"/>
              </a:spcBef>
              <a:spcAft>
                <a:spcPct val="0"/>
              </a:spcAft>
              <a:defRPr kern="1200">
                <a:solidFill>
                  <a:schemeClr val="tx1"/>
                </a:solidFill>
                <a:latin typeface="Arial" panose="02080604020202020204" charset="0"/>
                <a:ea typeface="宋体" charset="-122"/>
                <a:cs typeface="+mn-cs"/>
              </a:defRPr>
            </a:lvl3pPr>
            <a:lvl4pPr marL="2743200" indent="-1371600" algn="l" rtl="0" fontAlgn="base">
              <a:spcBef>
                <a:spcPct val="0"/>
              </a:spcBef>
              <a:spcAft>
                <a:spcPct val="0"/>
              </a:spcAft>
              <a:defRPr kern="1200">
                <a:solidFill>
                  <a:schemeClr val="tx1"/>
                </a:solidFill>
                <a:latin typeface="Arial" panose="02080604020202020204" charset="0"/>
                <a:ea typeface="宋体" charset="-122"/>
                <a:cs typeface="+mn-cs"/>
              </a:defRPr>
            </a:lvl4pPr>
            <a:lvl5pPr marL="3657600" indent="-1828800" algn="l" rtl="0" fontAlgn="base">
              <a:spcBef>
                <a:spcPct val="0"/>
              </a:spcBef>
              <a:spcAft>
                <a:spcPct val="0"/>
              </a:spcAft>
              <a:defRPr kern="1200">
                <a:solidFill>
                  <a:schemeClr val="tx1"/>
                </a:solidFill>
                <a:latin typeface="Arial" panose="02080604020202020204" charset="0"/>
                <a:ea typeface="宋体" charset="-122"/>
                <a:cs typeface="+mn-cs"/>
              </a:defRPr>
            </a:lvl5pPr>
            <a:lvl6pPr marL="2286000" algn="l" defTabSz="914400" rtl="0" eaLnBrk="1" latinLnBrk="0" hangingPunct="1">
              <a:defRPr kern="1200">
                <a:solidFill>
                  <a:schemeClr val="tx1"/>
                </a:solidFill>
                <a:latin typeface="Arial" panose="02080604020202020204" charset="0"/>
                <a:ea typeface="宋体" charset="-122"/>
                <a:cs typeface="+mn-cs"/>
              </a:defRPr>
            </a:lvl6pPr>
            <a:lvl7pPr marL="2743200" algn="l" defTabSz="914400" rtl="0" eaLnBrk="1" latinLnBrk="0" hangingPunct="1">
              <a:defRPr kern="1200">
                <a:solidFill>
                  <a:schemeClr val="tx1"/>
                </a:solidFill>
                <a:latin typeface="Arial" panose="02080604020202020204" charset="0"/>
                <a:ea typeface="宋体" charset="-122"/>
                <a:cs typeface="+mn-cs"/>
              </a:defRPr>
            </a:lvl7pPr>
            <a:lvl8pPr marL="3200400" algn="l" defTabSz="914400" rtl="0" eaLnBrk="1" latinLnBrk="0" hangingPunct="1">
              <a:defRPr kern="1200">
                <a:solidFill>
                  <a:schemeClr val="tx1"/>
                </a:solidFill>
                <a:latin typeface="Arial" panose="02080604020202020204" charset="0"/>
                <a:ea typeface="宋体" charset="-122"/>
                <a:cs typeface="+mn-cs"/>
              </a:defRPr>
            </a:lvl8pPr>
            <a:lvl9pPr marL="3657600" algn="l" defTabSz="914400" rtl="0" eaLnBrk="1" latinLnBrk="0" hangingPunct="1">
              <a:defRPr kern="1200">
                <a:solidFill>
                  <a:schemeClr val="tx1"/>
                </a:solidFill>
                <a:latin typeface="Arial" panose="02080604020202020204" charset="0"/>
                <a:ea typeface="宋体" charset="-122"/>
                <a:cs typeface="+mn-cs"/>
              </a:defRPr>
            </a:lvl9pPr>
          </a:lstStyle>
          <a:p>
            <a:pPr algn="ctr"/>
            <a:r>
              <a:rPr lang="en-US" altLang="zh-CN" sz="12600" dirty="0">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The End</a:t>
            </a:r>
          </a:p>
        </p:txBody>
      </p:sp>
      <p:pic>
        <p:nvPicPr>
          <p:cNvPr id="2050" name="Picture 2" descr="E:\06-PPT课件\1.4-模版\图片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7" y="5665"/>
            <a:ext cx="18288000" cy="1028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3" name="矩形 2"/>
          <p:cNvSpPr/>
          <p:nvPr userDrawn="1"/>
        </p:nvSpPr>
        <p:spPr>
          <a:xfrm>
            <a:off x="-7144" y="4129425"/>
            <a:ext cx="18305463" cy="2031325"/>
          </a:xfrm>
          <a:prstGeom prst="rect">
            <a:avLst/>
          </a:prstGeom>
        </p:spPr>
        <p:txBody>
          <a:bodyPr wrap="square" anchor="ctr">
            <a:spAutoFit/>
          </a:bodyPr>
          <a:lstStyle>
            <a:defPPr>
              <a:defRPr lang="zh-CN"/>
            </a:defPPr>
            <a:lvl1pPr algn="l" rtl="0" fontAlgn="base">
              <a:spcBef>
                <a:spcPct val="0"/>
              </a:spcBef>
              <a:spcAft>
                <a:spcPct val="0"/>
              </a:spcAft>
              <a:defRPr kern="1200">
                <a:solidFill>
                  <a:schemeClr val="tx1"/>
                </a:solidFill>
                <a:latin typeface="Arial" panose="02080604020202020204" charset="0"/>
                <a:ea typeface="宋体" charset="-122"/>
                <a:cs typeface="+mn-cs"/>
              </a:defRPr>
            </a:lvl1pPr>
            <a:lvl2pPr marL="914400" indent="-457200" algn="l" rtl="0" fontAlgn="base">
              <a:spcBef>
                <a:spcPct val="0"/>
              </a:spcBef>
              <a:spcAft>
                <a:spcPct val="0"/>
              </a:spcAft>
              <a:defRPr kern="1200">
                <a:solidFill>
                  <a:schemeClr val="tx1"/>
                </a:solidFill>
                <a:latin typeface="Arial" panose="02080604020202020204" charset="0"/>
                <a:ea typeface="宋体" charset="-122"/>
                <a:cs typeface="+mn-cs"/>
              </a:defRPr>
            </a:lvl2pPr>
            <a:lvl3pPr marL="1828800" indent="-914400" algn="l" rtl="0" fontAlgn="base">
              <a:spcBef>
                <a:spcPct val="0"/>
              </a:spcBef>
              <a:spcAft>
                <a:spcPct val="0"/>
              </a:spcAft>
              <a:defRPr kern="1200">
                <a:solidFill>
                  <a:schemeClr val="tx1"/>
                </a:solidFill>
                <a:latin typeface="Arial" panose="02080604020202020204" charset="0"/>
                <a:ea typeface="宋体" charset="-122"/>
                <a:cs typeface="+mn-cs"/>
              </a:defRPr>
            </a:lvl3pPr>
            <a:lvl4pPr marL="2743200" indent="-1371600" algn="l" rtl="0" fontAlgn="base">
              <a:spcBef>
                <a:spcPct val="0"/>
              </a:spcBef>
              <a:spcAft>
                <a:spcPct val="0"/>
              </a:spcAft>
              <a:defRPr kern="1200">
                <a:solidFill>
                  <a:schemeClr val="tx1"/>
                </a:solidFill>
                <a:latin typeface="Arial" panose="02080604020202020204" charset="0"/>
                <a:ea typeface="宋体" charset="-122"/>
                <a:cs typeface="+mn-cs"/>
              </a:defRPr>
            </a:lvl4pPr>
            <a:lvl5pPr marL="3657600" indent="-1828800" algn="l" rtl="0" fontAlgn="base">
              <a:spcBef>
                <a:spcPct val="0"/>
              </a:spcBef>
              <a:spcAft>
                <a:spcPct val="0"/>
              </a:spcAft>
              <a:defRPr kern="1200">
                <a:solidFill>
                  <a:schemeClr val="tx1"/>
                </a:solidFill>
                <a:latin typeface="Arial" panose="02080604020202020204" charset="0"/>
                <a:ea typeface="宋体" charset="-122"/>
                <a:cs typeface="+mn-cs"/>
              </a:defRPr>
            </a:lvl5pPr>
            <a:lvl6pPr marL="2286000" algn="l" defTabSz="914400" rtl="0" eaLnBrk="1" latinLnBrk="0" hangingPunct="1">
              <a:defRPr kern="1200">
                <a:solidFill>
                  <a:schemeClr val="tx1"/>
                </a:solidFill>
                <a:latin typeface="Arial" panose="02080604020202020204" charset="0"/>
                <a:ea typeface="宋体" charset="-122"/>
                <a:cs typeface="+mn-cs"/>
              </a:defRPr>
            </a:lvl6pPr>
            <a:lvl7pPr marL="2743200" algn="l" defTabSz="914400" rtl="0" eaLnBrk="1" latinLnBrk="0" hangingPunct="1">
              <a:defRPr kern="1200">
                <a:solidFill>
                  <a:schemeClr val="tx1"/>
                </a:solidFill>
                <a:latin typeface="Arial" panose="02080604020202020204" charset="0"/>
                <a:ea typeface="宋体" charset="-122"/>
                <a:cs typeface="+mn-cs"/>
              </a:defRPr>
            </a:lvl7pPr>
            <a:lvl8pPr marL="3200400" algn="l" defTabSz="914400" rtl="0" eaLnBrk="1" latinLnBrk="0" hangingPunct="1">
              <a:defRPr kern="1200">
                <a:solidFill>
                  <a:schemeClr val="tx1"/>
                </a:solidFill>
                <a:latin typeface="Arial" panose="02080604020202020204" charset="0"/>
                <a:ea typeface="宋体" charset="-122"/>
                <a:cs typeface="+mn-cs"/>
              </a:defRPr>
            </a:lvl8pPr>
            <a:lvl9pPr marL="3657600" algn="l" defTabSz="914400" rtl="0" eaLnBrk="1" latinLnBrk="0" hangingPunct="1">
              <a:defRPr kern="1200">
                <a:solidFill>
                  <a:schemeClr val="tx1"/>
                </a:solidFill>
                <a:latin typeface="Arial" panose="02080604020202020204" charset="0"/>
                <a:ea typeface="宋体" charset="-122"/>
                <a:cs typeface="+mn-cs"/>
              </a:defRPr>
            </a:lvl9pPr>
          </a:lstStyle>
          <a:p>
            <a:pPr algn="ctr"/>
            <a:r>
              <a:rPr lang="en-US" altLang="zh-CN" sz="12600" dirty="0">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To be continued</a:t>
            </a:r>
          </a:p>
        </p:txBody>
      </p:sp>
      <p:pic>
        <p:nvPicPr>
          <p:cNvPr id="4" name="Picture 2" descr="E:\06-PPT课件\1.4-模版\图片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7" y="5665"/>
            <a:ext cx="18288000" cy="1028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8060402020202020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8060402020202020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8060402020202020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2" descr="E:\06-PPT+课程\12.26-水印\水印-i春秋.png"/>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571" y="-15061"/>
            <a:ext cx="18146588" cy="1030709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8060402020202020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8060402020202020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8060402020202020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409719" y="3356734"/>
            <a:ext cx="7366000" cy="2619430"/>
            <a:chOff x="8499" y="7153"/>
            <a:chExt cx="11600" cy="4125"/>
          </a:xfrm>
        </p:grpSpPr>
        <p:sp>
          <p:nvSpPr>
            <p:cNvPr id="5" name="TextBox 6"/>
            <p:cNvSpPr txBox="1"/>
            <p:nvPr/>
          </p:nvSpPr>
          <p:spPr>
            <a:xfrm>
              <a:off x="11434" y="10309"/>
              <a:ext cx="5718" cy="969"/>
            </a:xfrm>
            <a:prstGeom prst="rect">
              <a:avLst/>
            </a:prstGeom>
            <a:noFill/>
          </p:spPr>
          <p:txBody>
            <a:bodyPr vert="horz" wrap="square" lIns="0" tIns="0" rIns="0" bIns="0" rtlCol="0" anchor="ctr">
              <a:spAutoFit/>
            </a:bodyPr>
            <a:lstStyle/>
            <a:p>
              <a:pPr algn="ctr"/>
              <a:r>
                <a:rPr lang="zh-CN" altLang="en-US" sz="4000" dirty="0">
                  <a:solidFill>
                    <a:schemeClr val="tx1">
                      <a:lumMod val="50000"/>
                      <a:lumOff val="50000"/>
                    </a:schemeClr>
                  </a:solidFill>
                  <a:latin typeface="微软雅黑" panose="020B0503020204020204" pitchFamily="34" charset="-122"/>
                  <a:ea typeface="微软雅黑" panose="020B0503020204020204" pitchFamily="34" charset="-122"/>
                </a:rPr>
                <a:t>讲师</a:t>
              </a:r>
              <a:r>
                <a:rPr lang="zh-CN" altLang="en-US" sz="4000" dirty="0" smtClean="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4000" dirty="0" err="1">
                  <a:solidFill>
                    <a:schemeClr val="tx1">
                      <a:lumMod val="50000"/>
                      <a:lumOff val="50000"/>
                    </a:schemeClr>
                  </a:solidFill>
                  <a:latin typeface="微软雅黑" panose="020B0503020204020204" pitchFamily="34" charset="-122"/>
                  <a:ea typeface="微软雅黑" panose="020B0503020204020204" pitchFamily="34" charset="-122"/>
                </a:rPr>
                <a:t>R@feal</a:t>
              </a:r>
              <a:endParaRPr lang="x-none" altLang="zh-CN" sz="4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矩形 5"/>
            <p:cNvSpPr/>
            <p:nvPr/>
          </p:nvSpPr>
          <p:spPr>
            <a:xfrm>
              <a:off x="8499" y="7153"/>
              <a:ext cx="11600" cy="2084"/>
            </a:xfrm>
            <a:prstGeom prst="rect">
              <a:avLst/>
            </a:prstGeom>
          </p:spPr>
          <p:txBody>
            <a:bodyPr wrap="none">
              <a:spAutoFit/>
            </a:bodyPr>
            <a:lstStyle/>
            <a:p>
              <a:pPr marL="548640" lvl="0" indent="-548640" algn="ctr">
                <a:spcBef>
                  <a:spcPct val="20000"/>
                </a:spcBef>
                <a:spcAft>
                  <a:spcPts val="0"/>
                </a:spcAft>
                <a:buClr>
                  <a:schemeClr val="accent3"/>
                </a:buClr>
                <a:buSzPct val="95000"/>
                <a:defRPr/>
              </a:pPr>
              <a:r>
                <a:rPr lang="zh-CN" altLang="en-US" sz="8000" b="1" dirty="0">
                  <a:solidFill>
                    <a:schemeClr val="tx1">
                      <a:lumMod val="75000"/>
                      <a:lumOff val="25000"/>
                    </a:schemeClr>
                  </a:solidFill>
                  <a:latin typeface="微软雅黑" panose="020B0503020204020204" pitchFamily="34" charset="-122"/>
                  <a:ea typeface="微软雅黑" panose="020B0503020204020204" pitchFamily="34" charset="-122"/>
                </a:rPr>
                <a:t>基</a:t>
              </a:r>
              <a:r>
                <a:rPr lang="zh-CN" altLang="en-US" sz="8000" b="1" dirty="0" smtClean="0">
                  <a:solidFill>
                    <a:schemeClr val="tx1">
                      <a:lumMod val="75000"/>
                      <a:lumOff val="25000"/>
                    </a:schemeClr>
                  </a:solidFill>
                  <a:latin typeface="微软雅黑" panose="020B0503020204020204" pitchFamily="34" charset="-122"/>
                  <a:ea typeface="微软雅黑" panose="020B0503020204020204" pitchFamily="34" charset="-122"/>
                </a:rPr>
                <a:t>线检查（上）</a:t>
              </a:r>
              <a:endParaRPr lang="x-none" altLang="zh-CN" sz="8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890726" y="2912839"/>
            <a:ext cx="9671050" cy="821690"/>
            <a:chOff x="10624" y="3620"/>
            <a:chExt cx="15230" cy="1294"/>
          </a:xfrm>
        </p:grpSpPr>
        <p:grpSp>
          <p:nvGrpSpPr>
            <p:cNvPr id="3" name="组合 2"/>
            <p:cNvGrpSpPr/>
            <p:nvPr/>
          </p:nvGrpSpPr>
          <p:grpSpPr>
            <a:xfrm>
              <a:off x="10624" y="3688"/>
              <a:ext cx="13077" cy="1226"/>
              <a:chOff x="10624" y="3688"/>
              <a:chExt cx="13077" cy="1226"/>
            </a:xfrm>
          </p:grpSpPr>
          <p:pic>
            <p:nvPicPr>
              <p:cNvPr id="5" name="Picture 2"/>
              <p:cNvPicPr>
                <a:picLocks noChangeAspect="1" noChangeArrowheads="1"/>
              </p:cNvPicPr>
              <p:nvPr/>
            </p:nvPicPr>
            <p:blipFill>
              <a:blip r:embed="rId2" cstate="print"/>
              <a:srcRect/>
              <a:stretch>
                <a:fillRect/>
              </a:stretch>
            </p:blipFill>
            <p:spPr bwMode="auto">
              <a:xfrm>
                <a:off x="10624" y="4134"/>
                <a:ext cx="13077" cy="780"/>
              </a:xfrm>
              <a:prstGeom prst="rect">
                <a:avLst/>
              </a:prstGeom>
              <a:noFill/>
              <a:ln w="9525">
                <a:noFill/>
                <a:miter lim="800000"/>
                <a:headEnd/>
                <a:tailEnd/>
              </a:ln>
              <a:effectLst/>
            </p:spPr>
          </p:pic>
          <p:pic>
            <p:nvPicPr>
              <p:cNvPr id="6" name="Picture 3"/>
              <p:cNvPicPr>
                <a:picLocks noChangeAspect="1" noChangeArrowheads="1"/>
              </p:cNvPicPr>
              <p:nvPr/>
            </p:nvPicPr>
            <p:blipFill>
              <a:blip r:embed="rId3" cstate="print"/>
              <a:srcRect/>
              <a:stretch>
                <a:fillRect/>
              </a:stretch>
            </p:blipFill>
            <p:spPr bwMode="auto">
              <a:xfrm>
                <a:off x="11794" y="3688"/>
                <a:ext cx="945" cy="885"/>
              </a:xfrm>
              <a:prstGeom prst="rect">
                <a:avLst/>
              </a:prstGeom>
              <a:noFill/>
              <a:ln w="9525">
                <a:noFill/>
                <a:miter lim="800000"/>
                <a:headEnd/>
                <a:tailEnd/>
              </a:ln>
              <a:effectLst/>
            </p:spPr>
          </p:pic>
        </p:grpSp>
        <p:sp>
          <p:nvSpPr>
            <p:cNvPr id="4" name="文本占位符 27"/>
            <p:cNvSpPr txBox="1"/>
            <p:nvPr/>
          </p:nvSpPr>
          <p:spPr>
            <a:xfrm>
              <a:off x="13267" y="3620"/>
              <a:ext cx="12587" cy="1021"/>
            </a:xfrm>
            <a:prstGeom prst="rect">
              <a:avLst/>
            </a:prstGeom>
          </p:spPr>
          <p:txBody>
            <a:bodyPr anchor="ctr"/>
            <a:lstStyle>
              <a:lvl1pPr>
                <a:buNone/>
                <a:defRPr sz="3600">
                  <a:solidFill>
                    <a:schemeClr val="tx1">
                      <a:lumMod val="65000"/>
                      <a:lumOff val="35000"/>
                    </a:schemeClr>
                  </a:solidFill>
                </a:defRPr>
              </a:lvl1pPr>
            </a:lstStyle>
            <a:p>
              <a:pPr marL="548005" indent="-548005">
                <a:spcBef>
                  <a:spcPct val="20000"/>
                </a:spcBef>
                <a:buClr>
                  <a:srgbClr val="A8CDD7"/>
                </a:buClr>
                <a:buSzPct val="95000"/>
              </a:pPr>
              <a:r>
                <a:rPr lang="en-US" altLang="zh-CN" b="1" dirty="0" smtClean="0">
                  <a:latin typeface="微软雅黑" panose="020B0503020204020204" pitchFamily="34" charset="-122"/>
                  <a:ea typeface="微软雅黑" panose="020B0503020204020204" pitchFamily="34" charset="-122"/>
                </a:rPr>
                <a:t>WEB</a:t>
              </a:r>
              <a:r>
                <a:rPr lang="zh-CN" altLang="en-US" b="1" dirty="0" smtClean="0">
                  <a:latin typeface="微软雅黑" panose="020B0503020204020204" pitchFamily="34" charset="-122"/>
                  <a:ea typeface="微软雅黑" panose="020B0503020204020204" pitchFamily="34" charset="-122"/>
                </a:rPr>
                <a:t>应用系统</a:t>
              </a:r>
              <a:endParaRPr lang="x-none" altLang="zh-CN" b="1" dirty="0">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6889456" y="4136973"/>
            <a:ext cx="9672320" cy="822325"/>
            <a:chOff x="10624" y="5635"/>
            <a:chExt cx="15232" cy="1295"/>
          </a:xfrm>
        </p:grpSpPr>
        <p:grpSp>
          <p:nvGrpSpPr>
            <p:cNvPr id="8" name="组合 7"/>
            <p:cNvGrpSpPr/>
            <p:nvPr/>
          </p:nvGrpSpPr>
          <p:grpSpPr>
            <a:xfrm>
              <a:off x="10624" y="5689"/>
              <a:ext cx="13077" cy="1241"/>
              <a:chOff x="10624" y="5689"/>
              <a:chExt cx="13077" cy="1241"/>
            </a:xfrm>
          </p:grpSpPr>
          <p:pic>
            <p:nvPicPr>
              <p:cNvPr id="10" name="Picture 2"/>
              <p:cNvPicPr>
                <a:picLocks noChangeAspect="1" noChangeArrowheads="1"/>
              </p:cNvPicPr>
              <p:nvPr/>
            </p:nvPicPr>
            <p:blipFill>
              <a:blip r:embed="rId2" cstate="print"/>
              <a:srcRect/>
              <a:stretch>
                <a:fillRect/>
              </a:stretch>
            </p:blipFill>
            <p:spPr bwMode="auto">
              <a:xfrm>
                <a:off x="10624" y="6150"/>
                <a:ext cx="13077" cy="780"/>
              </a:xfrm>
              <a:prstGeom prst="rect">
                <a:avLst/>
              </a:prstGeom>
              <a:noFill/>
              <a:ln w="9525">
                <a:noFill/>
                <a:miter lim="800000"/>
                <a:headEnd/>
                <a:tailEnd/>
              </a:ln>
              <a:effectLst/>
            </p:spPr>
          </p:pic>
          <p:pic>
            <p:nvPicPr>
              <p:cNvPr id="11" name="Picture 2"/>
              <p:cNvPicPr>
                <a:picLocks noChangeAspect="1" noChangeArrowheads="1"/>
              </p:cNvPicPr>
              <p:nvPr/>
            </p:nvPicPr>
            <p:blipFill>
              <a:blip r:embed="rId4" cstate="print"/>
              <a:srcRect/>
              <a:stretch>
                <a:fillRect/>
              </a:stretch>
            </p:blipFill>
            <p:spPr bwMode="auto">
              <a:xfrm>
                <a:off x="11794" y="5689"/>
                <a:ext cx="1110" cy="900"/>
              </a:xfrm>
              <a:prstGeom prst="rect">
                <a:avLst/>
              </a:prstGeom>
              <a:noFill/>
              <a:ln w="9525">
                <a:noFill/>
                <a:miter lim="800000"/>
                <a:headEnd/>
                <a:tailEnd/>
              </a:ln>
              <a:effectLst/>
            </p:spPr>
          </p:pic>
        </p:grpSp>
        <p:sp>
          <p:nvSpPr>
            <p:cNvPr id="9" name="文本占位符 27"/>
            <p:cNvSpPr txBox="1"/>
            <p:nvPr/>
          </p:nvSpPr>
          <p:spPr>
            <a:xfrm>
              <a:off x="13269" y="5635"/>
              <a:ext cx="12587" cy="1020"/>
            </a:xfrm>
            <a:prstGeom prst="rect">
              <a:avLst/>
            </a:prstGeom>
          </p:spPr>
          <p:txBody>
            <a:bodyPr anchor="ctr"/>
            <a:lstStyle>
              <a:lvl1pPr>
                <a:buNone/>
                <a:defRPr sz="3600">
                  <a:solidFill>
                    <a:schemeClr val="tx1">
                      <a:lumMod val="65000"/>
                      <a:lumOff val="35000"/>
                    </a:schemeClr>
                  </a:solidFill>
                </a:defRPr>
              </a:lvl1pPr>
            </a:lstStyle>
            <a:p>
              <a:pPr marL="548005" indent="-548005">
                <a:spcBef>
                  <a:spcPct val="20000"/>
                </a:spcBef>
                <a:buClr>
                  <a:srgbClr val="A8CDD7"/>
                </a:buClr>
                <a:buSzPct val="95000"/>
              </a:pPr>
              <a:r>
                <a:rPr lang="zh-CN" altLang="en-US" b="1" dirty="0">
                  <a:latin typeface="微软雅黑" panose="020B0503020204020204" pitchFamily="34" charset="-122"/>
                  <a:ea typeface="微软雅黑" panose="020B0503020204020204" pitchFamily="34" charset="-122"/>
                </a:rPr>
                <a:t>安</a:t>
              </a:r>
              <a:r>
                <a:rPr lang="zh-CN" altLang="en-US" b="1" dirty="0" smtClean="0">
                  <a:latin typeface="微软雅黑" panose="020B0503020204020204" pitchFamily="34" charset="-122"/>
                  <a:ea typeface="微软雅黑" panose="020B0503020204020204" pitchFamily="34" charset="-122"/>
                </a:rPr>
                <a:t>全设备</a:t>
              </a:r>
              <a:endParaRPr lang="x-none" altLang="zh-CN" b="1" dirty="0">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6889456" y="5361107"/>
            <a:ext cx="9744075" cy="823595"/>
            <a:chOff x="10624" y="7649"/>
            <a:chExt cx="15345" cy="1297"/>
          </a:xfrm>
        </p:grpSpPr>
        <p:grpSp>
          <p:nvGrpSpPr>
            <p:cNvPr id="13" name="组合 12"/>
            <p:cNvGrpSpPr/>
            <p:nvPr/>
          </p:nvGrpSpPr>
          <p:grpSpPr>
            <a:xfrm>
              <a:off x="10624" y="7705"/>
              <a:ext cx="13077" cy="1241"/>
              <a:chOff x="10624" y="7705"/>
              <a:chExt cx="13077" cy="1241"/>
            </a:xfrm>
          </p:grpSpPr>
          <p:pic>
            <p:nvPicPr>
              <p:cNvPr id="15" name="Picture 2"/>
              <p:cNvPicPr>
                <a:picLocks noChangeAspect="1" noChangeArrowheads="1"/>
              </p:cNvPicPr>
              <p:nvPr/>
            </p:nvPicPr>
            <p:blipFill>
              <a:blip r:embed="rId2" cstate="print"/>
              <a:srcRect/>
              <a:stretch>
                <a:fillRect/>
              </a:stretch>
            </p:blipFill>
            <p:spPr bwMode="auto">
              <a:xfrm>
                <a:off x="10624" y="8166"/>
                <a:ext cx="13077" cy="780"/>
              </a:xfrm>
              <a:prstGeom prst="rect">
                <a:avLst/>
              </a:prstGeom>
              <a:noFill/>
              <a:ln w="9525">
                <a:noFill/>
                <a:miter lim="800000"/>
                <a:headEnd/>
                <a:tailEnd/>
              </a:ln>
              <a:effectLst/>
            </p:spPr>
          </p:pic>
          <p:pic>
            <p:nvPicPr>
              <p:cNvPr id="16" name="Picture 3"/>
              <p:cNvPicPr>
                <a:picLocks noChangeAspect="1" noChangeArrowheads="1"/>
              </p:cNvPicPr>
              <p:nvPr/>
            </p:nvPicPr>
            <p:blipFill>
              <a:blip r:embed="rId5" cstate="print"/>
              <a:srcRect/>
              <a:stretch>
                <a:fillRect/>
              </a:stretch>
            </p:blipFill>
            <p:spPr bwMode="auto">
              <a:xfrm>
                <a:off x="11794" y="7705"/>
                <a:ext cx="1140" cy="900"/>
              </a:xfrm>
              <a:prstGeom prst="rect">
                <a:avLst/>
              </a:prstGeom>
              <a:noFill/>
              <a:ln w="9525">
                <a:noFill/>
                <a:miter lim="800000"/>
                <a:headEnd/>
                <a:tailEnd/>
              </a:ln>
              <a:effectLst/>
            </p:spPr>
          </p:pic>
        </p:grpSp>
        <p:sp>
          <p:nvSpPr>
            <p:cNvPr id="14" name="文本占位符 27"/>
            <p:cNvSpPr txBox="1"/>
            <p:nvPr/>
          </p:nvSpPr>
          <p:spPr>
            <a:xfrm>
              <a:off x="13382" y="7649"/>
              <a:ext cx="12587" cy="1020"/>
            </a:xfrm>
            <a:prstGeom prst="rect">
              <a:avLst/>
            </a:prstGeom>
          </p:spPr>
          <p:txBody>
            <a:bodyPr anchor="ctr"/>
            <a:lstStyle>
              <a:lvl1pPr>
                <a:buNone/>
                <a:defRPr sz="3600">
                  <a:solidFill>
                    <a:schemeClr val="tx1">
                      <a:lumMod val="65000"/>
                      <a:lumOff val="35000"/>
                    </a:schemeClr>
                  </a:solidFill>
                </a:defRPr>
              </a:lvl1pPr>
            </a:lstStyle>
            <a:p>
              <a:pPr marL="548005" indent="-548005">
                <a:spcBef>
                  <a:spcPct val="20000"/>
                </a:spcBef>
                <a:buClr>
                  <a:srgbClr val="A8CDD7"/>
                </a:buClr>
                <a:buSzPct val="95000"/>
              </a:pPr>
              <a:r>
                <a:rPr lang="zh-CN" altLang="en-US" b="1" dirty="0">
                  <a:latin typeface="微软雅黑" panose="020B0503020204020204" pitchFamily="34" charset="-122"/>
                  <a:ea typeface="微软雅黑" panose="020B0503020204020204" pitchFamily="34" charset="-122"/>
                </a:rPr>
                <a:t>数据库</a:t>
              </a:r>
              <a:endParaRPr lang="x-none" altLang="zh-CN" b="1" dirty="0">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36675" y="4569023"/>
            <a:ext cx="5184576" cy="830997"/>
          </a:xfrm>
          <a:prstGeom prst="rect">
            <a:avLst/>
          </a:prstGeom>
          <a:noFill/>
        </p:spPr>
        <p:txBody>
          <a:bodyPr wrap="square" rtlCol="0">
            <a:spAutoFit/>
          </a:bodyPr>
          <a:lstStyle/>
          <a:p>
            <a:r>
              <a:rPr lang="zh-CN" altLang="zh-CN" sz="2400" dirty="0">
                <a:latin typeface="微软雅黑" panose="020B0503020204020204" pitchFamily="34" charset="-122"/>
                <a:ea typeface="微软雅黑" panose="020B0503020204020204" pitchFamily="34" charset="-122"/>
              </a:rPr>
              <a:t>本标准是“电信网和互联网安全防护体系”</a:t>
            </a:r>
            <a:r>
              <a:rPr lang="zh-CN" altLang="zh-CN" sz="2400" b="1" dirty="0">
                <a:latin typeface="微软雅黑" panose="020B0503020204020204" pitchFamily="34" charset="-122"/>
                <a:ea typeface="微软雅黑" panose="020B0503020204020204" pitchFamily="34" charset="-122"/>
              </a:rPr>
              <a:t>系列标准</a:t>
            </a:r>
            <a:r>
              <a:rPr lang="zh-CN" altLang="zh-CN" sz="2400" dirty="0">
                <a:latin typeface="微软雅黑" panose="020B0503020204020204" pitchFamily="34" charset="-122"/>
                <a:ea typeface="微软雅黑" panose="020B0503020204020204" pitchFamily="34" charset="-122"/>
              </a:rPr>
              <a:t>之一</a:t>
            </a:r>
            <a:endParaRPr lang="zh-CN" altLang="en-US" sz="2400" dirty="0">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4090" y="3080220"/>
            <a:ext cx="3819525" cy="6657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85747" y="3136105"/>
            <a:ext cx="6410325" cy="6067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5678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基</a:t>
            </a:r>
            <a:r>
              <a:rPr lang="zh-CN" altLang="en-US" dirty="0" smtClean="0">
                <a:sym typeface="+mn-ea"/>
              </a:rPr>
              <a:t>线检查</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4" name="矩形 3"/>
          <p:cNvSpPr/>
          <p:nvPr/>
        </p:nvSpPr>
        <p:spPr>
          <a:xfrm>
            <a:off x="5018499" y="4683422"/>
            <a:ext cx="8254183" cy="1446550"/>
          </a:xfrm>
          <a:prstGeom prst="rect">
            <a:avLst/>
          </a:prstGeom>
          <a:noFill/>
        </p:spPr>
        <p:txBody>
          <a:bodyPr wrap="none" lIns="91440" tIns="45720" rIns="91440" bIns="45720">
            <a:spAutoFit/>
          </a:bodyPr>
          <a:lstStyle/>
          <a:p>
            <a:pPr algn="ctr"/>
            <a:r>
              <a:rPr lang="en-US" altLang="zh-CN" sz="8800" b="1" cap="none" spc="0"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latin typeface="微软雅黑" panose="020B0503020204020204" pitchFamily="34" charset="-122"/>
                <a:ea typeface="微软雅黑" panose="020B0503020204020204" pitchFamily="34" charset="-122"/>
              </a:rPr>
              <a:t>	</a:t>
            </a:r>
            <a:r>
              <a:rPr lang="en-US" altLang="zh-CN" sz="8800" b="1" cap="none" spc="0" dirty="0" smtClean="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latin typeface="微软雅黑" panose="020B0503020204020204" pitchFamily="34" charset="-122"/>
                <a:ea typeface="微软雅黑" panose="020B0503020204020204" pitchFamily="34" charset="-122"/>
              </a:rPr>
              <a:t>WEB</a:t>
            </a:r>
            <a:r>
              <a:rPr lang="zh-CN" altLang="en-US" sz="8800" b="1" cap="none" spc="0" dirty="0" smtClean="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latin typeface="微软雅黑" panose="020B0503020204020204" pitchFamily="34" charset="-122"/>
                <a:ea typeface="微软雅黑" panose="020B0503020204020204" pitchFamily="34" charset="-122"/>
              </a:rPr>
              <a:t>应用系统</a:t>
            </a:r>
            <a:endParaRPr lang="zh-CN" altLang="en-US" sz="8800" b="1" cap="none" spc="0"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sym typeface="+mn-ea"/>
              </a:rPr>
              <a:t>WEB</a:t>
            </a:r>
            <a:r>
              <a:rPr lang="zh-CN" altLang="en-US" dirty="0" smtClean="0">
                <a:sym typeface="+mn-ea"/>
              </a:rPr>
              <a:t>应用系统</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WEB</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应用的安全检查方式可通过人工检查，也可通过自动化工具进行检查，应根据实际情况选择合适的检查方式。</a:t>
            </a: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身</a:t>
            </a:r>
            <a:r>
              <a:rPr lang="zh-CN" altLang="en-US" dirty="0" smtClean="0">
                <a:sym typeface="+mn-ea"/>
              </a:rPr>
              <a:t>份验证</a:t>
            </a:r>
            <a:r>
              <a:rPr lang="x-none" altLang="zh-CN" b="0" dirty="0" smtClean="0"/>
              <a:t> </a:t>
            </a:r>
            <a:endParaRPr lang="en-US" altLang="zh-CN" b="0" dirty="0"/>
          </a:p>
        </p:txBody>
      </p:sp>
      <p:sp>
        <p:nvSpPr>
          <p:cNvPr id="3" name="文本占位符 9"/>
          <p:cNvSpPr txBox="1"/>
          <p:nvPr/>
        </p:nvSpPr>
        <p:spPr>
          <a:xfrm>
            <a:off x="962203" y="183271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身</a:t>
            </a:r>
            <a:r>
              <a:rPr lang="zh-CN" altLang="en-US" dirty="0" smtClean="0">
                <a:solidFill>
                  <a:prstClr val="black">
                    <a:lumMod val="75000"/>
                    <a:lumOff val="25000"/>
                  </a:prstClr>
                </a:solidFill>
                <a:latin typeface="微软雅黑" panose="020B0503020204020204" pitchFamily="34" charset="-122"/>
                <a:ea typeface="微软雅黑" panose="020B0503020204020204" pitchFamily="34" charset="-122"/>
              </a:rPr>
              <a:t>份验证：</a:t>
            </a:r>
            <a:endParaRPr lang="en-US" altLang="zh-CN"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管</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理页面采取强口令策略。系统登录验证口令应必须具备一定的复杂度</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2.</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对</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用户的最终认证处理过程应必须放到应用服务器进行。不允许仅仅通过客户端脚本或其他形式在客户端进行验证，必须应在应用服务器进行最终认证处理（如果采用集中认证，那么对用户的最终认证就是放在集中认证服务器进行</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3.</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网页上的登录</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认证表单应必须加入强身份认证机制，如验证码、动态口令卡等。使用强身份认证的目的是为了阻止攻击者使用自动登录工具连续尝试登录，从而降低被暴力破解的可能。</a:t>
            </a: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身</a:t>
            </a:r>
            <a:r>
              <a:rPr lang="zh-CN" altLang="en-US" dirty="0" smtClean="0">
                <a:sym typeface="+mn-ea"/>
              </a:rPr>
              <a:t>份验证</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4.</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网页上的登录</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认证表单应必须加入强身份认证机制，如验证码、动态口令卡等。使用强身份认证的目的是为了阻止攻击者使用自动登录工具连续尝试登录，从而降低被暴力破解的可能</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可选</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5.</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应拒绝由未被允许的</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地址、子网域发来的浏览请求。（可选）</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6.</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对于</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WEB</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应用系统自身的管理员账号常见的敏感帐号账号，如：</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root</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admin</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administrator</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system</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等，应在系统安装完成之后修改为其它名称或者禁用</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smtClean="0"/>
              <a:t>会话管理</a:t>
            </a:r>
            <a:endParaRPr lang="en-US" altLang="zh-CN"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会话过程中不允许修改的信息，应必须作为会话状态的一部分在服务器端存储和维护。例如，当用户通过认证后，其用户标识在整个会话过程中不能被篡改，。禁止通过隐藏域或</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URL</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重写等不安全的方式存储和维护用户标识</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作指南：在</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相关配置中设定会话信息的可编辑状态及存储状态。</a:t>
            </a: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会</a:t>
            </a:r>
            <a:r>
              <a:rPr lang="zh-CN" altLang="en-US" dirty="0" smtClean="0">
                <a:sym typeface="+mn-ea"/>
              </a:rPr>
              <a:t>话管理</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2.</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禁止使用客户端提交的未经审核的信息对来给会话信息赋值，防止会话信息被篡改，如恶意用户通过</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URL</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抓包后篡改数据包中手机号码等</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操作指南：在相关配置中设定会话信息赋值属性。</a:t>
            </a: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会</a:t>
            </a:r>
            <a:r>
              <a:rPr lang="zh-CN" altLang="en-US" dirty="0" smtClean="0">
                <a:sym typeface="+mn-ea"/>
              </a:rPr>
              <a:t>话管理</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3.</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用户登录后应必须分配新的会话标识，不能继续使用用户未登录前所使用的标识。</a:t>
            </a: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会话管理</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4.</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当用户退出时，应必须清除该用户的会话信息。防止遗留在内存中的会话信息被窃取，同时可以减少内存占用</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在</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相关配置中设定用户退出时清除该用户会话信息。</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会</a:t>
            </a:r>
            <a:r>
              <a:rPr lang="zh-CN" altLang="en-US" dirty="0" smtClean="0">
                <a:sym typeface="+mn-ea"/>
              </a:rPr>
              <a:t>话管理</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5.</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应必须设置会话超时机制，在超过设定的阈值后长时间不操作超时过后应必须要清除该会话信息</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在</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相关配置中设置会话超时机制。</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权</a:t>
            </a:r>
            <a:r>
              <a:rPr lang="zh-CN" altLang="en-US" dirty="0" smtClean="0">
                <a:sym typeface="+mn-ea"/>
              </a:rPr>
              <a:t>限管理</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用户权限最小化和职责分离。一个帐号账号只能拥有必需的角色和必需的权限。职责分离就是分清帐号角色，系统管理帐号只用于系统管理，审计帐号只用于审计，操作员帐号只用于业务维护操作，普通用户帐号只能使用业务。这样即使帐号被攻击者盗取，也能把安全损失控制在最小的限度</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1.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为且仅为每个帐号账号分配必需的角色和必需的权限。</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权</a:t>
            </a:r>
            <a:r>
              <a:rPr lang="zh-CN" altLang="en-US" dirty="0" smtClean="0">
                <a:sym typeface="+mn-ea"/>
              </a:rPr>
              <a:t>限管理</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2.</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授权和用户角色数据必须应存放在服务器端，不能存放在客户端，鉴权处理也应必须在服务器端完成。禁止将授权和角色数据存放在客户端中（比如</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cookie</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或隐藏域中），以防止被篡改</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在</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相关配置中设置授权和角色数据存放位置路径。</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敏</a:t>
            </a:r>
            <a:r>
              <a:rPr lang="zh-CN" altLang="en-US" dirty="0" smtClean="0">
                <a:sym typeface="+mn-ea"/>
              </a:rPr>
              <a:t>感数据保护</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密钥或帐号账号的口令应必须经过加密存储</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p>
          <a:p>
            <a:pPr lvl="0" indent="0" fontAlgn="auto">
              <a:lnSpc>
                <a:spcPct val="200000"/>
              </a:lnSpc>
              <a:buClr>
                <a:srgbClr val="9BBB59"/>
              </a:buClr>
              <a:defRPr/>
            </a:pPr>
            <a:r>
              <a:rPr lang="en-US" altLang="zh-CN" b="0" smtClean="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smtClean="0">
                <a:solidFill>
                  <a:prstClr val="black">
                    <a:lumMod val="75000"/>
                    <a:lumOff val="25000"/>
                  </a:prstClr>
                </a:solidFill>
                <a:latin typeface="微软雅黑" panose="020B0503020204020204" pitchFamily="34" charset="-122"/>
                <a:ea typeface="微软雅黑" panose="020B0503020204020204" pitchFamily="34" charset="-122"/>
              </a:rPr>
              <a:t>在</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口令相关配置中对口令进行加密存储配置。</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敏</a:t>
            </a:r>
            <a:r>
              <a:rPr lang="zh-CN" altLang="en-US" dirty="0" smtClean="0">
                <a:sym typeface="+mn-ea"/>
              </a:rPr>
              <a:t>感数据保护</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2.</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禁止在隐藏域中存放明文形式的敏感数</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据</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在</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相关配置中禁止在隐藏域中存放明文形式的敏感数据。</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敏</a:t>
            </a:r>
            <a:r>
              <a:rPr lang="zh-CN" altLang="en-US" dirty="0" smtClean="0">
                <a:sym typeface="+mn-ea"/>
              </a:rPr>
              <a:t>感数据保护</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3.</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对输入的账号密码等敏感数据进行严格校验，如所有数据要到服务器端验证。由于客户端校验不可信，所以客户端的校验只能作为辅助手段</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配置数据检验方式。</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安</a:t>
            </a:r>
            <a:r>
              <a:rPr lang="zh-CN" altLang="en-US" dirty="0" smtClean="0">
                <a:sym typeface="+mn-ea"/>
              </a:rPr>
              <a:t>全审计</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对于业务运行异常、非法访问、非法篡改等异常行为应有完整的记录，包括事件的源</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、事件的类型、事件发生的动作、事件时间等</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。（可选）</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操</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作指南： </a:t>
            </a: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在配置页面中设置对于业务运行异常、非法访问、非法篡改等异常行为进行记录。</a:t>
            </a:r>
          </a:p>
          <a:p>
            <a:pPr lvl="0" indent="0" fontAlgn="auto">
              <a:lnSpc>
                <a:spcPct val="200000"/>
              </a:lnSpc>
              <a:buClr>
                <a:srgbClr val="9BBB59"/>
              </a:buClr>
              <a:defRPr/>
            </a:pPr>
            <a:endParaRPr lang="zh-CN" altLang="en-US"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安</a:t>
            </a:r>
            <a:r>
              <a:rPr lang="zh-CN" altLang="en-US" dirty="0" smtClean="0">
                <a:sym typeface="+mn-ea"/>
              </a:rPr>
              <a:t>全编码</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不能通过用户输入数据直接构造</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SQL</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语句。禁止通过直接使用字符串串联用户输入构造可执行 </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SQL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语句，如：</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string </a:t>
            </a:r>
            <a:r>
              <a:rPr lang="en-US" altLang="zh-CN" b="0" dirty="0" err="1">
                <a:solidFill>
                  <a:prstClr val="black">
                    <a:lumMod val="75000"/>
                    <a:lumOff val="25000"/>
                  </a:prstClr>
                </a:solidFill>
                <a:latin typeface="微软雅黑" panose="020B0503020204020204" pitchFamily="34" charset="-122"/>
                <a:ea typeface="微软雅黑" panose="020B0503020204020204" pitchFamily="34" charset="-122"/>
              </a:rPr>
              <a:t>sql</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 "select status from Users where </a:t>
            </a:r>
            <a:r>
              <a:rPr lang="en-US" altLang="zh-CN" b="0" dirty="0" err="1">
                <a:solidFill>
                  <a:prstClr val="black">
                    <a:lumMod val="75000"/>
                    <a:lumOff val="25000"/>
                  </a:prstClr>
                </a:solidFill>
                <a:latin typeface="微软雅黑" panose="020B0503020204020204" pitchFamily="34" charset="-122"/>
                <a:ea typeface="微软雅黑" panose="020B0503020204020204" pitchFamily="34" charset="-122"/>
              </a:rPr>
              <a:t>UserName</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 </a:t>
            </a:r>
            <a:r>
              <a:rPr lang="en-US" altLang="zh-CN" b="0" dirty="0" err="1">
                <a:solidFill>
                  <a:prstClr val="black">
                    <a:lumMod val="75000"/>
                    <a:lumOff val="25000"/>
                  </a:prstClr>
                </a:solidFill>
                <a:latin typeface="微软雅黑" panose="020B0503020204020204" pitchFamily="34" charset="-122"/>
                <a:ea typeface="微软雅黑" panose="020B0503020204020204" pitchFamily="34" charset="-122"/>
              </a:rPr>
              <a:t>txtUserName.Text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，这样很容易被</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SQL</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注入攻击</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禁</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止通过直接使用字符串串联用户输入构造可执行 </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SQL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语句。</a:t>
            </a:r>
          </a:p>
          <a:p>
            <a:pPr lvl="0" indent="0" fontAlgn="auto">
              <a:lnSpc>
                <a:spcPct val="200000"/>
              </a:lnSpc>
              <a:buClr>
                <a:srgbClr val="9BBB59"/>
              </a:buClr>
              <a:defRPr/>
            </a:pP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安</a:t>
            </a:r>
            <a:r>
              <a:rPr lang="zh-CN" altLang="en-US" dirty="0" smtClean="0">
                <a:sym typeface="+mn-ea"/>
              </a:rPr>
              <a:t>全编码</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2.</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要求内容：应能在服务器端采用白名单方式对上传或下载的文件类型、大小进行严格的限制的功能</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在</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配置页面中设置文件类型、大小的限制。</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安</a:t>
            </a:r>
            <a:r>
              <a:rPr lang="zh-CN" altLang="en-US" dirty="0" smtClean="0">
                <a:sym typeface="+mn-ea"/>
              </a:rPr>
              <a:t>全编码</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3.</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对输入数据类型进行严格判断对输入数据的类型进行限制和判断。如果输入为数字参数则必须进行数字型判断；如果输入只允许包含某些特定的字符或字符的组合，则使用白名单进行输入校验，如对于一些有规则可循的输入，如</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Email</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地址、日期、小数等</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p>
          <a:p>
            <a:pPr lvl="1" indent="0" fontAlgn="auto">
              <a:lnSpc>
                <a:spcPct val="200000"/>
              </a:lnSpc>
              <a:buClr>
                <a:srgbClr val="9BBB59"/>
              </a:buClr>
              <a:buNone/>
              <a:defRPr/>
            </a:pPr>
            <a:r>
              <a:rPr lang="zh-CN" altLang="en-US" sz="3200" dirty="0">
                <a:solidFill>
                  <a:prstClr val="black">
                    <a:lumMod val="75000"/>
                    <a:lumOff val="25000"/>
                  </a:prstClr>
                </a:solidFill>
                <a:latin typeface="微软雅黑" panose="020B0503020204020204" pitchFamily="34" charset="-122"/>
                <a:ea typeface="微软雅黑" panose="020B0503020204020204" pitchFamily="34" charset="-122"/>
              </a:rPr>
              <a:t>设置输入数据类型及判断标准。</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安全编码</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4.</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若提供了下载功能，要防止用户通过路径遍历漏洞下载敏感资源文件；若提供了文件上传功能，要防止用户上传后门脚本</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p>
          <a:p>
            <a:pPr lvl="1" indent="0" fontAlgn="auto">
              <a:lnSpc>
                <a:spcPct val="200000"/>
              </a:lnSpc>
              <a:buClr>
                <a:srgbClr val="9BBB59"/>
              </a:buClr>
              <a:defRPr/>
            </a:pP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配</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置上传、下载的安全防护。</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安</a:t>
            </a:r>
            <a:r>
              <a:rPr lang="zh-CN" altLang="en-US" dirty="0" smtClean="0">
                <a:sym typeface="+mn-ea"/>
              </a:rPr>
              <a:t>全编码</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5.</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在注释信息中禁止包含源代码信息、数据库连接信息和</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SQL</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语句等敏感信息</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审</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查</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web</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页面源码中的注释内容，删除注释中源代码信息、数据库连接信息和</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SQL</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语句等相关的敏感信息。</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安</a:t>
            </a:r>
            <a:r>
              <a:rPr lang="zh-CN" altLang="en-US" dirty="0" smtClean="0">
                <a:sym typeface="+mn-ea"/>
              </a:rPr>
              <a:t>全编码</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6.</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所有的表单数据应当使用 </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HTTP-POST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方法提交。避免使用 </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HTTP-GET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方法提交表单（</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form</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），因为该方法使用查询字符串传递表单数据，易被查看、篡改</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操作指南： </a:t>
            </a: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编</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码时配置表单数据提交方式为使用</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HTTP-POST</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方式。</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基</a:t>
            </a:r>
            <a:r>
              <a:rPr lang="zh-CN" altLang="en-US" dirty="0" smtClean="0">
                <a:sym typeface="+mn-ea"/>
              </a:rPr>
              <a:t>线检查</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4" name="矩形 3"/>
          <p:cNvSpPr/>
          <p:nvPr/>
        </p:nvSpPr>
        <p:spPr>
          <a:xfrm>
            <a:off x="6796229" y="4683422"/>
            <a:ext cx="4698723" cy="1446550"/>
          </a:xfrm>
          <a:prstGeom prst="rect">
            <a:avLst/>
          </a:prstGeom>
          <a:noFill/>
        </p:spPr>
        <p:txBody>
          <a:bodyPr wrap="none" lIns="91440" tIns="45720" rIns="91440" bIns="45720">
            <a:spAutoFit/>
          </a:bodyPr>
          <a:lstStyle/>
          <a:p>
            <a:pPr algn="ctr"/>
            <a:r>
              <a:rPr lang="en-US" altLang="zh-CN" sz="8800" b="1" cap="none" spc="0"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latin typeface="微软雅黑" panose="020B0503020204020204" pitchFamily="34" charset="-122"/>
                <a:ea typeface="微软雅黑" panose="020B0503020204020204" pitchFamily="34" charset="-122"/>
              </a:rPr>
              <a:t>	</a:t>
            </a:r>
            <a:r>
              <a:rPr lang="zh-CN" altLang="en-US" sz="8800" b="1"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latin typeface="微软雅黑" panose="020B0503020204020204" pitchFamily="34" charset="-122"/>
                <a:ea typeface="微软雅黑" panose="020B0503020204020204" pitchFamily="34" charset="-122"/>
              </a:rPr>
              <a:t>安</a:t>
            </a:r>
            <a:r>
              <a:rPr lang="zh-CN" altLang="en-US" sz="8800" b="1" dirty="0" smtClean="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latin typeface="微软雅黑" panose="020B0503020204020204" pitchFamily="34" charset="-122"/>
                <a:ea typeface="微软雅黑" panose="020B0503020204020204" pitchFamily="34" charset="-122"/>
              </a:rPr>
              <a:t>全设备</a:t>
            </a:r>
            <a:endParaRPr lang="zh-CN" altLang="en-US" sz="8800" b="1" cap="none" spc="0"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endParaRPr>
          </a:p>
        </p:txBody>
      </p:sp>
    </p:spTree>
    <p:extLst>
      <p:ext uri="{BB962C8B-B14F-4D97-AF65-F5344CB8AC3E}">
        <p14:creationId xmlns:p14="http://schemas.microsoft.com/office/powerpoint/2010/main" val="17928021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安</a:t>
            </a:r>
            <a:r>
              <a:rPr lang="zh-CN" altLang="en-US" dirty="0" smtClean="0">
                <a:sym typeface="+mn-ea"/>
              </a:rPr>
              <a:t>全设备</a:t>
            </a:r>
            <a:r>
              <a:rPr lang="x-none" altLang="zh-CN" b="0" dirty="0" smtClean="0"/>
              <a:t> </a:t>
            </a:r>
            <a:endParaRPr lang="en-US" altLang="zh-CN" b="0" dirty="0"/>
          </a:p>
        </p:txBody>
      </p:sp>
      <p:sp>
        <p:nvSpPr>
          <p:cNvPr id="3" name="文本占位符 9"/>
          <p:cNvSpPr txBox="1"/>
          <p:nvPr/>
        </p:nvSpPr>
        <p:spPr>
          <a:xfrm>
            <a:off x="962203" y="147267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a:endParaRPr lang="zh-CN" altLang="zh-CN" b="0" dirty="0">
              <a:latin typeface="微软雅黑" panose="020B0503020204020204" pitchFamily="34" charset="-122"/>
              <a:ea typeface="微软雅黑" panose="020B0503020204020204" pitchFamily="34" charset="-122"/>
            </a:endParaRPr>
          </a:p>
          <a:p>
            <a:r>
              <a:rPr lang="zh-CN" altLang="en-US" b="0" dirty="0" smtClean="0">
                <a:latin typeface="微软雅黑" panose="020B0503020204020204" pitchFamily="34" charset="-122"/>
                <a:ea typeface="微软雅黑" panose="020B0503020204020204" pitchFamily="34" charset="-122"/>
              </a:rPr>
              <a:t>缩略语扫盲：</a:t>
            </a:r>
            <a:endParaRPr lang="en-US" altLang="zh-CN" b="0" dirty="0" smtClean="0">
              <a:latin typeface="微软雅黑" panose="020B0503020204020204" pitchFamily="34" charset="-122"/>
              <a:ea typeface="微软雅黑" panose="020B0503020204020204" pitchFamily="34" charset="-122"/>
            </a:endParaRPr>
          </a:p>
          <a:p>
            <a:r>
              <a:rPr lang="en-US" altLang="zh-CN" b="0" dirty="0" smtClean="0">
                <a:latin typeface="微软雅黑" panose="020B0503020204020204" pitchFamily="34" charset="-122"/>
                <a:ea typeface="微软雅黑" panose="020B0503020204020204" pitchFamily="34" charset="-122"/>
              </a:rPr>
              <a:t>POP3     </a:t>
            </a:r>
            <a:r>
              <a:rPr lang="en-US" altLang="zh-CN" b="0" dirty="0">
                <a:latin typeface="微软雅黑" panose="020B0503020204020204" pitchFamily="34" charset="-122"/>
                <a:ea typeface="微软雅黑" panose="020B0503020204020204" pitchFamily="34" charset="-122"/>
              </a:rPr>
              <a:t>Post Office Protocol 3                         </a:t>
            </a:r>
            <a:r>
              <a:rPr lang="zh-CN" altLang="zh-CN" b="0" dirty="0">
                <a:latin typeface="微软雅黑" panose="020B0503020204020204" pitchFamily="34" charset="-122"/>
                <a:ea typeface="微软雅黑" panose="020B0503020204020204" pitchFamily="34" charset="-122"/>
              </a:rPr>
              <a:t>邮局协议</a:t>
            </a:r>
          </a:p>
          <a:p>
            <a:r>
              <a:rPr lang="en-US" altLang="zh-CN" b="0" dirty="0" smtClean="0">
                <a:latin typeface="微软雅黑" panose="020B0503020204020204" pitchFamily="34" charset="-122"/>
                <a:ea typeface="微软雅黑" panose="020B0503020204020204" pitchFamily="34" charset="-122"/>
              </a:rPr>
              <a:t>SMTP    </a:t>
            </a:r>
            <a:r>
              <a:rPr lang="en-US" altLang="zh-CN" b="0" dirty="0">
                <a:latin typeface="微软雅黑" panose="020B0503020204020204" pitchFamily="34" charset="-122"/>
                <a:ea typeface="微软雅黑" panose="020B0503020204020204" pitchFamily="34" charset="-122"/>
              </a:rPr>
              <a:t>Simple Mail Transfer Protocol                   </a:t>
            </a:r>
            <a:r>
              <a:rPr lang="zh-CN" altLang="zh-CN" b="0" dirty="0">
                <a:latin typeface="微软雅黑" panose="020B0503020204020204" pitchFamily="34" charset="-122"/>
                <a:ea typeface="微软雅黑" panose="020B0503020204020204" pitchFamily="34" charset="-122"/>
              </a:rPr>
              <a:t>简单邮件传输协议</a:t>
            </a:r>
          </a:p>
          <a:p>
            <a:r>
              <a:rPr lang="en-US" altLang="zh-CN" b="0" dirty="0">
                <a:latin typeface="微软雅黑" panose="020B0503020204020204" pitchFamily="34" charset="-122"/>
                <a:ea typeface="微软雅黑" panose="020B0503020204020204" pitchFamily="34" charset="-122"/>
              </a:rPr>
              <a:t>SNMP    Simple Network Management Protocol            </a:t>
            </a:r>
            <a:r>
              <a:rPr lang="zh-CN" altLang="zh-CN" b="0" dirty="0">
                <a:latin typeface="微软雅黑" panose="020B0503020204020204" pitchFamily="34" charset="-122"/>
                <a:ea typeface="微软雅黑" panose="020B0503020204020204" pitchFamily="34" charset="-122"/>
              </a:rPr>
              <a:t>简单网络管理协议</a:t>
            </a:r>
          </a:p>
          <a:p>
            <a:r>
              <a:rPr lang="en-US" altLang="zh-CN" b="0" dirty="0">
                <a:latin typeface="微软雅黑" panose="020B0503020204020204" pitchFamily="34" charset="-122"/>
                <a:ea typeface="微软雅黑" panose="020B0503020204020204" pitchFamily="34" charset="-122"/>
              </a:rPr>
              <a:t>SSH      Secure Shell                                 </a:t>
            </a:r>
            <a:r>
              <a:rPr lang="zh-CN" altLang="zh-CN" b="0" dirty="0">
                <a:latin typeface="微软雅黑" panose="020B0503020204020204" pitchFamily="34" charset="-122"/>
                <a:ea typeface="微软雅黑" panose="020B0503020204020204" pitchFamily="34" charset="-122"/>
              </a:rPr>
              <a:t>安全壳协议</a:t>
            </a:r>
          </a:p>
          <a:p>
            <a:r>
              <a:rPr lang="en-US" altLang="zh-CN" b="0" dirty="0">
                <a:latin typeface="微软雅黑" panose="020B0503020204020204" pitchFamily="34" charset="-122"/>
                <a:ea typeface="微软雅黑" panose="020B0503020204020204" pitchFamily="34" charset="-122"/>
              </a:rPr>
              <a:t>TACACS  Terminal Access Controller Access-Control System  </a:t>
            </a:r>
            <a:r>
              <a:rPr lang="zh-CN" altLang="zh-CN" b="0" dirty="0">
                <a:latin typeface="微软雅黑" panose="020B0503020204020204" pitchFamily="34" charset="-122"/>
                <a:ea typeface="微软雅黑" panose="020B0503020204020204" pitchFamily="34" charset="-122"/>
              </a:rPr>
              <a:t>终端访问控制器访问控制系统</a:t>
            </a:r>
          </a:p>
          <a:p>
            <a:r>
              <a:rPr lang="en-US" altLang="zh-CN" b="0" dirty="0">
                <a:latin typeface="微软雅黑" panose="020B0503020204020204" pitchFamily="34" charset="-122"/>
                <a:ea typeface="微软雅黑" panose="020B0503020204020204" pitchFamily="34" charset="-122"/>
              </a:rPr>
              <a:t>TCP      Transmission Control Protocol                   </a:t>
            </a:r>
            <a:r>
              <a:rPr lang="zh-CN" altLang="zh-CN" b="0" dirty="0">
                <a:latin typeface="微软雅黑" panose="020B0503020204020204" pitchFamily="34" charset="-122"/>
                <a:ea typeface="微软雅黑" panose="020B0503020204020204" pitchFamily="34" charset="-122"/>
              </a:rPr>
              <a:t>传输控制协议</a:t>
            </a:r>
          </a:p>
          <a:p>
            <a:r>
              <a:rPr lang="en-US" altLang="zh-CN" b="0" dirty="0">
                <a:latin typeface="微软雅黑" panose="020B0503020204020204" pitchFamily="34" charset="-122"/>
                <a:ea typeface="微软雅黑" panose="020B0503020204020204" pitchFamily="34" charset="-122"/>
              </a:rPr>
              <a:t>UDP      User Datagram Protocol                        </a:t>
            </a:r>
            <a:r>
              <a:rPr lang="zh-CN" altLang="zh-CN" b="0" dirty="0">
                <a:latin typeface="微软雅黑" panose="020B0503020204020204" pitchFamily="34" charset="-122"/>
                <a:ea typeface="微软雅黑" panose="020B0503020204020204" pitchFamily="34" charset="-122"/>
              </a:rPr>
              <a:t>用户数据包协议</a:t>
            </a:r>
          </a:p>
          <a:p>
            <a:r>
              <a:rPr lang="en-US" altLang="zh-CN" b="0" dirty="0">
                <a:latin typeface="微软雅黑" panose="020B0503020204020204" pitchFamily="34" charset="-122"/>
                <a:ea typeface="微软雅黑" panose="020B0503020204020204" pitchFamily="34" charset="-122"/>
              </a:rPr>
              <a:t>VPN      Virtual Private Network                        </a:t>
            </a:r>
            <a:r>
              <a:rPr lang="zh-CN" altLang="zh-CN" b="0" dirty="0">
                <a:latin typeface="微软雅黑" panose="020B0503020204020204" pitchFamily="34" charset="-122"/>
                <a:ea typeface="微软雅黑" panose="020B0503020204020204" pitchFamily="34" charset="-122"/>
              </a:rPr>
              <a:t>虚拟专用网络</a:t>
            </a:r>
          </a:p>
          <a:p>
            <a:pPr lvl="0" indent="0" fontAlgn="auto">
              <a:buClr>
                <a:srgbClr val="9BBB59"/>
              </a:buClr>
              <a:defRPr/>
            </a:pP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安</a:t>
            </a:r>
            <a:r>
              <a:rPr lang="zh-CN" altLang="en-US" dirty="0" smtClean="0">
                <a:sym typeface="+mn-ea"/>
              </a:rPr>
              <a:t>全设备</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r>
              <a:rPr lang="en-US" altLang="zh-CN" b="0" dirty="0" smtClean="0">
                <a:latin typeface="微软雅黑" panose="020B0503020204020204" pitchFamily="34" charset="-122"/>
                <a:ea typeface="微软雅黑" panose="020B0503020204020204" pitchFamily="34" charset="-122"/>
              </a:rPr>
              <a:t>ACL     </a:t>
            </a:r>
            <a:r>
              <a:rPr lang="en-US" altLang="zh-CN" b="0" dirty="0">
                <a:latin typeface="微软雅黑" panose="020B0503020204020204" pitchFamily="34" charset="-122"/>
                <a:ea typeface="微软雅黑" panose="020B0503020204020204" pitchFamily="34" charset="-122"/>
              </a:rPr>
              <a:t>Access Control List                             </a:t>
            </a:r>
            <a:r>
              <a:rPr lang="zh-CN" altLang="zh-CN" b="0" dirty="0">
                <a:latin typeface="微软雅黑" panose="020B0503020204020204" pitchFamily="34" charset="-122"/>
                <a:ea typeface="微软雅黑" panose="020B0503020204020204" pitchFamily="34" charset="-122"/>
              </a:rPr>
              <a:t>访问控制列表</a:t>
            </a:r>
          </a:p>
          <a:p>
            <a:r>
              <a:rPr lang="en-US" altLang="zh-CN" b="0" dirty="0">
                <a:latin typeface="微软雅黑" panose="020B0503020204020204" pitchFamily="34" charset="-122"/>
                <a:ea typeface="微软雅黑" panose="020B0503020204020204" pitchFamily="34" charset="-122"/>
              </a:rPr>
              <a:t>DOS     Denial of Service                               </a:t>
            </a:r>
            <a:r>
              <a:rPr lang="zh-CN" altLang="zh-CN" b="0" dirty="0">
                <a:latin typeface="微软雅黑" panose="020B0503020204020204" pitchFamily="34" charset="-122"/>
                <a:ea typeface="微软雅黑" panose="020B0503020204020204" pitchFamily="34" charset="-122"/>
              </a:rPr>
              <a:t>拒绝服务</a:t>
            </a:r>
          </a:p>
          <a:p>
            <a:r>
              <a:rPr lang="en-US" altLang="zh-CN" b="0" dirty="0">
                <a:latin typeface="微软雅黑" panose="020B0503020204020204" pitchFamily="34" charset="-122"/>
                <a:ea typeface="微软雅黑" panose="020B0503020204020204" pitchFamily="34" charset="-122"/>
              </a:rPr>
              <a:t>DDOS   Distributed Denial of Service                      </a:t>
            </a:r>
            <a:r>
              <a:rPr lang="zh-CN" altLang="zh-CN" b="0" dirty="0">
                <a:latin typeface="微软雅黑" panose="020B0503020204020204" pitchFamily="34" charset="-122"/>
                <a:ea typeface="微软雅黑" panose="020B0503020204020204" pitchFamily="34" charset="-122"/>
              </a:rPr>
              <a:t>分布式拒绝服务攻击</a:t>
            </a:r>
          </a:p>
          <a:p>
            <a:r>
              <a:rPr lang="en-US" altLang="zh-CN" b="0" dirty="0">
                <a:latin typeface="微软雅黑" panose="020B0503020204020204" pitchFamily="34" charset="-122"/>
                <a:ea typeface="微软雅黑" panose="020B0503020204020204" pitchFamily="34" charset="-122"/>
              </a:rPr>
              <a:t>FTP     File Transfer Protocol                            </a:t>
            </a:r>
            <a:r>
              <a:rPr lang="zh-CN" altLang="zh-CN" b="0" dirty="0">
                <a:latin typeface="微软雅黑" panose="020B0503020204020204" pitchFamily="34" charset="-122"/>
                <a:ea typeface="微软雅黑" panose="020B0503020204020204" pitchFamily="34" charset="-122"/>
              </a:rPr>
              <a:t>文件传输协议</a:t>
            </a:r>
          </a:p>
          <a:p>
            <a:r>
              <a:rPr lang="en-US" altLang="zh-CN" b="0" dirty="0">
                <a:latin typeface="微软雅黑" panose="020B0503020204020204" pitchFamily="34" charset="-122"/>
                <a:ea typeface="微软雅黑" panose="020B0503020204020204" pitchFamily="34" charset="-122"/>
              </a:rPr>
              <a:t>HTTP   Hypertext transfer protocol                        </a:t>
            </a:r>
            <a:r>
              <a:rPr lang="zh-CN" altLang="zh-CN" b="0" dirty="0">
                <a:latin typeface="微软雅黑" panose="020B0503020204020204" pitchFamily="34" charset="-122"/>
                <a:ea typeface="微软雅黑" panose="020B0503020204020204" pitchFamily="34" charset="-122"/>
              </a:rPr>
              <a:t>超文本传输协议</a:t>
            </a:r>
          </a:p>
          <a:p>
            <a:r>
              <a:rPr lang="en-US" altLang="zh-CN" b="0" dirty="0">
                <a:latin typeface="微软雅黑" panose="020B0503020204020204" pitchFamily="34" charset="-122"/>
                <a:ea typeface="微软雅黑" panose="020B0503020204020204" pitchFamily="34" charset="-122"/>
              </a:rPr>
              <a:t>HTTPS  Hypertext Transfer Protocol over Secure Socket Layer  </a:t>
            </a:r>
            <a:r>
              <a:rPr lang="zh-CN" altLang="zh-CN" b="0" dirty="0">
                <a:latin typeface="微软雅黑" panose="020B0503020204020204" pitchFamily="34" charset="-122"/>
                <a:ea typeface="微软雅黑" panose="020B0503020204020204" pitchFamily="34" charset="-122"/>
              </a:rPr>
              <a:t>超文本传输安全协议</a:t>
            </a:r>
          </a:p>
          <a:p>
            <a:r>
              <a:rPr lang="en-US" altLang="zh-CN" b="0" dirty="0">
                <a:latin typeface="微软雅黑" panose="020B0503020204020204" pitchFamily="34" charset="-122"/>
                <a:ea typeface="微软雅黑" panose="020B0503020204020204" pitchFamily="34" charset="-122"/>
              </a:rPr>
              <a:t>IP      Internet Protocol                                </a:t>
            </a:r>
            <a:r>
              <a:rPr lang="zh-CN" altLang="zh-CN" b="0" dirty="0">
                <a:latin typeface="微软雅黑" panose="020B0503020204020204" pitchFamily="34" charset="-122"/>
                <a:ea typeface="微软雅黑" panose="020B0503020204020204" pitchFamily="34" charset="-122"/>
              </a:rPr>
              <a:t>网络互联协议</a:t>
            </a:r>
          </a:p>
          <a:p>
            <a:r>
              <a:rPr lang="en-US" altLang="zh-CN" b="0" dirty="0">
                <a:latin typeface="微软雅黑" panose="020B0503020204020204" pitchFamily="34" charset="-122"/>
                <a:ea typeface="微软雅黑" panose="020B0503020204020204" pitchFamily="34" charset="-122"/>
              </a:rPr>
              <a:t>NAT    Network Address Translation                      </a:t>
            </a:r>
            <a:r>
              <a:rPr lang="zh-CN" altLang="zh-CN" b="0" dirty="0">
                <a:latin typeface="微软雅黑" panose="020B0503020204020204" pitchFamily="34" charset="-122"/>
                <a:ea typeface="微软雅黑" panose="020B0503020204020204" pitchFamily="34" charset="-122"/>
              </a:rPr>
              <a:t>网络地址转换</a:t>
            </a:r>
          </a:p>
          <a:p>
            <a:r>
              <a:rPr lang="en-US" altLang="zh-CN" b="0" dirty="0">
                <a:latin typeface="微软雅黑" panose="020B0503020204020204" pitchFamily="34" charset="-122"/>
                <a:ea typeface="微软雅黑" panose="020B0503020204020204" pitchFamily="34" charset="-122"/>
              </a:rPr>
              <a:t>NTP    Network Time Protocol                           </a:t>
            </a:r>
            <a:r>
              <a:rPr lang="zh-CN" altLang="zh-CN" b="0" dirty="0">
                <a:latin typeface="微软雅黑" panose="020B0503020204020204" pitchFamily="34" charset="-122"/>
                <a:ea typeface="微软雅黑" panose="020B0503020204020204" pitchFamily="34" charset="-122"/>
              </a:rPr>
              <a:t>网络时间协议</a:t>
            </a:r>
          </a:p>
          <a:p>
            <a:pPr lvl="0" indent="0" fontAlgn="auto">
              <a:buClr>
                <a:srgbClr val="9BBB59"/>
              </a:buClr>
              <a:defRPr/>
            </a:pP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安</a:t>
            </a:r>
            <a:r>
              <a:rPr lang="zh-CN" altLang="en-US" dirty="0" smtClean="0">
                <a:sym typeface="+mn-ea"/>
              </a:rPr>
              <a:t>全设备</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总</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体要求：账号口令、日志、安全策略、攻击防护与警告和其他安全等五方面要求，具体配置操作及检测方法应结合具体设备。</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主要以防火墙与入侵检测设备为主。</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防火</a:t>
            </a:r>
            <a:r>
              <a:rPr lang="zh-CN" altLang="en-US" dirty="0" smtClean="0">
                <a:sym typeface="+mn-ea"/>
              </a:rPr>
              <a:t>墙</a:t>
            </a:r>
            <a:r>
              <a:rPr lang="en-US" altLang="zh-CN" dirty="0" smtClean="0">
                <a:sym typeface="+mn-ea"/>
              </a:rPr>
              <a:t>——</a:t>
            </a:r>
            <a:r>
              <a:rPr lang="zh-CN" altLang="en-US" dirty="0" smtClean="0">
                <a:sym typeface="+mn-ea"/>
              </a:rPr>
              <a:t>账号口令</a:t>
            </a:r>
            <a:r>
              <a:rPr lang="x-none" altLang="zh-CN" b="0" dirty="0" smtClean="0"/>
              <a:t> </a:t>
            </a:r>
            <a:endParaRPr lang="en-US" altLang="zh-CN" b="0" dirty="0"/>
          </a:p>
        </p:txBody>
      </p:sp>
      <p:sp>
        <p:nvSpPr>
          <p:cNvPr id="3" name="文本占位符 9"/>
          <p:cNvSpPr txBox="1"/>
          <p:nvPr/>
        </p:nvSpPr>
        <p:spPr>
          <a:xfrm>
            <a:off x="962203" y="680591"/>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应按照用户分配帐号，不同等级管理员应分配不同帐号，避免帐号混用，避免不同用户间共享帐号，避免用户帐号和设备间通信使用帐号共享。</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2)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应删除或锁定与设备运行、维护等工作无关的帐号。</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对于具备字符交互界面的设备，应配置定时帐号自动登出。</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4)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对于具备图形界面（含</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WEB</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界面）的设备，应配置定时自动屏幕锁定。</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5)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口令长度应至少</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8</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位，并包括数字、小写字母、大写字母、标点和特殊符号</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4</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类中至少</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类，且与帐号无相关性；同时应定期更换口令，更换周期不大于</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90</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天。</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6)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在设备权限配置能力内，应根据用户的业务需要，配置其所需的最小权限。</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防火</a:t>
            </a:r>
            <a:r>
              <a:rPr lang="zh-CN" altLang="en-US" dirty="0" smtClean="0">
                <a:sym typeface="+mn-ea"/>
              </a:rPr>
              <a:t>墙</a:t>
            </a:r>
            <a:r>
              <a:rPr lang="en-US" altLang="zh-CN" dirty="0" smtClean="0">
                <a:sym typeface="+mn-ea"/>
              </a:rPr>
              <a:t>——</a:t>
            </a:r>
            <a:r>
              <a:rPr lang="zh-CN" altLang="en-US" dirty="0" smtClean="0">
                <a:sym typeface="+mn-ea"/>
              </a:rPr>
              <a:t>日志</a:t>
            </a:r>
            <a:r>
              <a:rPr lang="x-none" altLang="zh-CN" b="0" dirty="0" smtClean="0"/>
              <a:t> </a:t>
            </a:r>
            <a:endParaRPr lang="en-US" altLang="zh-CN" b="0" dirty="0"/>
          </a:p>
        </p:txBody>
      </p:sp>
      <p:sp>
        <p:nvSpPr>
          <p:cNvPr id="3" name="文本占位符 9"/>
          <p:cNvSpPr txBox="1"/>
          <p:nvPr/>
        </p:nvSpPr>
        <p:spPr>
          <a:xfrm>
            <a:off x="962203" y="248543"/>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应配置日志功能，对用户登录进行记录，并记录用户对设备的操作。</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2)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应配置日志功能，对管理员操作进行记录，并记录相关的安全事件。</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应配置远程日志功能，将日志内容传输到日志服务器。</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4)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NAT</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日志记录功能，记录转换前后</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地址及端口的对应关系。</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5)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VPN</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日志记录功能，记录</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VPN</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访问登陆、退出等信息。</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6)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应配置流量日志记录功能，记录通过防火墙的网络连接的信息。</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7)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应配置防火墙规则，记录防火墙拒绝和丢弃报文的日志。</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8)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应配置日志容量告警阈值，在日志数达到日志容量的</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75%</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时产生告警。</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9)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应对管理服务器的日志文件大小和转存进行设置，并保护系统磁盘空间。</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防火</a:t>
            </a:r>
            <a:r>
              <a:rPr lang="zh-CN" altLang="en-US" dirty="0" smtClean="0">
                <a:sym typeface="+mn-ea"/>
              </a:rPr>
              <a:t>墙</a:t>
            </a:r>
            <a:r>
              <a:rPr lang="en-US" altLang="zh-CN" dirty="0" smtClean="0">
                <a:sym typeface="+mn-ea"/>
              </a:rPr>
              <a:t>——</a:t>
            </a:r>
            <a:r>
              <a:rPr lang="zh-CN" altLang="en-US" dirty="0" smtClean="0">
                <a:sym typeface="+mn-ea"/>
              </a:rPr>
              <a:t>安全策略</a:t>
            </a:r>
            <a:r>
              <a:rPr lang="x-none" altLang="zh-CN" b="0" dirty="0" smtClean="0"/>
              <a:t> </a:t>
            </a:r>
            <a:endParaRPr lang="en-US" altLang="zh-CN" b="0" dirty="0"/>
          </a:p>
        </p:txBody>
      </p:sp>
      <p:sp>
        <p:nvSpPr>
          <p:cNvPr id="3" name="文本占位符 9"/>
          <p:cNvSpPr txBox="1"/>
          <p:nvPr/>
        </p:nvSpPr>
        <p:spPr>
          <a:xfrm>
            <a:off x="962203" y="176535"/>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在配置访问规则列表时，最后一条应是拒绝一切流量。源地址、目的地址、服务或端口的范围应以实际访问需求为前提，尽可能的缩小范围。对于访问规则的排列，应遵从范围由小到大的排列规则，并按照一定的规则进行分组。</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2)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应设定对防火墙的保护安全规则，只开启代理服务器到外部网络的访问规则，避免在防火墙上配置从局域网的主机直接到公共网的访问规则。</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对于</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VPN</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用户，应按照其访问权限不同而进行分组，并在访问控制规则中对该组的访问权限进行严格限制。</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4)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应根据业务需要，配置基于源</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地址、通信协议</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TCP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或</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UDP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、目的</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地址、源端口、目的端口的流量过滤功能，过滤所有和业务不相关的流量。</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防火</a:t>
            </a:r>
            <a:r>
              <a:rPr lang="zh-CN" altLang="en-US" dirty="0" smtClean="0">
                <a:sym typeface="+mn-ea"/>
              </a:rPr>
              <a:t>墙</a:t>
            </a:r>
            <a:r>
              <a:rPr lang="en-US" altLang="zh-CN" dirty="0" smtClean="0">
                <a:sym typeface="+mn-ea"/>
              </a:rPr>
              <a:t>——</a:t>
            </a:r>
            <a:r>
              <a:rPr lang="zh-CN" altLang="en-US" dirty="0" smtClean="0">
                <a:sym typeface="+mn-ea"/>
              </a:rPr>
              <a:t>安全策略</a:t>
            </a:r>
            <a:r>
              <a:rPr lang="x-none" altLang="zh-CN" b="0" dirty="0" smtClean="0"/>
              <a:t> </a:t>
            </a:r>
            <a:endParaRPr lang="en-US" altLang="zh-CN" b="0" dirty="0"/>
          </a:p>
        </p:txBody>
      </p:sp>
      <p:sp>
        <p:nvSpPr>
          <p:cNvPr id="3" name="文本占位符 9"/>
          <p:cNvSpPr txBox="1"/>
          <p:nvPr/>
        </p:nvSpPr>
        <p:spPr>
          <a:xfrm>
            <a:off x="962203" y="1400671"/>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5</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应配置关键字内容过滤功能，在</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HTTP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SMTP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POP3</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等应用协议流量过滤包含有设定的关键字的报文。</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6)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对于使用</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协议进行远程维护的设备，应配置使用</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SSH</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HTTPS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等加密协议。</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7)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NAT</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地址转换，对公共网隐藏局域网主机的实际地址。</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8)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应隐藏字符管理界面的</a:t>
            </a:r>
            <a:r>
              <a:rPr lang="en-US" altLang="zh-CN" b="0" dirty="0" err="1">
                <a:solidFill>
                  <a:prstClr val="black">
                    <a:lumMod val="75000"/>
                    <a:lumOff val="25000"/>
                  </a:prstClr>
                </a:solidFill>
                <a:latin typeface="微软雅黑" panose="020B0503020204020204" pitchFamily="34" charset="-122"/>
                <a:ea typeface="微软雅黑" panose="020B0503020204020204" pitchFamily="34" charset="-122"/>
              </a:rPr>
              <a:t>bannner</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信息。</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9)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在进行重大配置修改前，应对当前配置进行备份。</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防火</a:t>
            </a:r>
            <a:r>
              <a:rPr lang="zh-CN" altLang="en-US" dirty="0" smtClean="0">
                <a:sym typeface="+mn-ea"/>
              </a:rPr>
              <a:t>墙</a:t>
            </a:r>
            <a:r>
              <a:rPr lang="en-US" altLang="zh-CN" dirty="0" smtClean="0">
                <a:sym typeface="+mn-ea"/>
              </a:rPr>
              <a:t>——</a:t>
            </a:r>
            <a:r>
              <a:rPr lang="zh-CN" altLang="en-US" dirty="0" smtClean="0">
                <a:sym typeface="+mn-ea"/>
              </a:rPr>
              <a:t>攻击防护与告警</a:t>
            </a:r>
            <a:r>
              <a:rPr lang="x-none" altLang="zh-CN" b="0" dirty="0" smtClean="0"/>
              <a:t> </a:t>
            </a:r>
            <a:endParaRPr lang="en-US" altLang="zh-CN" b="0" dirty="0"/>
          </a:p>
        </p:txBody>
      </p:sp>
      <p:sp>
        <p:nvSpPr>
          <p:cNvPr id="3" name="文本占位符 9"/>
          <p:cNvSpPr txBox="1"/>
          <p:nvPr/>
        </p:nvSpPr>
        <p:spPr>
          <a:xfrm>
            <a:off x="962203" y="608583"/>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对于防火墙的各逻辑接口，应配置防源地址欺骗功能。</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2)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应配置访问控制规则，拒绝对防火墙保护的系统中常见漏洞所对应端口或服务的访问，或者关闭常见系统漏洞对应的端口。</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DOS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和</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DDOS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的攻击防护功能，对</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DOS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和</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DDOS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的攻击告警。</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DDOS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攻击的告警参数可由维护人员根据网络环境进行调整，维护人员可通过设置白名单方式屏蔽部分告警。</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4)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应配置扫描攻击检测功能，对扫描探测告警。扫描攻击的告警参数可由维护人员根据网络环境进行调整，维护人员可通过设置白名单方式屏蔽部分网络扫描告警。</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防火</a:t>
            </a:r>
            <a:r>
              <a:rPr lang="zh-CN" altLang="en-US" dirty="0" smtClean="0">
                <a:sym typeface="+mn-ea"/>
              </a:rPr>
              <a:t>墙</a:t>
            </a:r>
            <a:r>
              <a:rPr lang="en-US" altLang="zh-CN" dirty="0" smtClean="0">
                <a:sym typeface="+mn-ea"/>
              </a:rPr>
              <a:t>——</a:t>
            </a:r>
            <a:r>
              <a:rPr lang="zh-CN" altLang="en-US" dirty="0" smtClean="0">
                <a:sym typeface="+mn-ea"/>
              </a:rPr>
              <a:t>攻击防护与告警</a:t>
            </a:r>
            <a:r>
              <a:rPr lang="x-none" altLang="zh-CN" b="0" dirty="0" smtClean="0"/>
              <a:t> </a:t>
            </a:r>
            <a:endParaRPr lang="en-US" altLang="zh-CN" b="0" dirty="0"/>
          </a:p>
        </p:txBody>
      </p:sp>
      <p:sp>
        <p:nvSpPr>
          <p:cNvPr id="3" name="文本占位符 9"/>
          <p:cNvSpPr txBox="1"/>
          <p:nvPr/>
        </p:nvSpPr>
        <p:spPr>
          <a:xfrm>
            <a:off x="962203" y="1760711"/>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5</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应配置设备畸形包攻击检测防护功能。</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6)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应配置告警功能，报告对防火墙本身的攻击或者防火墙系统的内部错误。</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7)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应配置告警功能，报告网络流量中对</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TCP/IP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协议网络层异常报文攻击的相关告警。</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8)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应限制</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ping</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包的大小，以及一段时间内同一主机发送的次数。</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防火</a:t>
            </a:r>
            <a:r>
              <a:rPr lang="zh-CN" altLang="en-US" dirty="0" smtClean="0">
                <a:sym typeface="+mn-ea"/>
              </a:rPr>
              <a:t>墙</a:t>
            </a:r>
            <a:r>
              <a:rPr lang="en-US" altLang="zh-CN" dirty="0" smtClean="0">
                <a:sym typeface="+mn-ea"/>
              </a:rPr>
              <a:t>——</a:t>
            </a:r>
            <a:r>
              <a:rPr lang="zh-CN" altLang="en-US" dirty="0" smtClean="0">
                <a:sym typeface="+mn-ea"/>
              </a:rPr>
              <a:t>其他安全</a:t>
            </a:r>
            <a:r>
              <a:rPr lang="x-none" altLang="zh-CN" b="0" dirty="0" smtClean="0"/>
              <a:t> </a:t>
            </a:r>
            <a:endParaRPr lang="en-US" altLang="zh-CN" b="0" dirty="0"/>
          </a:p>
        </p:txBody>
      </p:sp>
      <p:sp>
        <p:nvSpPr>
          <p:cNvPr id="3" name="文本占位符 9"/>
          <p:cNvSpPr txBox="1"/>
          <p:nvPr/>
        </p:nvSpPr>
        <p:spPr>
          <a:xfrm>
            <a:off x="962203" y="968623"/>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应关闭非必要的服务。</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2)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对于局域网地址，应关闭对</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ping</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包的回应功能。建议通过</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VPN</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隧道获得局域网地址，从局域网进行远程管理。如网管系统需要开放，可不考虑。</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应对防火墙的管理地址做源地址限制。对于登陆帐户的</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地址，应配置只允许从某些</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地址登陆。可以使用防火墙自身的限定功能，也可以在防火墙管理口的接入设备上设置</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ACL</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防火</a:t>
            </a:r>
            <a:r>
              <a:rPr lang="zh-CN" altLang="en-US" dirty="0" smtClean="0">
                <a:sym typeface="+mn-ea"/>
              </a:rPr>
              <a:t>墙</a:t>
            </a:r>
            <a:r>
              <a:rPr lang="en-US" altLang="zh-CN" dirty="0" smtClean="0">
                <a:sym typeface="+mn-ea"/>
              </a:rPr>
              <a:t>——</a:t>
            </a:r>
            <a:r>
              <a:rPr lang="zh-CN" altLang="en-US" dirty="0" smtClean="0">
                <a:sym typeface="+mn-ea"/>
              </a:rPr>
              <a:t>其他安全</a:t>
            </a:r>
            <a:r>
              <a:rPr lang="x-none" altLang="zh-CN" b="0" dirty="0" smtClean="0"/>
              <a:t> </a:t>
            </a:r>
            <a:endParaRPr lang="en-US" altLang="zh-CN" b="0" dirty="0"/>
          </a:p>
        </p:txBody>
      </p:sp>
      <p:sp>
        <p:nvSpPr>
          <p:cNvPr id="3" name="文本占位符 9"/>
          <p:cNvSpPr txBox="1"/>
          <p:nvPr/>
        </p:nvSpPr>
        <p:spPr>
          <a:xfrm>
            <a:off x="962203" y="968623"/>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4</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SNMP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监控，使用</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SNMP V3</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以上的版本对防火墙做远程管理，去除</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SNMP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默认的共同体名</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(Community Name)</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和用户名，并且不同的用户名和共同体明对应不同的权限（只读或者读写）。</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5)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防火墙的系统和软件版本应处于厂家维护期，并且维护人员应定期对防火墙版本进行升级或打补丁操作。如防火墙系统厂家已不再维护，应及时更新版本或者撤换。</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6)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应设定统一的时钟源。</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sym typeface="+mn-ea"/>
              </a:rPr>
              <a:t>IDS</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入侵检测系统</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(intrusion detection system</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，简称</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"IDS")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是一种对网络传输进行即时监视，在发现可疑传输时发出警报或者采取主动反应措施的网络安全设备。目前，</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IDS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发展迅速，已有人宣称</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IDS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可以完全取代防火墙。</a:t>
            </a: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9909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sym typeface="+mn-ea"/>
              </a:rPr>
              <a:t>IDS——</a:t>
            </a:r>
            <a:r>
              <a:rPr lang="zh-CN" altLang="en-US" dirty="0" smtClean="0">
                <a:sym typeface="+mn-ea"/>
              </a:rPr>
              <a:t>总体要求</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电信网和互联网的入侵检测设备的安全防护基线配置及检测应满足帐号口令、日志、安全策略、攻击防护与告警和其他安全等五个方面的要求，具体配置操作及检测方法应结合具体设备。</a:t>
            </a: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4866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sym typeface="+mn-ea"/>
              </a:rPr>
              <a:t>IDS——</a:t>
            </a:r>
            <a:r>
              <a:rPr lang="zh-CN" altLang="en-US" dirty="0" smtClean="0">
                <a:sym typeface="+mn-ea"/>
              </a:rPr>
              <a:t>账号口令</a:t>
            </a:r>
            <a:r>
              <a:rPr lang="x-none" altLang="zh-CN" b="0" dirty="0" smtClean="0"/>
              <a:t> </a:t>
            </a:r>
            <a:endParaRPr lang="en-US" altLang="zh-CN" b="0" dirty="0"/>
          </a:p>
        </p:txBody>
      </p:sp>
      <p:sp>
        <p:nvSpPr>
          <p:cNvPr id="3" name="文本占位符 9"/>
          <p:cNvSpPr txBox="1"/>
          <p:nvPr/>
        </p:nvSpPr>
        <p:spPr>
          <a:xfrm>
            <a:off x="962203" y="464567"/>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应按照用户分配帐号，不同等级管理员应分配不同帐号，避免帐号混用，避免不同用户间共享帐号，避免用户帐号和设备间通信使用帐号共享。</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2)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应删除或锁定与设备运行、维护等工作无关的帐号。</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应配置定时帐户自动登出，如</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TELNET</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SSH</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HTTP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等管理连接和</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CONSOLE</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口登录连接等，登出后用户需再次登录才能进入系统。</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4)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应配置用户登录失败锁定，如密码输入错误次数和锁定时间等。</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5)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口令长度应至少</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8</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位，并包括数字、小写字母、大写字母、标点和特殊符号</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4</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类中至少</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类，且与帐号无相关性；同时应定期更换口令，更换周期不大于</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90</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天。</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48665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sym typeface="+mn-ea"/>
              </a:rPr>
              <a:t>IDS——</a:t>
            </a:r>
            <a:r>
              <a:rPr lang="zh-CN" altLang="en-US" dirty="0" smtClean="0">
                <a:sym typeface="+mn-ea"/>
              </a:rPr>
              <a:t>账号口令</a:t>
            </a:r>
            <a:r>
              <a:rPr lang="x-none" altLang="zh-CN" b="0" dirty="0" smtClean="0"/>
              <a:t> </a:t>
            </a:r>
            <a:endParaRPr lang="en-US" altLang="zh-CN" b="0" dirty="0"/>
          </a:p>
        </p:txBody>
      </p:sp>
      <p:sp>
        <p:nvSpPr>
          <p:cNvPr id="3" name="文本占位符 9"/>
          <p:cNvSpPr txBox="1"/>
          <p:nvPr/>
        </p:nvSpPr>
        <p:spPr>
          <a:xfrm>
            <a:off x="962203" y="1328663"/>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6</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根据用户的管理等级，应配置其所需的最小管理权限。</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7)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应配置管理员由指定的</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地址范围进行登录，并可以配置管理员管理的设备范围。</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8)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应支持查看当前在线用户列表及</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地址、登陆时间和在线时长，并可强制指定管理员下线。</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9)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用户认证应支持远程认证方式，如</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Radius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认证。</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48665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sym typeface="+mn-ea"/>
              </a:rPr>
              <a:t>IDS——</a:t>
            </a:r>
            <a:r>
              <a:rPr lang="zh-CN" altLang="en-US" dirty="0" smtClean="0">
                <a:sym typeface="+mn-ea"/>
              </a:rPr>
              <a:t>日志</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应配置日志功能，对用户登录进行记录，并记录用户对设备的操作。</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2)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应配置日志功能，记录对与设备相关的安全事件。</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应配置远程日志功能，并能通过远程日志功能将设备日志传输到日志服务器，且能支持至少一种通用的远程标准日志接口，如</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SYSLOG</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FTP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等。</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48665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sym typeface="+mn-ea"/>
              </a:rPr>
              <a:t>IDS——</a:t>
            </a:r>
            <a:r>
              <a:rPr lang="zh-CN" altLang="en-US" dirty="0" smtClean="0">
                <a:sym typeface="+mn-ea"/>
              </a:rPr>
              <a:t>安全策略</a:t>
            </a:r>
            <a:r>
              <a:rPr lang="x-none" altLang="zh-CN" b="0" dirty="0" smtClean="0"/>
              <a:t> </a:t>
            </a:r>
            <a:endParaRPr lang="en-US" altLang="zh-CN" b="0" dirty="0"/>
          </a:p>
        </p:txBody>
      </p:sp>
      <p:sp>
        <p:nvSpPr>
          <p:cNvPr id="3" name="文本占位符 9"/>
          <p:cNvSpPr txBox="1"/>
          <p:nvPr/>
        </p:nvSpPr>
        <p:spPr>
          <a:xfrm>
            <a:off x="962203" y="1184647"/>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对于使用</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协议进行远程维护的设备，应配置使用</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SSH</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HTTPS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等加密协议。</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2)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与</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RADIUS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服务器、</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TACACS</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服务器、</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NTP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服务器、</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SNMP V3</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主机等支持认证加密功能的主机进行通信时，应启用协议的认证加密功能，保证通信安全。</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应内置不同类型的多种安全策略和策略模板，提供出厂默认配置。</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4)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应支持自定义安全策略和策略模板，统一操作，支持按源地址和目的地址定义安全策略、按过滤条件定义安全策略、按协议类型、安全类型、事件级别、流行程度、影响系统、影响设备等定义安全策略。</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5)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应支持自定义事件和二次事件，并可支持正则表达式的特征定义方式。</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6)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应支持网络基线流量学习。</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48665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sym typeface="+mn-ea"/>
              </a:rPr>
              <a:t>IDS——</a:t>
            </a:r>
            <a:r>
              <a:rPr lang="zh-CN" altLang="en-US" dirty="0" smtClean="0">
                <a:sym typeface="+mn-ea"/>
              </a:rPr>
              <a:t>攻击与告警</a:t>
            </a:r>
            <a:r>
              <a:rPr lang="x-none" altLang="zh-CN" b="0" dirty="0" smtClean="0"/>
              <a:t> </a:t>
            </a:r>
            <a:endParaRPr lang="en-US" altLang="zh-CN" b="0" dirty="0"/>
          </a:p>
        </p:txBody>
      </p:sp>
      <p:sp>
        <p:nvSpPr>
          <p:cNvPr id="3" name="文本占位符 9"/>
          <p:cNvSpPr txBox="1"/>
          <p:nvPr/>
        </p:nvSpPr>
        <p:spPr>
          <a:xfrm>
            <a:off x="962203" y="536575"/>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应支持查看攻击事件的详细信息。</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2)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应配置防火墙联动，防护网络攻击行为。</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应配置事件的响应方式为全局预警，当检测到攻击事件时，全局预警，警灯闪烁，产生告警。</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4)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应配置事件的响应方式为程序预警，当检测到攻击事件时，弹出窗口告知用户。</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5)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应配置事件的响应方式为邮件预警，当检测到攻击事件时，配置的邮箱收到相应的事件信息，产生告警。</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6)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应配置事件的响应方式为短信预警，当检测到攻击事件时，发送短信产生告警。</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48665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sym typeface="+mn-ea"/>
              </a:rPr>
              <a:t>IDS——</a:t>
            </a:r>
            <a:r>
              <a:rPr lang="zh-CN" altLang="en-US" dirty="0" smtClean="0">
                <a:sym typeface="+mn-ea"/>
              </a:rPr>
              <a:t>其他安全</a:t>
            </a:r>
            <a:r>
              <a:rPr lang="x-none" altLang="zh-CN" b="0" dirty="0" smtClean="0"/>
              <a:t> </a:t>
            </a:r>
            <a:endParaRPr lang="en-US" altLang="zh-CN" b="0" dirty="0"/>
          </a:p>
        </p:txBody>
      </p:sp>
      <p:sp>
        <p:nvSpPr>
          <p:cNvPr id="3" name="文本占位符 9"/>
          <p:cNvSpPr txBox="1"/>
          <p:nvPr/>
        </p:nvSpPr>
        <p:spPr>
          <a:xfrm>
            <a:off x="1440734" y="1256655"/>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应支持设备访问列表配置。</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2)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应支持关闭服务配置。</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应禁止</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Ping</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入。</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4)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SSH</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登录，关闭</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Telnet</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登录。</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5)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应配置</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SNMP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监控。</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6)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应设定统一的时钟源。</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pic>
        <p:nvPicPr>
          <p:cNvPr id="4" name="图片 3" descr="37"/>
          <p:cNvPicPr/>
          <p:nvPr/>
        </p:nvPicPr>
        <p:blipFill>
          <a:blip r:embed="rId3">
            <a:extLst>
              <a:ext uri="{28A0092B-C50C-407E-A947-70E740481C1C}">
                <a14:useLocalDpi xmlns:a14="http://schemas.microsoft.com/office/drawing/2010/main" val="0"/>
              </a:ext>
            </a:extLst>
          </a:blip>
          <a:srcRect/>
          <a:stretch>
            <a:fillRect/>
          </a:stretch>
        </p:blipFill>
        <p:spPr bwMode="auto">
          <a:xfrm>
            <a:off x="9433619" y="2552799"/>
            <a:ext cx="6577131" cy="5562292"/>
          </a:xfrm>
          <a:prstGeom prst="rect">
            <a:avLst/>
          </a:prstGeom>
          <a:noFill/>
          <a:ln>
            <a:noFill/>
          </a:ln>
        </p:spPr>
      </p:pic>
    </p:spTree>
    <p:extLst>
      <p:ext uri="{BB962C8B-B14F-4D97-AF65-F5344CB8AC3E}">
        <p14:creationId xmlns:p14="http://schemas.microsoft.com/office/powerpoint/2010/main" val="28748665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基</a:t>
            </a:r>
            <a:r>
              <a:rPr lang="zh-CN" altLang="en-US" dirty="0" smtClean="0">
                <a:sym typeface="+mn-ea"/>
              </a:rPr>
              <a:t>线检查</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4" name="矩形 3"/>
          <p:cNvSpPr/>
          <p:nvPr/>
        </p:nvSpPr>
        <p:spPr>
          <a:xfrm>
            <a:off x="7360486" y="4683422"/>
            <a:ext cx="3570209" cy="1446550"/>
          </a:xfrm>
          <a:prstGeom prst="rect">
            <a:avLst/>
          </a:prstGeom>
          <a:noFill/>
        </p:spPr>
        <p:txBody>
          <a:bodyPr wrap="none" lIns="91440" tIns="45720" rIns="91440" bIns="45720">
            <a:spAutoFit/>
          </a:bodyPr>
          <a:lstStyle/>
          <a:p>
            <a:pPr algn="ctr"/>
            <a:r>
              <a:rPr lang="en-US" altLang="zh-CN" sz="8800" b="1" cap="none" spc="0"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latin typeface="微软雅黑" panose="020B0503020204020204" pitchFamily="34" charset="-122"/>
                <a:ea typeface="微软雅黑" panose="020B0503020204020204" pitchFamily="34" charset="-122"/>
              </a:rPr>
              <a:t>	</a:t>
            </a:r>
            <a:r>
              <a:rPr lang="zh-CN" altLang="en-US" sz="8800" b="1" cap="none" spc="0" dirty="0" smtClean="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latin typeface="微软雅黑" panose="020B0503020204020204" pitchFamily="34" charset="-122"/>
                <a:ea typeface="微软雅黑" panose="020B0503020204020204" pitchFamily="34" charset="-122"/>
              </a:rPr>
              <a:t>数据库</a:t>
            </a:r>
            <a:endParaRPr lang="zh-CN" altLang="en-US" sz="8800" b="1" cap="none" spc="0"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endParaRPr>
          </a:p>
        </p:txBody>
      </p:sp>
    </p:spTree>
    <p:extLst>
      <p:ext uri="{BB962C8B-B14F-4D97-AF65-F5344CB8AC3E}">
        <p14:creationId xmlns:p14="http://schemas.microsoft.com/office/powerpoint/2010/main" val="343792029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数</a:t>
            </a:r>
            <a:r>
              <a:rPr lang="zh-CN" altLang="en-US" dirty="0" smtClean="0">
                <a:sym typeface="+mn-ea"/>
              </a:rPr>
              <a:t>据库</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MS SQL Server</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MySQL</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Oracle</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在安全配置方面的基本要求及参考操作。本标准以</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MS SQL SERVER2000</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UNIX</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平台上</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MySQL5.0\5.1</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UNIX</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平台上</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Oracle 10g</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为例，给出参考配置操作。</a:t>
            </a: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8184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缩略语</a:t>
            </a:r>
            <a:r>
              <a:rPr lang="x-none" altLang="zh-CN" b="0" dirty="0" smtClean="0"/>
              <a:t> </a:t>
            </a:r>
            <a:endParaRPr lang="en-US" altLang="zh-CN" b="0" dirty="0"/>
          </a:p>
        </p:txBody>
      </p:sp>
      <p:sp>
        <p:nvSpPr>
          <p:cNvPr id="3" name="文本占位符 9"/>
          <p:cNvSpPr txBox="1"/>
          <p:nvPr/>
        </p:nvSpPr>
        <p:spPr>
          <a:xfrm>
            <a:off x="962203" y="1760711"/>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BGP</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Border Gateway Protocol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边界网关协议</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DDoS		Distributed Denial of Service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分布式拒绝服务</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DNS 		Domain Name System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域名系统</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SA         Super Administrator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超级管理员</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SP         </a:t>
            </a:r>
            <a:r>
              <a:rPr lang="en-US" altLang="zh-CN" b="0" dirty="0" err="1">
                <a:solidFill>
                  <a:prstClr val="black">
                    <a:lumMod val="75000"/>
                    <a:lumOff val="25000"/>
                  </a:prstClr>
                </a:solidFill>
                <a:latin typeface="微软雅黑" panose="020B0503020204020204" pitchFamily="34" charset="-122"/>
                <a:ea typeface="微软雅黑" panose="020B0503020204020204" pitchFamily="34" charset="-122"/>
              </a:rPr>
              <a:t>Sevice</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Pack                           Windows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操作系统的补丁包</a:t>
            </a:r>
          </a:p>
          <a:p>
            <a:pPr lvl="0" indent="0" fontAlgn="auto">
              <a:lnSpc>
                <a:spcPct val="200000"/>
              </a:lnSpc>
              <a:buClr>
                <a:srgbClr val="9BBB59"/>
              </a:buClr>
              <a:defRPr/>
            </a:pP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8184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缩略语</a:t>
            </a:r>
            <a:r>
              <a:rPr lang="x-none" altLang="zh-CN" b="0" dirty="0" smtClean="0"/>
              <a:t> </a:t>
            </a:r>
            <a:endParaRPr lang="en-US" altLang="zh-CN" b="0" dirty="0"/>
          </a:p>
        </p:txBody>
      </p:sp>
      <p:sp>
        <p:nvSpPr>
          <p:cNvPr id="3" name="文本占位符 9"/>
          <p:cNvSpPr txBox="1"/>
          <p:nvPr/>
        </p:nvSpPr>
        <p:spPr>
          <a:xfrm>
            <a:off x="962203" y="1400671"/>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TCP        </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Transmission Control Protocol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传输控制协议</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UDP        User Datagram Protocol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用户数据报协议</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IP           Internet Protocol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互联网协议</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SYS         System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系统文件 </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DBA        Database Administrator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数据库管理员</a:t>
            </a:r>
          </a:p>
          <a:p>
            <a:pPr lvl="0" indent="0" fontAlgn="auto">
              <a:lnSpc>
                <a:spcPct val="200000"/>
              </a:lnSpc>
              <a:buClr>
                <a:srgbClr val="9BBB59"/>
              </a:buClr>
              <a:defRPr/>
            </a:pP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 </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RAC        Real Application Clusters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实时应用集群</a:t>
            </a:r>
          </a:p>
          <a:p>
            <a:pPr lvl="0" indent="0" fontAlgn="auto">
              <a:lnSpc>
                <a:spcPct val="200000"/>
              </a:lnSpc>
              <a:buClr>
                <a:srgbClr val="9BBB59"/>
              </a:buClr>
              <a:defRPr/>
            </a:pP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8184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数据</a:t>
            </a:r>
            <a:r>
              <a:rPr lang="zh-CN" altLang="en-US" dirty="0" smtClean="0">
                <a:sym typeface="+mn-ea"/>
              </a:rPr>
              <a:t>库</a:t>
            </a:r>
            <a:r>
              <a:rPr lang="en-US" altLang="zh-CN" dirty="0" smtClean="0">
                <a:sym typeface="+mn-ea"/>
              </a:rPr>
              <a:t>——</a:t>
            </a:r>
            <a:r>
              <a:rPr lang="zh-CN" altLang="en-US" dirty="0" smtClean="0">
                <a:sym typeface="+mn-ea"/>
              </a:rPr>
              <a:t>账号</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1</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应按照用户分配账号，避免不同用户间共享账号；</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2)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应删除或锁定与数据库运行、维护等工作无关的账号；</a:t>
            </a:r>
          </a:p>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3)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禁止以管理员帐</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号或高权限用户权</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限运行</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oracle</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err="1" smtClean="0">
                <a:solidFill>
                  <a:prstClr val="black">
                    <a:lumMod val="75000"/>
                    <a:lumOff val="25000"/>
                  </a:prstClr>
                </a:solidFill>
                <a:latin typeface="微软雅黑" panose="020B0503020204020204" pitchFamily="34" charset="-122"/>
                <a:ea typeface="微软雅黑" panose="020B0503020204020204" pitchFamily="34" charset="-122"/>
              </a:rPr>
              <a:t>mysqld</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b="0" dirty="0" err="1" smtClean="0">
                <a:solidFill>
                  <a:prstClr val="black">
                    <a:lumMod val="75000"/>
                    <a:lumOff val="25000"/>
                  </a:prstClr>
                </a:solidFill>
                <a:latin typeface="微软雅黑" panose="020B0503020204020204" pitchFamily="34" charset="-122"/>
                <a:ea typeface="微软雅黑" panose="020B0503020204020204" pitchFamily="34" charset="-122"/>
              </a:rPr>
              <a:t>sql</a:t>
            </a: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 server</a:t>
            </a: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8184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数据</a:t>
            </a:r>
            <a:r>
              <a:rPr lang="zh-CN" altLang="en-US" dirty="0" smtClean="0">
                <a:sym typeface="+mn-ea"/>
              </a:rPr>
              <a:t>库</a:t>
            </a:r>
            <a:r>
              <a:rPr lang="en-US" altLang="zh-CN" dirty="0" smtClean="0">
                <a:sym typeface="+mn-ea"/>
              </a:rPr>
              <a:t>——</a:t>
            </a:r>
            <a:r>
              <a:rPr lang="zh-CN" altLang="en-US" dirty="0" smtClean="0">
                <a:sym typeface="+mn-ea"/>
              </a:rPr>
              <a:t>授权</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在数据库权限配置能力内，根据用户的业务需要，配置其所需的最小权限</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使用数据库角色（</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ROLE</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）来管理对象的权限</a:t>
            </a: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8184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数据</a:t>
            </a:r>
            <a:r>
              <a:rPr lang="zh-CN" altLang="en-US" dirty="0" smtClean="0">
                <a:sym typeface="+mn-ea"/>
              </a:rPr>
              <a:t>库</a:t>
            </a:r>
            <a:r>
              <a:rPr lang="en-US" altLang="zh-CN" dirty="0" smtClean="0">
                <a:sym typeface="+mn-ea"/>
              </a:rPr>
              <a:t>——</a:t>
            </a:r>
            <a:r>
              <a:rPr lang="zh-CN" altLang="en-US" dirty="0" smtClean="0">
                <a:sym typeface="+mn-ea"/>
              </a:rPr>
              <a:t>口令</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对用户的属性进行安全检查，包括空密码、密码更新时间等。修改目前所有账号的口令，确认为强口令。特别是</a:t>
            </a:r>
            <a:r>
              <a:rPr lang="en-US" altLang="zh-CN" b="0" dirty="0" err="1">
                <a:solidFill>
                  <a:prstClr val="black">
                    <a:lumMod val="75000"/>
                    <a:lumOff val="25000"/>
                  </a:prstClr>
                </a:solidFill>
                <a:latin typeface="微软雅黑" panose="020B0503020204020204" pitchFamily="34" charset="-122"/>
                <a:ea typeface="微软雅黑" panose="020B0503020204020204" pitchFamily="34" charset="-122"/>
              </a:rPr>
              <a:t>sa</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账号，需要设置至少</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10</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位的强口令</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8184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数据</a:t>
            </a:r>
            <a:r>
              <a:rPr lang="zh-CN" altLang="en-US" dirty="0" smtClean="0">
                <a:sym typeface="+mn-ea"/>
              </a:rPr>
              <a:t>库</a:t>
            </a:r>
            <a:r>
              <a:rPr lang="en-US" altLang="zh-CN" dirty="0" smtClean="0">
                <a:sym typeface="+mn-ea"/>
              </a:rPr>
              <a:t>——</a:t>
            </a:r>
            <a:r>
              <a:rPr lang="zh-CN" altLang="en-US" dirty="0" smtClean="0">
                <a:sym typeface="+mn-ea"/>
              </a:rPr>
              <a:t>日志</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数</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据库应配置日志功能，对用户登录进行记录，记录内容包括用户登录使用的账号、登录是否成功、登录时间</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；记</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录对与数据库相关的安全事件</a:t>
            </a: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8184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数据</a:t>
            </a:r>
            <a:r>
              <a:rPr lang="zh-CN" altLang="en-US" dirty="0" smtClean="0">
                <a:sym typeface="+mn-ea"/>
              </a:rPr>
              <a:t>库</a:t>
            </a:r>
            <a:r>
              <a:rPr lang="en-US" altLang="zh-CN" dirty="0" smtClean="0">
                <a:sym typeface="+mn-ea"/>
              </a:rPr>
              <a:t>——</a:t>
            </a:r>
            <a:r>
              <a:rPr lang="zh-CN" altLang="en-US" dirty="0" smtClean="0">
                <a:sym typeface="+mn-ea"/>
              </a:rPr>
              <a:t>安全补丁</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在保证业务可用性的前提下，经过分析测试后，可以选择更新使用最新版本的补丁；</a:t>
            </a:r>
            <a:endParaRPr lang="en-US" altLang="zh-CN" b="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8184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ea"/>
              </a:rPr>
              <a:t>数据</a:t>
            </a:r>
            <a:r>
              <a:rPr lang="zh-CN" altLang="en-US" dirty="0" smtClean="0">
                <a:sym typeface="+mn-ea"/>
              </a:rPr>
              <a:t>库</a:t>
            </a:r>
            <a:r>
              <a:rPr lang="en-US" altLang="zh-CN" dirty="0" smtClean="0">
                <a:sym typeface="+mn-ea"/>
              </a:rPr>
              <a:t>——</a:t>
            </a:r>
            <a:r>
              <a:rPr lang="zh-CN" altLang="en-US" dirty="0" smtClean="0">
                <a:sym typeface="+mn-ea"/>
              </a:rPr>
              <a:t>可行</a:t>
            </a:r>
            <a:r>
              <a:rPr lang="en-US" altLang="zh-CN" dirty="0" smtClean="0">
                <a:sym typeface="+mn-ea"/>
              </a:rPr>
              <a:t>IP</a:t>
            </a:r>
            <a:r>
              <a:rPr lang="zh-CN" altLang="en-US" dirty="0" smtClean="0">
                <a:sym typeface="+mn-ea"/>
              </a:rPr>
              <a:t>地址访问控制</a:t>
            </a:r>
            <a:r>
              <a:rPr lang="x-none" altLang="zh-CN" b="0" dirty="0" smtClean="0"/>
              <a:t> </a:t>
            </a:r>
            <a:endParaRPr lang="en-US" altLang="zh-CN" b="0" dirty="0"/>
          </a:p>
        </p:txBody>
      </p:sp>
      <p:sp>
        <p:nvSpPr>
          <p:cNvPr id="3" name="文本占位符 9"/>
          <p:cNvSpPr txBox="1"/>
          <p:nvPr/>
        </p:nvSpPr>
        <p:spPr>
          <a:xfrm>
            <a:off x="962203" y="2192759"/>
            <a:ext cx="16345813" cy="5184576"/>
          </a:xfrm>
          <a:prstGeom prst="rect">
            <a:avLst/>
          </a:prstGeom>
        </p:spPr>
        <p:txBody>
          <a:bodyPr/>
          <a:lstStyle>
            <a:lvl1pPr marL="0" marR="0" indent="457200" algn="l" defTabSz="914400" rtl="0" eaLnBrk="1" latinLnBrk="0" hangingPunct="1">
              <a:lnSpc>
                <a:spcPct val="150000"/>
              </a:lnSpc>
              <a:spcBef>
                <a:spcPts val="0"/>
              </a:spcBef>
              <a:spcAft>
                <a:spcPts val="0"/>
              </a:spcAft>
              <a:buClr>
                <a:schemeClr val="accent3"/>
              </a:buClr>
              <a:buSzPct val="95000"/>
              <a:buFont typeface="Wingdings 2"/>
              <a:buNone/>
              <a:defRPr lang="zh-CN" altLang="en-US" sz="3200" b="1" kern="1200" smtClean="0">
                <a:solidFill>
                  <a:schemeClr val="tx1">
                    <a:lumMod val="75000"/>
                    <a:lumOff val="25000"/>
                  </a:schemeClr>
                </a:solidFill>
                <a:latin typeface="+mj-ea"/>
                <a:ea typeface="+mj-ea"/>
                <a:cs typeface="+mn-cs"/>
              </a:defRPr>
            </a:lvl1pPr>
            <a:lvl2pPr marL="742950" indent="-285750" algn="l" defTabSz="914400" rtl="0" eaLnBrk="1" latinLnBrk="0" hangingPunct="1">
              <a:lnSpc>
                <a:spcPct val="150000"/>
              </a:lnSpc>
              <a:spcBef>
                <a:spcPct val="20000"/>
              </a:spcBef>
              <a:buFont typeface="Arial" panose="02080604020202020204" charset="0"/>
              <a:buChar char="–"/>
              <a:defRPr sz="2800" kern="1200">
                <a:solidFill>
                  <a:schemeClr val="tx1">
                    <a:lumMod val="65000"/>
                    <a:lumOff val="35000"/>
                  </a:schemeClr>
                </a:solidFill>
                <a:latin typeface="+mn-lt"/>
                <a:ea typeface="+mj-ea"/>
                <a:cs typeface="+mn-cs"/>
              </a:defRPr>
            </a:lvl2pPr>
            <a:lvl3pPr marL="1143000" indent="-228600" algn="l" defTabSz="914400" rtl="0" eaLnBrk="1" latinLnBrk="0" hangingPunct="1">
              <a:lnSpc>
                <a:spcPct val="150000"/>
              </a:lnSpc>
              <a:spcBef>
                <a:spcPct val="20000"/>
              </a:spcBef>
              <a:buFont typeface="Arial" panose="02080604020202020204" charset="0"/>
              <a:buChar char="•"/>
              <a:defRPr sz="2400" kern="1200">
                <a:solidFill>
                  <a:schemeClr val="tx1">
                    <a:lumMod val="50000"/>
                    <a:lumOff val="50000"/>
                  </a:schemeClr>
                </a:solidFill>
                <a:latin typeface="+mn-lt"/>
                <a:ea typeface="+mj-ea"/>
                <a:cs typeface="+mn-cs"/>
              </a:defRPr>
            </a:lvl3pPr>
            <a:lvl4pPr marL="1600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charset="0"/>
              <a:buChar char="•"/>
              <a:defRPr sz="2000" kern="1200">
                <a:solidFill>
                  <a:schemeClr val="tx1"/>
                </a:solidFill>
                <a:latin typeface="+mn-lt"/>
                <a:ea typeface="+mn-ea"/>
                <a:cs typeface="+mn-cs"/>
              </a:defRPr>
            </a:lvl9pPr>
          </a:lstStyle>
          <a:p>
            <a:pPr lvl="0" indent="0" fontAlgn="auto">
              <a:lnSpc>
                <a:spcPct val="200000"/>
              </a:lnSpc>
              <a:buClr>
                <a:srgbClr val="9BBB59"/>
              </a:buClr>
              <a:defRPr/>
            </a:pP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	</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通过数据库所在操作系统或防火墙限制，只有信任的</a:t>
            </a:r>
            <a:r>
              <a:rPr lang="en-US" altLang="zh-CN" b="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b="0" dirty="0">
                <a:solidFill>
                  <a:prstClr val="black">
                    <a:lumMod val="75000"/>
                    <a:lumOff val="25000"/>
                  </a:prstClr>
                </a:solidFill>
                <a:latin typeface="微软雅黑" panose="020B0503020204020204" pitchFamily="34" charset="-122"/>
                <a:ea typeface="微软雅黑" panose="020B0503020204020204" pitchFamily="34" charset="-122"/>
              </a:rPr>
              <a:t>地址才能通过监听器访问数据</a:t>
            </a:r>
            <a:r>
              <a:rPr lang="zh-CN" altLang="en-US" b="0" dirty="0" smtClean="0">
                <a:solidFill>
                  <a:prstClr val="black">
                    <a:lumMod val="75000"/>
                    <a:lumOff val="25000"/>
                  </a:prstClr>
                </a:solidFill>
                <a:latin typeface="微软雅黑" panose="020B0503020204020204" pitchFamily="34" charset="-122"/>
                <a:ea typeface="微软雅黑" panose="020B0503020204020204" pitchFamily="34" charset="-122"/>
              </a:rPr>
              <a:t>库。</a:t>
            </a:r>
            <a:endParaRPr lang="en-US" altLang="zh-CN" b="0" dirty="0">
              <a:solidFill>
                <a:prstClr val="black">
                  <a:lumMod val="75000"/>
                  <a:lumOff val="25000"/>
                </a:prstClr>
              </a:solidFill>
              <a:latin typeface="微软雅黑" panose="020B0503020204020204" pitchFamily="34" charset="-122"/>
              <a:ea typeface="微软雅黑" panose="020B0503020204020204" pitchFamily="34" charset="-122"/>
            </a:endParaRPr>
          </a:p>
          <a:p>
            <a:pPr lvl="0" indent="0" fontAlgn="auto">
              <a:lnSpc>
                <a:spcPct val="200000"/>
              </a:lnSpc>
              <a:buClr>
                <a:srgbClr val="9BBB59"/>
              </a:buClr>
              <a:defRPr/>
            </a:pPr>
            <a:endParaRPr lang="x-none" altLang="zh-CN" sz="2800" b="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8184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advClick="0"/>
</p:sld>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6514</TotalTime>
  <Words>3732</Words>
  <Application>Microsoft Office PowerPoint</Application>
  <PresentationFormat>自定义</PresentationFormat>
  <Paragraphs>434</Paragraphs>
  <Slides>55</Slides>
  <Notes>53</Notes>
  <HiddenSlides>0</HiddenSlides>
  <MMClips>0</MMClips>
  <ScaleCrop>false</ScaleCrop>
  <HeadingPairs>
    <vt:vector size="4" baseType="variant">
      <vt:variant>
        <vt:lpstr>主题</vt:lpstr>
      </vt:variant>
      <vt:variant>
        <vt:i4>2</vt:i4>
      </vt:variant>
      <vt:variant>
        <vt:lpstr>幻灯片标题</vt:lpstr>
      </vt:variant>
      <vt:variant>
        <vt:i4>55</vt:i4>
      </vt:variant>
    </vt:vector>
  </HeadingPairs>
  <TitlesOfParts>
    <vt:vector size="57" baseType="lpstr">
      <vt:lpstr>2_自定义设计方案</vt:lpstr>
      <vt:lpstr>3_自定义设计方案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微软用户08</dc:creator>
  <cp:lastModifiedBy>Windows 用户</cp:lastModifiedBy>
  <cp:revision>461</cp:revision>
  <dcterms:created xsi:type="dcterms:W3CDTF">2017-01-18T03:59:25Z</dcterms:created>
  <dcterms:modified xsi:type="dcterms:W3CDTF">2017-09-06T02:07:48Z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2052-10.1.0.5672</vt:lpwstr>
  </property>
</Properties>
</file>